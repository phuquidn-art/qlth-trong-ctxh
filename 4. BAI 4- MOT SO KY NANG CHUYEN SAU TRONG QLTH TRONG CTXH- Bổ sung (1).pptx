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diagrams/data3.xml" ContentType="application/vnd.openxmlformats-officedocument.drawingml.diagramData+xml"/>
  <Override PartName="/ppt/slides/slide1.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diagrams/drawing3.xml" ContentType="application/vnd.ms-office.drawingml.diagramDrawing+xml"/>
  <Override PartName="/ppt/diagrams/colors3.xml" ContentType="application/vnd.openxmlformats-officedocument.drawingml.diagramColors+xml"/>
  <Override PartName="/ppt/diagrams/quickStyle3.xml" ContentType="application/vnd.openxmlformats-officedocument.drawingml.diagramStyle+xml"/>
  <Override PartName="/ppt/diagrams/layout3.xml" ContentType="application/vnd.openxmlformats-officedocument.drawingml.diagramLayout+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2.xml" ContentType="application/vnd.openxmlformats-officedocument.theme+xml"/>
  <Override PartName="/ppt/theme/theme1.xml" ContentType="application/vnd.openxmlformats-officedocument.theme+xml"/>
  <Override PartName="/ppt/diagrams/drawing2.xml" ContentType="application/vnd.ms-office.drawingml.diagramDrawing+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84"/>
  </p:notesMasterIdLst>
  <p:sldIdLst>
    <p:sldId id="256" r:id="rId2"/>
    <p:sldId id="257" r:id="rId3"/>
    <p:sldId id="258" r:id="rId4"/>
    <p:sldId id="259" r:id="rId5"/>
    <p:sldId id="295" r:id="rId6"/>
    <p:sldId id="307" r:id="rId7"/>
    <p:sldId id="321" r:id="rId8"/>
    <p:sldId id="358" r:id="rId9"/>
    <p:sldId id="308" r:id="rId10"/>
    <p:sldId id="309" r:id="rId11"/>
    <p:sldId id="338" r:id="rId12"/>
    <p:sldId id="310" r:id="rId13"/>
    <p:sldId id="326" r:id="rId14"/>
    <p:sldId id="344" r:id="rId15"/>
    <p:sldId id="342" r:id="rId16"/>
    <p:sldId id="291" r:id="rId17"/>
    <p:sldId id="298" r:id="rId18"/>
    <p:sldId id="299" r:id="rId19"/>
    <p:sldId id="311" r:id="rId20"/>
    <p:sldId id="312" r:id="rId21"/>
    <p:sldId id="522" r:id="rId22"/>
    <p:sldId id="520" r:id="rId23"/>
    <p:sldId id="300" r:id="rId24"/>
    <p:sldId id="340" r:id="rId25"/>
    <p:sldId id="328" r:id="rId26"/>
    <p:sldId id="330" r:id="rId27"/>
    <p:sldId id="332" r:id="rId28"/>
    <p:sldId id="333" r:id="rId29"/>
    <p:sldId id="334" r:id="rId30"/>
    <p:sldId id="335" r:id="rId31"/>
    <p:sldId id="292" r:id="rId32"/>
    <p:sldId id="301" r:id="rId33"/>
    <p:sldId id="315" r:id="rId34"/>
    <p:sldId id="313" r:id="rId35"/>
    <p:sldId id="346" r:id="rId36"/>
    <p:sldId id="314" r:id="rId37"/>
    <p:sldId id="348" r:id="rId38"/>
    <p:sldId id="293" r:id="rId39"/>
    <p:sldId id="304" r:id="rId40"/>
    <p:sldId id="349" r:id="rId41"/>
    <p:sldId id="305" r:id="rId42"/>
    <p:sldId id="316" r:id="rId43"/>
    <p:sldId id="351" r:id="rId44"/>
    <p:sldId id="318" r:id="rId45"/>
    <p:sldId id="353" r:id="rId46"/>
    <p:sldId id="319" r:id="rId47"/>
    <p:sldId id="320" r:id="rId48"/>
    <p:sldId id="354" r:id="rId49"/>
    <p:sldId id="294" r:id="rId50"/>
    <p:sldId id="288" r:id="rId51"/>
    <p:sldId id="523" r:id="rId52"/>
    <p:sldId id="289" r:id="rId53"/>
    <p:sldId id="323" r:id="rId54"/>
    <p:sldId id="524" r:id="rId55"/>
    <p:sldId id="290" r:id="rId56"/>
    <p:sldId id="324" r:id="rId57"/>
    <p:sldId id="539" r:id="rId58"/>
    <p:sldId id="525" r:id="rId59"/>
    <p:sldId id="526" r:id="rId60"/>
    <p:sldId id="527" r:id="rId61"/>
    <p:sldId id="528" r:id="rId62"/>
    <p:sldId id="529" r:id="rId63"/>
    <p:sldId id="530" r:id="rId64"/>
    <p:sldId id="531" r:id="rId65"/>
    <p:sldId id="532" r:id="rId66"/>
    <p:sldId id="533" r:id="rId67"/>
    <p:sldId id="534" r:id="rId68"/>
    <p:sldId id="535" r:id="rId69"/>
    <p:sldId id="536" r:id="rId70"/>
    <p:sldId id="537" r:id="rId71"/>
    <p:sldId id="538" r:id="rId72"/>
    <p:sldId id="449" r:id="rId73"/>
    <p:sldId id="455" r:id="rId74"/>
    <p:sldId id="433" r:id="rId75"/>
    <p:sldId id="457" r:id="rId76"/>
    <p:sldId id="461" r:id="rId77"/>
    <p:sldId id="518" r:id="rId78"/>
    <p:sldId id="361" r:id="rId79"/>
    <p:sldId id="413" r:id="rId80"/>
    <p:sldId id="519" r:id="rId81"/>
    <p:sldId id="515" r:id="rId82"/>
    <p:sldId id="416" r:id="rId83"/>
  </p:sldIdLst>
  <p:sldSz cx="9144000" cy="5143500" type="screen16x9"/>
  <p:notesSz cx="6858000" cy="9144000"/>
  <p:embeddedFontLst>
    <p:embeddedFont>
      <p:font typeface="Bebas Neue" panose="020B0606020202050201" pitchFamily="34" charset="77"/>
      <p:regular r:id="rId85"/>
    </p:embeddedFont>
    <p:embeddedFont>
      <p:font typeface="Mulish" pitchFamily="2" charset="77"/>
      <p:regular r:id="rId86"/>
      <p:bold r:id="rId87"/>
      <p:italic r:id="rId88"/>
      <p:boldItalic r:id="rId89"/>
    </p:embeddedFont>
    <p:embeddedFont>
      <p:font typeface="Nunito Light" pitchFamily="2" charset="77"/>
      <p:regular r:id="rId90"/>
      <p:italic r:id="rId91"/>
    </p:embeddedFont>
    <p:embeddedFont>
      <p:font typeface="Quicksand" pitchFamily="2" charset="77"/>
      <p:regular r:id="rId92"/>
      <p:bold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0FF"/>
    <a:srgbClr val="F8EC92"/>
    <a:srgbClr val="C5E7FE"/>
    <a:srgbClr val="A9D3FF"/>
    <a:srgbClr val="BFAFFF"/>
    <a:srgbClr val="FF91B9"/>
    <a:srgbClr val="009193"/>
    <a:srgbClr val="B1F498"/>
    <a:srgbClr val="7CEDFE"/>
    <a:srgbClr val="ECC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65BD47-0766-45DA-83AF-D0E9DCAA76E3}">
  <a:tblStyle styleId="{5765BD47-0766-45DA-83AF-D0E9DCAA76E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31"/>
    <p:restoredTop sz="94650"/>
  </p:normalViewPr>
  <p:slideViewPr>
    <p:cSldViewPr snapToGrid="0" showGuides="1">
      <p:cViewPr varScale="1">
        <p:scale>
          <a:sx n="158" d="100"/>
          <a:sy n="158" d="100"/>
        </p:scale>
        <p:origin x="208"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presProps" Target="presProps.xml"/><Relationship Id="rId9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 Id="rId98"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D0F3BE-DBAF-4C4E-81F2-972981CCD8B1}" type="doc">
      <dgm:prSet loTypeId="urn:microsoft.com/office/officeart/2008/layout/VerticalCurvedList" loCatId="" qsTypeId="urn:microsoft.com/office/officeart/2005/8/quickstyle/simple1" qsCatId="simple" csTypeId="urn:microsoft.com/office/officeart/2005/8/colors/accent1_2" csCatId="accent1" phldr="1"/>
      <dgm:spPr/>
      <dgm:t>
        <a:bodyPr/>
        <a:lstStyle/>
        <a:p>
          <a:endParaRPr lang="en-US"/>
        </a:p>
      </dgm:t>
    </dgm:pt>
    <dgm:pt modelId="{5DE72FF4-336C-3C49-98C3-DB7FDD5CDC71}">
      <dgm:prSet phldrT="[Text]" custT="1"/>
      <dgm:spPr>
        <a:ln>
          <a:solidFill>
            <a:srgbClr val="0070C0"/>
          </a:solidFill>
        </a:ln>
      </dgm:spPr>
      <dgm:t>
        <a:bodyPr/>
        <a:lstStyle/>
        <a:p>
          <a:r>
            <a:rPr lang="en-US" sz="1800" b="1" i="1" u="none" strike="noStrike" kern="1200" cap="none" dirty="0" err="1">
              <a:solidFill>
                <a:schemeClr val="dk1"/>
              </a:solidFill>
              <a:latin typeface="Arial" panose="020B0604020202020204" pitchFamily="34" charset="0"/>
              <a:ea typeface="Mulish"/>
              <a:cs typeface="Arial" panose="020B0604020202020204" pitchFamily="34" charset="0"/>
              <a:sym typeface="Mulish"/>
            </a:rPr>
            <a:t>Ngôn</a:t>
          </a:r>
          <a:r>
            <a:rPr lang="en-US" sz="1800" b="1" i="1" u="none" strike="noStrike" kern="1200" cap="none" dirty="0">
              <a:solidFill>
                <a:schemeClr val="dk1"/>
              </a:solidFill>
              <a:latin typeface="Arial" panose="020B0604020202020204" pitchFamily="34" charset="0"/>
              <a:ea typeface="Mulish"/>
              <a:cs typeface="Arial" panose="020B0604020202020204" pitchFamily="34" charset="0"/>
              <a:sym typeface="Mulish"/>
            </a:rPr>
            <a:t> </a:t>
          </a:r>
          <a:r>
            <a:rPr lang="en-US" sz="1800" b="1" i="1" u="none" strike="noStrike" kern="1200" cap="none" dirty="0" err="1">
              <a:solidFill>
                <a:schemeClr val="dk1"/>
              </a:solidFill>
              <a:latin typeface="Arial" panose="020B0604020202020204" pitchFamily="34" charset="0"/>
              <a:ea typeface="Mulish"/>
              <a:cs typeface="Arial" panose="020B0604020202020204" pitchFamily="34" charset="0"/>
              <a:sym typeface="Mulish"/>
            </a:rPr>
            <a:t>ngữ</a:t>
          </a:r>
          <a:r>
            <a:rPr lang="en-US" sz="1800" b="0" i="1" u="none" strike="noStrike" kern="1200" cap="none" dirty="0">
              <a:solidFill>
                <a:schemeClr val="dk1"/>
              </a:solidFill>
              <a:latin typeface="Arial" panose="020B0604020202020204" pitchFamily="34" charset="0"/>
              <a:ea typeface="Mulish"/>
              <a:cs typeface="Arial" panose="020B0604020202020204" pitchFamily="34" charset="0"/>
              <a:sym typeface="Mulish"/>
            </a:rPr>
            <a:t>: Giao </a:t>
          </a:r>
          <a:r>
            <a:rPr lang="en-US" sz="1800" b="0" i="1" u="none" strike="noStrike" kern="1200" cap="none" dirty="0" err="1">
              <a:solidFill>
                <a:schemeClr val="dk1"/>
              </a:solidFill>
              <a:latin typeface="Arial" panose="020B0604020202020204" pitchFamily="34" charset="0"/>
              <a:ea typeface="Mulish"/>
              <a:cs typeface="Arial" panose="020B0604020202020204" pitchFamily="34" charset="0"/>
              <a:sym typeface="Mulish"/>
            </a:rPr>
            <a:t>tiếp</a:t>
          </a:r>
          <a:r>
            <a:rPr lang="en-US" sz="1800" b="0" i="1" u="none" strike="noStrike" kern="1200" cap="none" dirty="0">
              <a:solidFill>
                <a:schemeClr val="dk1"/>
              </a:solidFill>
              <a:latin typeface="Arial" panose="020B0604020202020204" pitchFamily="34" charset="0"/>
              <a:ea typeface="Mulish"/>
              <a:cs typeface="Arial" panose="020B0604020202020204" pitchFamily="34" charset="0"/>
              <a:sym typeface="Mulish"/>
            </a:rPr>
            <a:t> </a:t>
          </a:r>
          <a:r>
            <a:rPr lang="en-US" sz="1800" b="0" i="1" u="none" strike="noStrike" kern="1200" cap="none" dirty="0" err="1">
              <a:solidFill>
                <a:schemeClr val="dk1"/>
              </a:solidFill>
              <a:latin typeface="Arial" panose="020B0604020202020204" pitchFamily="34" charset="0"/>
              <a:ea typeface="Mulish"/>
              <a:cs typeface="Arial" panose="020B0604020202020204" pitchFamily="34" charset="0"/>
              <a:sym typeface="Mulish"/>
            </a:rPr>
            <a:t>bằng</a:t>
          </a:r>
          <a:r>
            <a:rPr lang="en-US" sz="1800" b="0" i="1" u="none" strike="noStrike" kern="1200" cap="none" dirty="0">
              <a:solidFill>
                <a:schemeClr val="dk1"/>
              </a:solidFill>
              <a:latin typeface="Arial" panose="020B0604020202020204" pitchFamily="34" charset="0"/>
              <a:ea typeface="Mulish"/>
              <a:cs typeface="Arial" panose="020B0604020202020204" pitchFamily="34" charset="0"/>
              <a:sym typeface="Mulish"/>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lời</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nói</a:t>
          </a:r>
          <a:endParaRPr lang="en-US" sz="1800" b="0" i="1" u="none" strike="noStrike" kern="1200" cap="none" dirty="0">
            <a:solidFill>
              <a:srgbClr val="5C5C5F"/>
            </a:solidFill>
            <a:latin typeface="Arial" panose="020B0604020202020204" pitchFamily="34" charset="0"/>
            <a:ea typeface="Mulish"/>
            <a:cs typeface="Arial" panose="020B0604020202020204" pitchFamily="34" charset="0"/>
          </a:endParaRPr>
        </a:p>
      </dgm:t>
    </dgm:pt>
    <dgm:pt modelId="{98B90843-72FD-2842-9905-13122ED0841A}" type="parTrans" cxnId="{D9F4AD73-631A-1C4B-AB84-B945922199FE}">
      <dgm:prSet/>
      <dgm:spPr/>
      <dgm:t>
        <a:bodyPr/>
        <a:lstStyle/>
        <a:p>
          <a:endParaRPr lang="en-US" sz="1800">
            <a:latin typeface="Arial" panose="020B0604020202020204" pitchFamily="34" charset="0"/>
            <a:cs typeface="Arial" panose="020B0604020202020204" pitchFamily="34" charset="0"/>
          </a:endParaRPr>
        </a:p>
      </dgm:t>
    </dgm:pt>
    <dgm:pt modelId="{8E643C46-A34E-0442-B61E-D46FE36FC143}" type="sibTrans" cxnId="{D9F4AD73-631A-1C4B-AB84-B945922199FE}">
      <dgm:prSet/>
      <dgm:spPr/>
      <dgm:t>
        <a:bodyPr/>
        <a:lstStyle/>
        <a:p>
          <a:endParaRPr lang="en-US" sz="1800">
            <a:latin typeface="Arial" panose="020B0604020202020204" pitchFamily="34" charset="0"/>
            <a:cs typeface="Arial" panose="020B0604020202020204" pitchFamily="34" charset="0"/>
          </a:endParaRPr>
        </a:p>
      </dgm:t>
    </dgm:pt>
    <dgm:pt modelId="{92DB5808-749C-D141-B18B-DBF996F963FC}">
      <dgm:prSet phldrT="[Text]" custT="1"/>
      <dgm:spPr>
        <a:ln>
          <a:solidFill>
            <a:srgbClr val="FF91B9"/>
          </a:solidFill>
        </a:ln>
      </dgm:spPr>
      <dgm:t>
        <a:bodyPr/>
        <a:lstStyle/>
        <a:p>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Phi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ngôn</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ngữ</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Giao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qua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ngôn</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ngữ</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cơ</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thể</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nét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mặt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ánh</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mắt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và</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giọng</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điệu</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p>
      </dgm:t>
    </dgm:pt>
    <dgm:pt modelId="{F0CF3F77-7362-4E46-919A-DAEE54FCEC17}" type="parTrans" cxnId="{FE09605D-34D9-EF4D-81CC-A33F22BFFB8E}">
      <dgm:prSet/>
      <dgm:spPr/>
      <dgm:t>
        <a:bodyPr/>
        <a:lstStyle/>
        <a:p>
          <a:endParaRPr lang="en-US" sz="1800">
            <a:latin typeface="Arial" panose="020B0604020202020204" pitchFamily="34" charset="0"/>
            <a:cs typeface="Arial" panose="020B0604020202020204" pitchFamily="34" charset="0"/>
          </a:endParaRPr>
        </a:p>
      </dgm:t>
    </dgm:pt>
    <dgm:pt modelId="{A3BE373A-2343-F644-97E9-4A4FEDD53127}" type="sibTrans" cxnId="{FE09605D-34D9-EF4D-81CC-A33F22BFFB8E}">
      <dgm:prSet/>
      <dgm:spPr/>
      <dgm:t>
        <a:bodyPr/>
        <a:lstStyle/>
        <a:p>
          <a:endParaRPr lang="en-US" sz="1800">
            <a:latin typeface="Arial" panose="020B0604020202020204" pitchFamily="34" charset="0"/>
            <a:cs typeface="Arial" panose="020B0604020202020204" pitchFamily="34" charset="0"/>
          </a:endParaRPr>
        </a:p>
      </dgm:t>
    </dgm:pt>
    <dgm:pt modelId="{2B9339A6-D8C4-5649-9D63-B120526E6904}">
      <dgm:prSet phldrT="[Text]" custT="1"/>
      <dgm:spPr>
        <a:ln>
          <a:solidFill>
            <a:srgbClr val="FFC000"/>
          </a:solidFill>
        </a:ln>
      </dgm:spPr>
      <dgm:t>
        <a:bodyPr/>
        <a:lstStyle/>
        <a:p>
          <a:pPr marL="0" lvl="0" indent="0" algn="l" defTabSz="622300">
            <a:lnSpc>
              <a:spcPct val="90000"/>
            </a:lnSpc>
            <a:spcBef>
              <a:spcPct val="0"/>
            </a:spcBef>
            <a:spcAft>
              <a:spcPct val="35000"/>
            </a:spcAft>
            <a:buNone/>
          </a:pP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Văn</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bản</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Giao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bằng</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ngôn</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ngữ</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viết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ký</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hiệu</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và</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con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số</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p>
      </dgm:t>
    </dgm:pt>
    <dgm:pt modelId="{CF487777-9BF4-6C4E-9BB8-391825D5E678}" type="parTrans" cxnId="{57687728-4C01-434F-A340-340FF18BAD6A}">
      <dgm:prSet/>
      <dgm:spPr/>
      <dgm:t>
        <a:bodyPr/>
        <a:lstStyle/>
        <a:p>
          <a:endParaRPr lang="en-US" sz="1800">
            <a:latin typeface="Arial" panose="020B0604020202020204" pitchFamily="34" charset="0"/>
            <a:cs typeface="Arial" panose="020B0604020202020204" pitchFamily="34" charset="0"/>
          </a:endParaRPr>
        </a:p>
      </dgm:t>
    </dgm:pt>
    <dgm:pt modelId="{D56A84AD-D47F-704D-873C-62141DF8EDFF}" type="sibTrans" cxnId="{57687728-4C01-434F-A340-340FF18BAD6A}">
      <dgm:prSet/>
      <dgm:spPr/>
      <dgm:t>
        <a:bodyPr/>
        <a:lstStyle/>
        <a:p>
          <a:endParaRPr lang="en-US" sz="1800">
            <a:latin typeface="Arial" panose="020B0604020202020204" pitchFamily="34" charset="0"/>
            <a:cs typeface="Arial" panose="020B0604020202020204" pitchFamily="34" charset="0"/>
          </a:endParaRPr>
        </a:p>
      </dgm:t>
    </dgm:pt>
    <dgm:pt modelId="{0F91150E-8DF9-5F49-9859-EC901DA7D79F}">
      <dgm:prSet phldrT="[Text]" custT="1"/>
      <dgm:spPr>
        <a:ln>
          <a:solidFill>
            <a:srgbClr val="009193"/>
          </a:solidFill>
        </a:ln>
      </dgm:spPr>
      <dgm:t>
        <a:bodyPr/>
        <a:lstStyle/>
        <a:p>
          <a:pPr marL="0" lvl="0" indent="0" algn="l" defTabSz="622300">
            <a:lnSpc>
              <a:spcPct val="90000"/>
            </a:lnSpc>
            <a:spcBef>
              <a:spcPct val="0"/>
            </a:spcBef>
            <a:spcAft>
              <a:spcPct val="35000"/>
            </a:spcAft>
            <a:buNone/>
          </a:pP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Hình</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ảnh</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Giao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bằng</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nhiếp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ảnh</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nghệ</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thuật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bản</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vẽ</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phác</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họa</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biểu</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đồ</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và</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đồ</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thị</a:t>
          </a:r>
          <a:endParaRPr lang="en-US" sz="1800" b="0" i="1" u="none" strike="noStrike" kern="1200" cap="none" dirty="0">
            <a:solidFill>
              <a:srgbClr val="5C5C5F"/>
            </a:solidFill>
            <a:latin typeface="Arial" panose="020B0604020202020204" pitchFamily="34" charset="0"/>
            <a:ea typeface="Mulish"/>
            <a:cs typeface="Arial" panose="020B0604020202020204" pitchFamily="34" charset="0"/>
          </a:endParaRPr>
        </a:p>
      </dgm:t>
    </dgm:pt>
    <dgm:pt modelId="{1D387BCB-6129-9E43-94E8-72D2DA964A9D}" type="parTrans" cxnId="{C2272A20-0351-F94C-80E2-DE1CAF6DE0F6}">
      <dgm:prSet/>
      <dgm:spPr/>
      <dgm:t>
        <a:bodyPr/>
        <a:lstStyle/>
        <a:p>
          <a:endParaRPr lang="en-US" sz="1800">
            <a:latin typeface="Arial" panose="020B0604020202020204" pitchFamily="34" charset="0"/>
            <a:cs typeface="Arial" panose="020B0604020202020204" pitchFamily="34" charset="0"/>
          </a:endParaRPr>
        </a:p>
      </dgm:t>
    </dgm:pt>
    <dgm:pt modelId="{B3CEE5E1-FF24-DD47-9880-6A6D10F18DDA}" type="sibTrans" cxnId="{C2272A20-0351-F94C-80E2-DE1CAF6DE0F6}">
      <dgm:prSet/>
      <dgm:spPr/>
      <dgm:t>
        <a:bodyPr/>
        <a:lstStyle/>
        <a:p>
          <a:endParaRPr lang="en-US" sz="1800">
            <a:latin typeface="Arial" panose="020B0604020202020204" pitchFamily="34" charset="0"/>
            <a:cs typeface="Arial" panose="020B0604020202020204" pitchFamily="34" charset="0"/>
          </a:endParaRPr>
        </a:p>
      </dgm:t>
    </dgm:pt>
    <dgm:pt modelId="{12818193-DED8-F54C-B4FE-6D0C9B6D7D78}" type="pres">
      <dgm:prSet presAssocID="{63D0F3BE-DBAF-4C4E-81F2-972981CCD8B1}" presName="Name0" presStyleCnt="0">
        <dgm:presLayoutVars>
          <dgm:chMax val="7"/>
          <dgm:chPref val="7"/>
          <dgm:dir/>
        </dgm:presLayoutVars>
      </dgm:prSet>
      <dgm:spPr/>
    </dgm:pt>
    <dgm:pt modelId="{00A52A3F-7E39-FD4A-8652-590088EAED35}" type="pres">
      <dgm:prSet presAssocID="{63D0F3BE-DBAF-4C4E-81F2-972981CCD8B1}" presName="Name1" presStyleCnt="0"/>
      <dgm:spPr/>
    </dgm:pt>
    <dgm:pt modelId="{5BF3AF83-8733-3D48-A7EC-C786F783FFED}" type="pres">
      <dgm:prSet presAssocID="{63D0F3BE-DBAF-4C4E-81F2-972981CCD8B1}" presName="cycle" presStyleCnt="0"/>
      <dgm:spPr/>
    </dgm:pt>
    <dgm:pt modelId="{0E270A8E-31F8-8849-9B21-6F806F9B9FAD}" type="pres">
      <dgm:prSet presAssocID="{63D0F3BE-DBAF-4C4E-81F2-972981CCD8B1}" presName="srcNode" presStyleLbl="node1" presStyleIdx="0" presStyleCnt="4"/>
      <dgm:spPr/>
    </dgm:pt>
    <dgm:pt modelId="{0D7D5B9D-36B6-FB43-8A66-48FB292DF925}" type="pres">
      <dgm:prSet presAssocID="{63D0F3BE-DBAF-4C4E-81F2-972981CCD8B1}" presName="conn" presStyleLbl="parChTrans1D2" presStyleIdx="0" presStyleCnt="1"/>
      <dgm:spPr/>
    </dgm:pt>
    <dgm:pt modelId="{263C938E-C021-C146-BBCC-9BBAABC57708}" type="pres">
      <dgm:prSet presAssocID="{63D0F3BE-DBAF-4C4E-81F2-972981CCD8B1}" presName="extraNode" presStyleLbl="node1" presStyleIdx="0" presStyleCnt="4"/>
      <dgm:spPr/>
    </dgm:pt>
    <dgm:pt modelId="{09899E20-7AB0-0848-90B1-125CCB7FBF6D}" type="pres">
      <dgm:prSet presAssocID="{63D0F3BE-DBAF-4C4E-81F2-972981CCD8B1}" presName="dstNode" presStyleLbl="node1" presStyleIdx="0" presStyleCnt="4"/>
      <dgm:spPr/>
    </dgm:pt>
    <dgm:pt modelId="{86F7DC04-FA82-EA4C-8DD0-A9033636642B}" type="pres">
      <dgm:prSet presAssocID="{5DE72FF4-336C-3C49-98C3-DB7FDD5CDC71}" presName="text_1" presStyleLbl="node1" presStyleIdx="0" presStyleCnt="4">
        <dgm:presLayoutVars>
          <dgm:bulletEnabled val="1"/>
        </dgm:presLayoutVars>
      </dgm:prSet>
      <dgm:spPr/>
    </dgm:pt>
    <dgm:pt modelId="{2437932D-852A-DC4A-9132-45847418E3C5}" type="pres">
      <dgm:prSet presAssocID="{5DE72FF4-336C-3C49-98C3-DB7FDD5CDC71}" presName="accent_1" presStyleCnt="0"/>
      <dgm:spPr/>
    </dgm:pt>
    <dgm:pt modelId="{4AA414C3-721D-3849-A69C-75771BC45F15}" type="pres">
      <dgm:prSet presAssocID="{5DE72FF4-336C-3C49-98C3-DB7FDD5CDC71}" presName="accentRepeatNode" presStyleLbl="solidFgAcc1" presStyleIdx="0" presStyleCnt="4"/>
      <dgm:spPr>
        <a:solidFill>
          <a:srgbClr val="A9D3FF"/>
        </a:solidFill>
      </dgm:spPr>
    </dgm:pt>
    <dgm:pt modelId="{0F606525-3BDB-B94A-9412-ED9BA5EFCB17}" type="pres">
      <dgm:prSet presAssocID="{92DB5808-749C-D141-B18B-DBF996F963FC}" presName="text_2" presStyleLbl="node1" presStyleIdx="1" presStyleCnt="4">
        <dgm:presLayoutVars>
          <dgm:bulletEnabled val="1"/>
        </dgm:presLayoutVars>
      </dgm:prSet>
      <dgm:spPr/>
    </dgm:pt>
    <dgm:pt modelId="{F389C21A-DBD0-0540-B318-6EF74A61B5FE}" type="pres">
      <dgm:prSet presAssocID="{92DB5808-749C-D141-B18B-DBF996F963FC}" presName="accent_2" presStyleCnt="0"/>
      <dgm:spPr/>
    </dgm:pt>
    <dgm:pt modelId="{2DA3F040-5BFD-884F-871E-72A71054C7AB}" type="pres">
      <dgm:prSet presAssocID="{92DB5808-749C-D141-B18B-DBF996F963FC}" presName="accentRepeatNode" presStyleLbl="solidFgAcc1" presStyleIdx="1" presStyleCnt="4"/>
      <dgm:spPr>
        <a:solidFill>
          <a:srgbClr val="EEE0FF"/>
        </a:solidFill>
      </dgm:spPr>
    </dgm:pt>
    <dgm:pt modelId="{9E11220A-E721-114F-8690-FF3975AB06CB}" type="pres">
      <dgm:prSet presAssocID="{2B9339A6-D8C4-5649-9D63-B120526E6904}" presName="text_3" presStyleLbl="node1" presStyleIdx="2" presStyleCnt="4">
        <dgm:presLayoutVars>
          <dgm:bulletEnabled val="1"/>
        </dgm:presLayoutVars>
      </dgm:prSet>
      <dgm:spPr/>
    </dgm:pt>
    <dgm:pt modelId="{43856219-39FE-6342-8A22-B477F524803E}" type="pres">
      <dgm:prSet presAssocID="{2B9339A6-D8C4-5649-9D63-B120526E6904}" presName="accent_3" presStyleCnt="0"/>
      <dgm:spPr/>
    </dgm:pt>
    <dgm:pt modelId="{8AC013B7-2BD2-6C46-BEA5-A3F962E8B7D6}" type="pres">
      <dgm:prSet presAssocID="{2B9339A6-D8C4-5649-9D63-B120526E6904}" presName="accentRepeatNode" presStyleLbl="solidFgAcc1" presStyleIdx="2" presStyleCnt="4"/>
      <dgm:spPr>
        <a:solidFill>
          <a:srgbClr val="FFC000"/>
        </a:solidFill>
      </dgm:spPr>
    </dgm:pt>
    <dgm:pt modelId="{B41ADAED-51FB-CD47-9928-F33FC2FBBA46}" type="pres">
      <dgm:prSet presAssocID="{0F91150E-8DF9-5F49-9859-EC901DA7D79F}" presName="text_4" presStyleLbl="node1" presStyleIdx="3" presStyleCnt="4">
        <dgm:presLayoutVars>
          <dgm:bulletEnabled val="1"/>
        </dgm:presLayoutVars>
      </dgm:prSet>
      <dgm:spPr/>
    </dgm:pt>
    <dgm:pt modelId="{B5D7036B-6430-D74C-AE04-BCD21EFC07DB}" type="pres">
      <dgm:prSet presAssocID="{0F91150E-8DF9-5F49-9859-EC901DA7D79F}" presName="accent_4" presStyleCnt="0"/>
      <dgm:spPr/>
    </dgm:pt>
    <dgm:pt modelId="{FB0AA0E8-0959-F245-9B52-3563E4AB6AAF}" type="pres">
      <dgm:prSet presAssocID="{0F91150E-8DF9-5F49-9859-EC901DA7D79F}" presName="accentRepeatNode" presStyleLbl="solidFgAcc1" presStyleIdx="3" presStyleCnt="4"/>
      <dgm:spPr>
        <a:solidFill>
          <a:srgbClr val="92D050"/>
        </a:solidFill>
      </dgm:spPr>
    </dgm:pt>
  </dgm:ptLst>
  <dgm:cxnLst>
    <dgm:cxn modelId="{FF91CF0A-066B-084B-855B-BCE106FF1A9C}" type="presOf" srcId="{0F91150E-8DF9-5F49-9859-EC901DA7D79F}" destId="{B41ADAED-51FB-CD47-9928-F33FC2FBBA46}" srcOrd="0" destOrd="0" presId="urn:microsoft.com/office/officeart/2008/layout/VerticalCurvedList"/>
    <dgm:cxn modelId="{C2272A20-0351-F94C-80E2-DE1CAF6DE0F6}" srcId="{63D0F3BE-DBAF-4C4E-81F2-972981CCD8B1}" destId="{0F91150E-8DF9-5F49-9859-EC901DA7D79F}" srcOrd="3" destOrd="0" parTransId="{1D387BCB-6129-9E43-94E8-72D2DA964A9D}" sibTransId="{B3CEE5E1-FF24-DD47-9880-6A6D10F18DDA}"/>
    <dgm:cxn modelId="{57687728-4C01-434F-A340-340FF18BAD6A}" srcId="{63D0F3BE-DBAF-4C4E-81F2-972981CCD8B1}" destId="{2B9339A6-D8C4-5649-9D63-B120526E6904}" srcOrd="2" destOrd="0" parTransId="{CF487777-9BF4-6C4E-9BB8-391825D5E678}" sibTransId="{D56A84AD-D47F-704D-873C-62141DF8EDFF}"/>
    <dgm:cxn modelId="{16502C2E-4C0F-BC4A-A512-DF04D9FE326F}" type="presOf" srcId="{63D0F3BE-DBAF-4C4E-81F2-972981CCD8B1}" destId="{12818193-DED8-F54C-B4FE-6D0C9B6D7D78}" srcOrd="0" destOrd="0" presId="urn:microsoft.com/office/officeart/2008/layout/VerticalCurvedList"/>
    <dgm:cxn modelId="{FE09605D-34D9-EF4D-81CC-A33F22BFFB8E}" srcId="{63D0F3BE-DBAF-4C4E-81F2-972981CCD8B1}" destId="{92DB5808-749C-D141-B18B-DBF996F963FC}" srcOrd="1" destOrd="0" parTransId="{F0CF3F77-7362-4E46-919A-DAEE54FCEC17}" sibTransId="{A3BE373A-2343-F644-97E9-4A4FEDD53127}"/>
    <dgm:cxn modelId="{D9F4AD73-631A-1C4B-AB84-B945922199FE}" srcId="{63D0F3BE-DBAF-4C4E-81F2-972981CCD8B1}" destId="{5DE72FF4-336C-3C49-98C3-DB7FDD5CDC71}" srcOrd="0" destOrd="0" parTransId="{98B90843-72FD-2842-9905-13122ED0841A}" sibTransId="{8E643C46-A34E-0442-B61E-D46FE36FC143}"/>
    <dgm:cxn modelId="{D9D6B687-0AC9-AE45-ACFD-54D91DEB3886}" type="presOf" srcId="{2B9339A6-D8C4-5649-9D63-B120526E6904}" destId="{9E11220A-E721-114F-8690-FF3975AB06CB}" srcOrd="0" destOrd="0" presId="urn:microsoft.com/office/officeart/2008/layout/VerticalCurvedList"/>
    <dgm:cxn modelId="{D931C18D-1D94-314B-ADFB-A49562566FEB}" type="presOf" srcId="{5DE72FF4-336C-3C49-98C3-DB7FDD5CDC71}" destId="{86F7DC04-FA82-EA4C-8DD0-A9033636642B}" srcOrd="0" destOrd="0" presId="urn:microsoft.com/office/officeart/2008/layout/VerticalCurvedList"/>
    <dgm:cxn modelId="{C1DD64D5-0D0C-B74C-B6BF-7F410878C39C}" type="presOf" srcId="{8E643C46-A34E-0442-B61E-D46FE36FC143}" destId="{0D7D5B9D-36B6-FB43-8A66-48FB292DF925}" srcOrd="0" destOrd="0" presId="urn:microsoft.com/office/officeart/2008/layout/VerticalCurvedList"/>
    <dgm:cxn modelId="{64F44BE7-ADB8-C744-8680-2236583C8F04}" type="presOf" srcId="{92DB5808-749C-D141-B18B-DBF996F963FC}" destId="{0F606525-3BDB-B94A-9412-ED9BA5EFCB17}" srcOrd="0" destOrd="0" presId="urn:microsoft.com/office/officeart/2008/layout/VerticalCurvedList"/>
    <dgm:cxn modelId="{6E6454F5-71A8-6943-86C1-916C076E9637}" type="presParOf" srcId="{12818193-DED8-F54C-B4FE-6D0C9B6D7D78}" destId="{00A52A3F-7E39-FD4A-8652-590088EAED35}" srcOrd="0" destOrd="0" presId="urn:microsoft.com/office/officeart/2008/layout/VerticalCurvedList"/>
    <dgm:cxn modelId="{DB7903A6-F6E1-8944-8924-A1FB223D2E68}" type="presParOf" srcId="{00A52A3F-7E39-FD4A-8652-590088EAED35}" destId="{5BF3AF83-8733-3D48-A7EC-C786F783FFED}" srcOrd="0" destOrd="0" presId="urn:microsoft.com/office/officeart/2008/layout/VerticalCurvedList"/>
    <dgm:cxn modelId="{B6920DC0-AA59-BD40-BCA5-D5991D993431}" type="presParOf" srcId="{5BF3AF83-8733-3D48-A7EC-C786F783FFED}" destId="{0E270A8E-31F8-8849-9B21-6F806F9B9FAD}" srcOrd="0" destOrd="0" presId="urn:microsoft.com/office/officeart/2008/layout/VerticalCurvedList"/>
    <dgm:cxn modelId="{D184A1EE-324B-9447-B325-73BBAE147BB8}" type="presParOf" srcId="{5BF3AF83-8733-3D48-A7EC-C786F783FFED}" destId="{0D7D5B9D-36B6-FB43-8A66-48FB292DF925}" srcOrd="1" destOrd="0" presId="urn:microsoft.com/office/officeart/2008/layout/VerticalCurvedList"/>
    <dgm:cxn modelId="{6FD25EA9-990D-E749-92F2-CEA6EA9C401B}" type="presParOf" srcId="{5BF3AF83-8733-3D48-A7EC-C786F783FFED}" destId="{263C938E-C021-C146-BBCC-9BBAABC57708}" srcOrd="2" destOrd="0" presId="urn:microsoft.com/office/officeart/2008/layout/VerticalCurvedList"/>
    <dgm:cxn modelId="{F157EE12-E1DC-494A-B5ED-2EB6CCCC01C9}" type="presParOf" srcId="{5BF3AF83-8733-3D48-A7EC-C786F783FFED}" destId="{09899E20-7AB0-0848-90B1-125CCB7FBF6D}" srcOrd="3" destOrd="0" presId="urn:microsoft.com/office/officeart/2008/layout/VerticalCurvedList"/>
    <dgm:cxn modelId="{CDC406EF-0B61-C346-A34C-1FCC22955CC5}" type="presParOf" srcId="{00A52A3F-7E39-FD4A-8652-590088EAED35}" destId="{86F7DC04-FA82-EA4C-8DD0-A9033636642B}" srcOrd="1" destOrd="0" presId="urn:microsoft.com/office/officeart/2008/layout/VerticalCurvedList"/>
    <dgm:cxn modelId="{0B3A268E-A349-C546-91A4-767A61C30719}" type="presParOf" srcId="{00A52A3F-7E39-FD4A-8652-590088EAED35}" destId="{2437932D-852A-DC4A-9132-45847418E3C5}" srcOrd="2" destOrd="0" presId="urn:microsoft.com/office/officeart/2008/layout/VerticalCurvedList"/>
    <dgm:cxn modelId="{7F7A1585-4A9F-0148-B0DB-018FCFED0531}" type="presParOf" srcId="{2437932D-852A-DC4A-9132-45847418E3C5}" destId="{4AA414C3-721D-3849-A69C-75771BC45F15}" srcOrd="0" destOrd="0" presId="urn:microsoft.com/office/officeart/2008/layout/VerticalCurvedList"/>
    <dgm:cxn modelId="{EBD80076-F9C8-1641-A550-E9DD40F08DAA}" type="presParOf" srcId="{00A52A3F-7E39-FD4A-8652-590088EAED35}" destId="{0F606525-3BDB-B94A-9412-ED9BA5EFCB17}" srcOrd="3" destOrd="0" presId="urn:microsoft.com/office/officeart/2008/layout/VerticalCurvedList"/>
    <dgm:cxn modelId="{B1E76DE0-1BA2-0945-BB47-D20B46E5E3A7}" type="presParOf" srcId="{00A52A3F-7E39-FD4A-8652-590088EAED35}" destId="{F389C21A-DBD0-0540-B318-6EF74A61B5FE}" srcOrd="4" destOrd="0" presId="urn:microsoft.com/office/officeart/2008/layout/VerticalCurvedList"/>
    <dgm:cxn modelId="{10F9C8BE-9C0C-0941-8F30-1EC3C9422867}" type="presParOf" srcId="{F389C21A-DBD0-0540-B318-6EF74A61B5FE}" destId="{2DA3F040-5BFD-884F-871E-72A71054C7AB}" srcOrd="0" destOrd="0" presId="urn:microsoft.com/office/officeart/2008/layout/VerticalCurvedList"/>
    <dgm:cxn modelId="{4D1EBC9B-8E3E-A240-9BC2-9B5225C5A220}" type="presParOf" srcId="{00A52A3F-7E39-FD4A-8652-590088EAED35}" destId="{9E11220A-E721-114F-8690-FF3975AB06CB}" srcOrd="5" destOrd="0" presId="urn:microsoft.com/office/officeart/2008/layout/VerticalCurvedList"/>
    <dgm:cxn modelId="{C6548DB4-CFBE-F44C-991B-9023AE91A35B}" type="presParOf" srcId="{00A52A3F-7E39-FD4A-8652-590088EAED35}" destId="{43856219-39FE-6342-8A22-B477F524803E}" srcOrd="6" destOrd="0" presId="urn:microsoft.com/office/officeart/2008/layout/VerticalCurvedList"/>
    <dgm:cxn modelId="{E48EB462-95B2-B94C-BD1B-93386FB47FA2}" type="presParOf" srcId="{43856219-39FE-6342-8A22-B477F524803E}" destId="{8AC013B7-2BD2-6C46-BEA5-A3F962E8B7D6}" srcOrd="0" destOrd="0" presId="urn:microsoft.com/office/officeart/2008/layout/VerticalCurvedList"/>
    <dgm:cxn modelId="{4D96F501-5700-BD4E-8133-498EA70BAC48}" type="presParOf" srcId="{00A52A3F-7E39-FD4A-8652-590088EAED35}" destId="{B41ADAED-51FB-CD47-9928-F33FC2FBBA46}" srcOrd="7" destOrd="0" presId="urn:microsoft.com/office/officeart/2008/layout/VerticalCurvedList"/>
    <dgm:cxn modelId="{9CBEEDF3-C4B1-3B4D-9D6A-D449E45CC61A}" type="presParOf" srcId="{00A52A3F-7E39-FD4A-8652-590088EAED35}" destId="{B5D7036B-6430-D74C-AE04-BCD21EFC07DB}" srcOrd="8" destOrd="0" presId="urn:microsoft.com/office/officeart/2008/layout/VerticalCurvedList"/>
    <dgm:cxn modelId="{5AA158B1-576F-9244-9CAB-CAB0B261A79A}" type="presParOf" srcId="{B5D7036B-6430-D74C-AE04-BCD21EFC07DB}" destId="{FB0AA0E8-0959-F245-9B52-3563E4AB6AAF}"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EF1172-DF4C-454B-8CE1-7DE300EC32D3}" type="doc">
      <dgm:prSet loTypeId="urn:microsoft.com/office/officeart/2009/layout/ReverseList" loCatId="" qsTypeId="urn:microsoft.com/office/officeart/2005/8/quickstyle/simple1" qsCatId="simple" csTypeId="urn:microsoft.com/office/officeart/2005/8/colors/accent1_2" csCatId="accent1" phldr="1"/>
      <dgm:spPr/>
      <dgm:t>
        <a:bodyPr/>
        <a:lstStyle/>
        <a:p>
          <a:endParaRPr lang="en-US"/>
        </a:p>
      </dgm:t>
    </dgm:pt>
    <dgm:pt modelId="{E38FC0F2-CDF5-4944-A01E-537383B1B4A3}">
      <dgm:prSet phldrT="[Text]"/>
      <dgm:spPr>
        <a:solidFill>
          <a:srgbClr val="FFC000"/>
        </a:solidFill>
      </dgm:spPr>
      <dgm:t>
        <a:bodyPr/>
        <a:lstStyle/>
        <a:p>
          <a:r>
            <a:rPr lang="en-US" dirty="0" err="1"/>
            <a:t>Ngôn</a:t>
          </a:r>
          <a:r>
            <a:rPr lang="en-US" dirty="0"/>
            <a:t> </a:t>
          </a:r>
          <a:r>
            <a:rPr lang="en-US" dirty="0" err="1"/>
            <a:t>ngữ</a:t>
          </a:r>
          <a:r>
            <a:rPr lang="en-US" dirty="0"/>
            <a:t> </a:t>
          </a:r>
          <a:r>
            <a:rPr lang="en-US" dirty="0" err="1"/>
            <a:t>nói</a:t>
          </a:r>
          <a:endParaRPr lang="en-US" dirty="0"/>
        </a:p>
      </dgm:t>
    </dgm:pt>
    <dgm:pt modelId="{147B1608-13FF-A042-9839-ED52A8BEA843}" type="parTrans" cxnId="{27BCF40F-8AA3-6542-8E33-DF3FDAE921E3}">
      <dgm:prSet/>
      <dgm:spPr/>
      <dgm:t>
        <a:bodyPr/>
        <a:lstStyle/>
        <a:p>
          <a:endParaRPr lang="en-US"/>
        </a:p>
      </dgm:t>
    </dgm:pt>
    <dgm:pt modelId="{FBD0389A-FE64-9D4D-BD49-D32BF464DA0D}" type="sibTrans" cxnId="{27BCF40F-8AA3-6542-8E33-DF3FDAE921E3}">
      <dgm:prSet/>
      <dgm:spPr/>
      <dgm:t>
        <a:bodyPr/>
        <a:lstStyle/>
        <a:p>
          <a:endParaRPr lang="en-US"/>
        </a:p>
      </dgm:t>
    </dgm:pt>
    <dgm:pt modelId="{BE34C802-422C-1A4A-9B56-EAADFF7CBB30}">
      <dgm:prSet phldrT="[Text]"/>
      <dgm:spPr>
        <a:solidFill>
          <a:srgbClr val="92D050"/>
        </a:solidFill>
      </dgm:spPr>
      <dgm:t>
        <a:bodyPr/>
        <a:lstStyle/>
        <a:p>
          <a:r>
            <a:rPr lang="en-US" dirty="0" err="1"/>
            <a:t>Ngôn</a:t>
          </a:r>
          <a:r>
            <a:rPr lang="en-US" dirty="0"/>
            <a:t> </a:t>
          </a:r>
          <a:r>
            <a:rPr lang="en-US" dirty="0" err="1"/>
            <a:t>ngữ</a:t>
          </a:r>
          <a:r>
            <a:rPr lang="en-US" dirty="0"/>
            <a:t> </a:t>
          </a:r>
          <a:r>
            <a:rPr lang="en-US" dirty="0" err="1"/>
            <a:t>viết</a:t>
          </a:r>
          <a:endParaRPr lang="en-US" dirty="0"/>
        </a:p>
      </dgm:t>
    </dgm:pt>
    <dgm:pt modelId="{8C9F992D-1406-C54E-95A8-3C82D5DDCDFB}" type="parTrans" cxnId="{1A705C3B-0F94-BC4C-A577-0CF7A58202F0}">
      <dgm:prSet/>
      <dgm:spPr/>
      <dgm:t>
        <a:bodyPr/>
        <a:lstStyle/>
        <a:p>
          <a:endParaRPr lang="en-US"/>
        </a:p>
      </dgm:t>
    </dgm:pt>
    <dgm:pt modelId="{E4E87781-3F11-F345-85F7-4CAD657FF4F5}" type="sibTrans" cxnId="{1A705C3B-0F94-BC4C-A577-0CF7A58202F0}">
      <dgm:prSet/>
      <dgm:spPr/>
      <dgm:t>
        <a:bodyPr/>
        <a:lstStyle/>
        <a:p>
          <a:endParaRPr lang="en-US"/>
        </a:p>
      </dgm:t>
    </dgm:pt>
    <dgm:pt modelId="{CAD67175-EA42-FD41-B67F-5B9570D4D186}" type="pres">
      <dgm:prSet presAssocID="{67EF1172-DF4C-454B-8CE1-7DE300EC32D3}" presName="Name0" presStyleCnt="0">
        <dgm:presLayoutVars>
          <dgm:chMax val="2"/>
          <dgm:chPref val="2"/>
          <dgm:animLvl val="lvl"/>
        </dgm:presLayoutVars>
      </dgm:prSet>
      <dgm:spPr/>
    </dgm:pt>
    <dgm:pt modelId="{15030449-9A4A-0843-987C-0C22C447DF38}" type="pres">
      <dgm:prSet presAssocID="{67EF1172-DF4C-454B-8CE1-7DE300EC32D3}" presName="LeftText" presStyleLbl="revTx" presStyleIdx="0" presStyleCnt="0">
        <dgm:presLayoutVars>
          <dgm:bulletEnabled val="1"/>
        </dgm:presLayoutVars>
      </dgm:prSet>
      <dgm:spPr/>
    </dgm:pt>
    <dgm:pt modelId="{1B4E32D4-1AE5-9F4F-8160-712C13868890}" type="pres">
      <dgm:prSet presAssocID="{67EF1172-DF4C-454B-8CE1-7DE300EC32D3}" presName="LeftNode" presStyleLbl="bgImgPlace1" presStyleIdx="0" presStyleCnt="2">
        <dgm:presLayoutVars>
          <dgm:chMax val="2"/>
          <dgm:chPref val="2"/>
        </dgm:presLayoutVars>
      </dgm:prSet>
      <dgm:spPr/>
    </dgm:pt>
    <dgm:pt modelId="{899DF03A-653C-1049-A824-4A51DA878A29}" type="pres">
      <dgm:prSet presAssocID="{67EF1172-DF4C-454B-8CE1-7DE300EC32D3}" presName="RightText" presStyleLbl="revTx" presStyleIdx="0" presStyleCnt="0">
        <dgm:presLayoutVars>
          <dgm:bulletEnabled val="1"/>
        </dgm:presLayoutVars>
      </dgm:prSet>
      <dgm:spPr/>
    </dgm:pt>
    <dgm:pt modelId="{5094B630-05DC-7344-9236-736F14522BBE}" type="pres">
      <dgm:prSet presAssocID="{67EF1172-DF4C-454B-8CE1-7DE300EC32D3}" presName="RightNode" presStyleLbl="bgImgPlace1" presStyleIdx="1" presStyleCnt="2">
        <dgm:presLayoutVars>
          <dgm:chMax val="0"/>
          <dgm:chPref val="0"/>
        </dgm:presLayoutVars>
      </dgm:prSet>
      <dgm:spPr/>
    </dgm:pt>
    <dgm:pt modelId="{2B68C77A-E0CB-5D43-81EE-F38B626C47B4}" type="pres">
      <dgm:prSet presAssocID="{67EF1172-DF4C-454B-8CE1-7DE300EC32D3}" presName="TopArrow" presStyleLbl="node1" presStyleIdx="0" presStyleCnt="2"/>
      <dgm:spPr/>
    </dgm:pt>
    <dgm:pt modelId="{A921348A-D9FE-4C46-A31C-54995A755863}" type="pres">
      <dgm:prSet presAssocID="{67EF1172-DF4C-454B-8CE1-7DE300EC32D3}" presName="BottomArrow" presStyleLbl="node1" presStyleIdx="1" presStyleCnt="2"/>
      <dgm:spPr/>
    </dgm:pt>
  </dgm:ptLst>
  <dgm:cxnLst>
    <dgm:cxn modelId="{27BCF40F-8AA3-6542-8E33-DF3FDAE921E3}" srcId="{67EF1172-DF4C-454B-8CE1-7DE300EC32D3}" destId="{E38FC0F2-CDF5-4944-A01E-537383B1B4A3}" srcOrd="0" destOrd="0" parTransId="{147B1608-13FF-A042-9839-ED52A8BEA843}" sibTransId="{FBD0389A-FE64-9D4D-BD49-D32BF464DA0D}"/>
    <dgm:cxn modelId="{66437530-90B1-2649-94B5-6A19008F5CB6}" type="presOf" srcId="{67EF1172-DF4C-454B-8CE1-7DE300EC32D3}" destId="{CAD67175-EA42-FD41-B67F-5B9570D4D186}" srcOrd="0" destOrd="0" presId="urn:microsoft.com/office/officeart/2009/layout/ReverseList"/>
    <dgm:cxn modelId="{1A705C3B-0F94-BC4C-A577-0CF7A58202F0}" srcId="{67EF1172-DF4C-454B-8CE1-7DE300EC32D3}" destId="{BE34C802-422C-1A4A-9B56-EAADFF7CBB30}" srcOrd="1" destOrd="0" parTransId="{8C9F992D-1406-C54E-95A8-3C82D5DDCDFB}" sibTransId="{E4E87781-3F11-F345-85F7-4CAD657FF4F5}"/>
    <dgm:cxn modelId="{5A51916A-7E66-2245-BD87-2CDF2247F4C7}" type="presOf" srcId="{E38FC0F2-CDF5-4944-A01E-537383B1B4A3}" destId="{15030449-9A4A-0843-987C-0C22C447DF38}" srcOrd="0" destOrd="0" presId="urn:microsoft.com/office/officeart/2009/layout/ReverseList"/>
    <dgm:cxn modelId="{416A9A82-FF90-2E4C-8986-01E8C91E4ADC}" type="presOf" srcId="{E38FC0F2-CDF5-4944-A01E-537383B1B4A3}" destId="{1B4E32D4-1AE5-9F4F-8160-712C13868890}" srcOrd="1" destOrd="0" presId="urn:microsoft.com/office/officeart/2009/layout/ReverseList"/>
    <dgm:cxn modelId="{225B04C8-F0FB-7640-A334-DD33E1878C43}" type="presOf" srcId="{BE34C802-422C-1A4A-9B56-EAADFF7CBB30}" destId="{5094B630-05DC-7344-9236-736F14522BBE}" srcOrd="1" destOrd="0" presId="urn:microsoft.com/office/officeart/2009/layout/ReverseList"/>
    <dgm:cxn modelId="{E20DAEE4-B874-CF43-9DAE-1517424AD27F}" type="presOf" srcId="{BE34C802-422C-1A4A-9B56-EAADFF7CBB30}" destId="{899DF03A-653C-1049-A824-4A51DA878A29}" srcOrd="0" destOrd="0" presId="urn:microsoft.com/office/officeart/2009/layout/ReverseList"/>
    <dgm:cxn modelId="{EDAA7543-17A6-D24A-ABD1-31359EC47BF8}" type="presParOf" srcId="{CAD67175-EA42-FD41-B67F-5B9570D4D186}" destId="{15030449-9A4A-0843-987C-0C22C447DF38}" srcOrd="0" destOrd="0" presId="urn:microsoft.com/office/officeart/2009/layout/ReverseList"/>
    <dgm:cxn modelId="{40AD6294-A722-E74D-A60E-A6B93E559252}" type="presParOf" srcId="{CAD67175-EA42-FD41-B67F-5B9570D4D186}" destId="{1B4E32D4-1AE5-9F4F-8160-712C13868890}" srcOrd="1" destOrd="0" presId="urn:microsoft.com/office/officeart/2009/layout/ReverseList"/>
    <dgm:cxn modelId="{4861290C-BBCD-7E46-941C-6D99965F9D44}" type="presParOf" srcId="{CAD67175-EA42-FD41-B67F-5B9570D4D186}" destId="{899DF03A-653C-1049-A824-4A51DA878A29}" srcOrd="2" destOrd="0" presId="urn:microsoft.com/office/officeart/2009/layout/ReverseList"/>
    <dgm:cxn modelId="{A089420B-D602-1F45-8B53-8BA640EC553F}" type="presParOf" srcId="{CAD67175-EA42-FD41-B67F-5B9570D4D186}" destId="{5094B630-05DC-7344-9236-736F14522BBE}" srcOrd="3" destOrd="0" presId="urn:microsoft.com/office/officeart/2009/layout/ReverseList"/>
    <dgm:cxn modelId="{C635E49E-4438-CE44-8E89-41E3DB743994}" type="presParOf" srcId="{CAD67175-EA42-FD41-B67F-5B9570D4D186}" destId="{2B68C77A-E0CB-5D43-81EE-F38B626C47B4}" srcOrd="4" destOrd="0" presId="urn:microsoft.com/office/officeart/2009/layout/ReverseList"/>
    <dgm:cxn modelId="{4930409A-296B-9A4D-978D-023D987CDF6B}" type="presParOf" srcId="{CAD67175-EA42-FD41-B67F-5B9570D4D186}" destId="{A921348A-D9FE-4C46-A31C-54995A755863}" srcOrd="5" destOrd="0" presId="urn:microsoft.com/office/officeart/2009/layout/Revers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D6AFF3-3EC1-2945-B5B9-B806D7D04645}" type="doc">
      <dgm:prSet loTypeId="urn:microsoft.com/office/officeart/2005/8/layout/cycle3" loCatId="process" qsTypeId="urn:microsoft.com/office/officeart/2005/8/quickstyle/simple1" qsCatId="simple" csTypeId="urn:microsoft.com/office/officeart/2005/8/colors/accent1_2" csCatId="accent1" phldr="1"/>
      <dgm:spPr/>
      <dgm:t>
        <a:bodyPr/>
        <a:lstStyle/>
        <a:p>
          <a:endParaRPr lang="en-US"/>
        </a:p>
      </dgm:t>
    </dgm:pt>
    <dgm:pt modelId="{62843982-D5A6-114A-9450-CB7F531D3881}">
      <dgm:prSet phldrT="[Text]"/>
      <dgm:spPr>
        <a:solidFill>
          <a:srgbClr val="92D050"/>
        </a:solidFill>
      </dgm:spPr>
      <dgm:t>
        <a:bodyPr/>
        <a:lstStyle/>
        <a:p>
          <a:r>
            <a:rPr lang="en-US" dirty="0" err="1">
              <a:solidFill>
                <a:schemeClr val="tx2">
                  <a:lumMod val="10000"/>
                </a:schemeClr>
              </a:solidFill>
            </a:rPr>
            <a:t>Ánh</a:t>
          </a:r>
          <a:r>
            <a:rPr lang="en-US" dirty="0">
              <a:solidFill>
                <a:schemeClr val="tx2">
                  <a:lumMod val="10000"/>
                </a:schemeClr>
              </a:solidFill>
            </a:rPr>
            <a:t> </a:t>
          </a:r>
          <a:r>
            <a:rPr lang="en-US" dirty="0" err="1">
              <a:solidFill>
                <a:schemeClr val="tx2">
                  <a:lumMod val="10000"/>
                </a:schemeClr>
              </a:solidFill>
            </a:rPr>
            <a:t>mắt</a:t>
          </a:r>
          <a:endParaRPr lang="en-US" dirty="0">
            <a:solidFill>
              <a:schemeClr val="tx2">
                <a:lumMod val="10000"/>
              </a:schemeClr>
            </a:solidFill>
          </a:endParaRPr>
        </a:p>
      </dgm:t>
    </dgm:pt>
    <dgm:pt modelId="{E946C44A-B170-9B4C-A1F2-F611CDEB24B6}" type="parTrans" cxnId="{20AC0465-4AC0-2C40-9E2D-4E4F092CF6AF}">
      <dgm:prSet/>
      <dgm:spPr/>
      <dgm:t>
        <a:bodyPr/>
        <a:lstStyle/>
        <a:p>
          <a:endParaRPr lang="en-US"/>
        </a:p>
      </dgm:t>
    </dgm:pt>
    <dgm:pt modelId="{B4A7D7D5-1EA8-FF43-9735-EC1C9BF4971B}" type="sibTrans" cxnId="{20AC0465-4AC0-2C40-9E2D-4E4F092CF6AF}">
      <dgm:prSet/>
      <dgm:spPr>
        <a:solidFill>
          <a:schemeClr val="bg2">
            <a:lumMod val="60000"/>
            <a:lumOff val="40000"/>
          </a:schemeClr>
        </a:solidFill>
      </dgm:spPr>
      <dgm:t>
        <a:bodyPr/>
        <a:lstStyle/>
        <a:p>
          <a:endParaRPr lang="en-US"/>
        </a:p>
      </dgm:t>
    </dgm:pt>
    <dgm:pt modelId="{DC2EF937-D24E-F849-B0EA-5771A7C9E3A3}">
      <dgm:prSet phldrT="[Text]"/>
      <dgm:spPr>
        <a:solidFill>
          <a:srgbClr val="F8EC92"/>
        </a:solidFill>
      </dgm:spPr>
      <dgm:t>
        <a:bodyPr/>
        <a:lstStyle/>
        <a:p>
          <a:r>
            <a:rPr lang="en-US" dirty="0" err="1">
              <a:solidFill>
                <a:schemeClr val="tx2">
                  <a:lumMod val="10000"/>
                </a:schemeClr>
              </a:solidFill>
            </a:rPr>
            <a:t>Tư</a:t>
          </a:r>
          <a:r>
            <a:rPr lang="en-US" dirty="0">
              <a:solidFill>
                <a:schemeClr val="tx2">
                  <a:lumMod val="10000"/>
                </a:schemeClr>
              </a:solidFill>
            </a:rPr>
            <a:t> </a:t>
          </a:r>
          <a:r>
            <a:rPr lang="en-US" dirty="0" err="1">
              <a:solidFill>
                <a:schemeClr val="tx2">
                  <a:lumMod val="10000"/>
                </a:schemeClr>
              </a:solidFill>
            </a:rPr>
            <a:t>thế</a:t>
          </a:r>
          <a:endParaRPr lang="en-US" dirty="0">
            <a:solidFill>
              <a:schemeClr val="tx2">
                <a:lumMod val="10000"/>
              </a:schemeClr>
            </a:solidFill>
          </a:endParaRPr>
        </a:p>
      </dgm:t>
    </dgm:pt>
    <dgm:pt modelId="{568666A0-AA86-7748-9554-7BA9BE5EDF64}" type="parTrans" cxnId="{7EB8D1A5-CB63-AF41-B99C-E6E87CA95969}">
      <dgm:prSet/>
      <dgm:spPr/>
      <dgm:t>
        <a:bodyPr/>
        <a:lstStyle/>
        <a:p>
          <a:endParaRPr lang="en-US"/>
        </a:p>
      </dgm:t>
    </dgm:pt>
    <dgm:pt modelId="{3825613B-90B5-A24C-890E-C0A226126E72}" type="sibTrans" cxnId="{7EB8D1A5-CB63-AF41-B99C-E6E87CA95969}">
      <dgm:prSet/>
      <dgm:spPr/>
      <dgm:t>
        <a:bodyPr/>
        <a:lstStyle/>
        <a:p>
          <a:endParaRPr lang="en-US"/>
        </a:p>
      </dgm:t>
    </dgm:pt>
    <dgm:pt modelId="{44FDBD7A-5A3D-3249-BBB0-03FEC94BE68B}">
      <dgm:prSet phldrT="[Text]"/>
      <dgm:spPr>
        <a:solidFill>
          <a:srgbClr val="FFC999"/>
        </a:solidFill>
      </dgm:spPr>
      <dgm:t>
        <a:bodyPr/>
        <a:lstStyle/>
        <a:p>
          <a:r>
            <a:rPr lang="en-US" dirty="0" err="1">
              <a:solidFill>
                <a:schemeClr val="tx2">
                  <a:lumMod val="10000"/>
                </a:schemeClr>
              </a:solidFill>
            </a:rPr>
            <a:t>Điệu</a:t>
          </a:r>
          <a:r>
            <a:rPr lang="en-US" dirty="0">
              <a:solidFill>
                <a:schemeClr val="tx2">
                  <a:lumMod val="10000"/>
                </a:schemeClr>
              </a:solidFill>
            </a:rPr>
            <a:t> </a:t>
          </a:r>
          <a:r>
            <a:rPr lang="en-US" dirty="0" err="1">
              <a:solidFill>
                <a:schemeClr val="tx2">
                  <a:lumMod val="10000"/>
                </a:schemeClr>
              </a:solidFill>
            </a:rPr>
            <a:t>bộ</a:t>
          </a:r>
          <a:endParaRPr lang="en-US" dirty="0">
            <a:solidFill>
              <a:schemeClr val="tx2">
                <a:lumMod val="10000"/>
              </a:schemeClr>
            </a:solidFill>
          </a:endParaRPr>
        </a:p>
      </dgm:t>
    </dgm:pt>
    <dgm:pt modelId="{527BDCD7-4BE1-BD40-A27B-42BEFC4AEB8E}" type="parTrans" cxnId="{D5B894EB-C8BE-F240-A0D0-BE5D21FAC89C}">
      <dgm:prSet/>
      <dgm:spPr/>
      <dgm:t>
        <a:bodyPr/>
        <a:lstStyle/>
        <a:p>
          <a:endParaRPr lang="en-US"/>
        </a:p>
      </dgm:t>
    </dgm:pt>
    <dgm:pt modelId="{4FC7368C-8A4C-C14C-A8A4-475B89F8EFFC}" type="sibTrans" cxnId="{D5B894EB-C8BE-F240-A0D0-BE5D21FAC89C}">
      <dgm:prSet/>
      <dgm:spPr/>
      <dgm:t>
        <a:bodyPr/>
        <a:lstStyle/>
        <a:p>
          <a:endParaRPr lang="en-US"/>
        </a:p>
      </dgm:t>
    </dgm:pt>
    <dgm:pt modelId="{3CAF9031-E546-B04A-80E2-84802BBA5111}">
      <dgm:prSet phldrT="[Text]"/>
      <dgm:spPr>
        <a:solidFill>
          <a:srgbClr val="FF91B9"/>
        </a:solidFill>
      </dgm:spPr>
      <dgm:t>
        <a:bodyPr/>
        <a:lstStyle/>
        <a:p>
          <a:r>
            <a:rPr lang="en-US" dirty="0" err="1">
              <a:solidFill>
                <a:schemeClr val="tx2">
                  <a:lumMod val="10000"/>
                </a:schemeClr>
              </a:solidFill>
            </a:rPr>
            <a:t>Nét</a:t>
          </a:r>
          <a:r>
            <a:rPr lang="en-US" dirty="0">
              <a:solidFill>
                <a:schemeClr val="tx2">
                  <a:lumMod val="10000"/>
                </a:schemeClr>
              </a:solidFill>
            </a:rPr>
            <a:t> </a:t>
          </a:r>
          <a:r>
            <a:rPr lang="en-US" dirty="0" err="1">
              <a:solidFill>
                <a:schemeClr val="tx2">
                  <a:lumMod val="10000"/>
                </a:schemeClr>
              </a:solidFill>
            </a:rPr>
            <a:t>mặt</a:t>
          </a:r>
          <a:endParaRPr lang="en-US" dirty="0">
            <a:solidFill>
              <a:schemeClr val="tx2">
                <a:lumMod val="10000"/>
              </a:schemeClr>
            </a:solidFill>
          </a:endParaRPr>
        </a:p>
      </dgm:t>
    </dgm:pt>
    <dgm:pt modelId="{C63E9892-EE0C-0B44-9C8B-97736638D426}" type="parTrans" cxnId="{DEF2893D-E9F4-0A4D-81FD-D6D2681F997C}">
      <dgm:prSet/>
      <dgm:spPr/>
      <dgm:t>
        <a:bodyPr/>
        <a:lstStyle/>
        <a:p>
          <a:endParaRPr lang="en-US"/>
        </a:p>
      </dgm:t>
    </dgm:pt>
    <dgm:pt modelId="{F601314F-3930-7A4A-BC59-2598CA318FCC}" type="sibTrans" cxnId="{DEF2893D-E9F4-0A4D-81FD-D6D2681F997C}">
      <dgm:prSet/>
      <dgm:spPr/>
      <dgm:t>
        <a:bodyPr/>
        <a:lstStyle/>
        <a:p>
          <a:endParaRPr lang="en-US"/>
        </a:p>
      </dgm:t>
    </dgm:pt>
    <dgm:pt modelId="{229B955E-9896-2042-81D4-08AF165DAC99}">
      <dgm:prSet phldrT="[Text]"/>
      <dgm:spPr>
        <a:solidFill>
          <a:srgbClr val="ECC8FF"/>
        </a:solidFill>
      </dgm:spPr>
      <dgm:t>
        <a:bodyPr/>
        <a:lstStyle/>
        <a:p>
          <a:r>
            <a:rPr lang="en-US" dirty="0" err="1">
              <a:solidFill>
                <a:schemeClr val="tx2">
                  <a:lumMod val="10000"/>
                </a:schemeClr>
              </a:solidFill>
            </a:rPr>
            <a:t>Nụ</a:t>
          </a:r>
          <a:r>
            <a:rPr lang="en-US" dirty="0">
              <a:solidFill>
                <a:schemeClr val="tx2">
                  <a:lumMod val="10000"/>
                </a:schemeClr>
              </a:solidFill>
            </a:rPr>
            <a:t> </a:t>
          </a:r>
          <a:r>
            <a:rPr lang="en-US" dirty="0" err="1">
              <a:solidFill>
                <a:schemeClr val="tx2">
                  <a:lumMod val="10000"/>
                </a:schemeClr>
              </a:solidFill>
            </a:rPr>
            <a:t>cười</a:t>
          </a:r>
          <a:endParaRPr lang="en-US" dirty="0">
            <a:solidFill>
              <a:schemeClr val="tx2">
                <a:lumMod val="10000"/>
              </a:schemeClr>
            </a:solidFill>
          </a:endParaRPr>
        </a:p>
      </dgm:t>
    </dgm:pt>
    <dgm:pt modelId="{08D30966-6C83-5545-9857-7164D5CBCF0F}" type="parTrans" cxnId="{97E5B479-16E6-5344-8E44-BCBF71F1044C}">
      <dgm:prSet/>
      <dgm:spPr/>
      <dgm:t>
        <a:bodyPr/>
        <a:lstStyle/>
        <a:p>
          <a:endParaRPr lang="en-US"/>
        </a:p>
      </dgm:t>
    </dgm:pt>
    <dgm:pt modelId="{E28099AE-34C4-2B4B-8CA8-D659CB22FF06}" type="sibTrans" cxnId="{97E5B479-16E6-5344-8E44-BCBF71F1044C}">
      <dgm:prSet/>
      <dgm:spPr/>
      <dgm:t>
        <a:bodyPr/>
        <a:lstStyle/>
        <a:p>
          <a:endParaRPr lang="en-US"/>
        </a:p>
      </dgm:t>
    </dgm:pt>
    <dgm:pt modelId="{02646C90-1E76-D440-80C8-42FE1FFE0320}">
      <dgm:prSet phldrT="[Text]"/>
      <dgm:spPr>
        <a:solidFill>
          <a:srgbClr val="A9D3FF"/>
        </a:solidFill>
      </dgm:spPr>
      <dgm:t>
        <a:bodyPr/>
        <a:lstStyle/>
        <a:p>
          <a:r>
            <a:rPr lang="en-US" dirty="0" err="1">
              <a:solidFill>
                <a:schemeClr val="tx2">
                  <a:lumMod val="10000"/>
                </a:schemeClr>
              </a:solidFill>
            </a:rPr>
            <a:t>Khoảng</a:t>
          </a:r>
          <a:r>
            <a:rPr lang="en-US" dirty="0">
              <a:solidFill>
                <a:schemeClr val="tx2">
                  <a:lumMod val="10000"/>
                </a:schemeClr>
              </a:solidFill>
            </a:rPr>
            <a:t> </a:t>
          </a:r>
          <a:r>
            <a:rPr lang="en-US" dirty="0" err="1">
              <a:solidFill>
                <a:schemeClr val="tx2">
                  <a:lumMod val="10000"/>
                </a:schemeClr>
              </a:solidFill>
            </a:rPr>
            <a:t>cách</a:t>
          </a:r>
          <a:endParaRPr lang="en-US" dirty="0">
            <a:solidFill>
              <a:schemeClr val="tx2">
                <a:lumMod val="10000"/>
              </a:schemeClr>
            </a:solidFill>
          </a:endParaRPr>
        </a:p>
      </dgm:t>
    </dgm:pt>
    <dgm:pt modelId="{1E0F8FE6-36CE-AD47-9F89-22CF57FF438B}" type="parTrans" cxnId="{E57BD5BA-236D-A34D-A307-5CFDB95DA603}">
      <dgm:prSet/>
      <dgm:spPr/>
      <dgm:t>
        <a:bodyPr/>
        <a:lstStyle/>
        <a:p>
          <a:endParaRPr lang="en-US"/>
        </a:p>
      </dgm:t>
    </dgm:pt>
    <dgm:pt modelId="{E34FD797-F782-6F4B-BAED-37F1C4B067A1}" type="sibTrans" cxnId="{E57BD5BA-236D-A34D-A307-5CFDB95DA603}">
      <dgm:prSet/>
      <dgm:spPr/>
      <dgm:t>
        <a:bodyPr/>
        <a:lstStyle/>
        <a:p>
          <a:endParaRPr lang="en-US"/>
        </a:p>
      </dgm:t>
    </dgm:pt>
    <dgm:pt modelId="{6F3D7552-6F67-A142-8275-BED188526169}">
      <dgm:prSet phldrT="[Text]"/>
      <dgm:spPr>
        <a:solidFill>
          <a:srgbClr val="7CEDFE"/>
        </a:solidFill>
      </dgm:spPr>
      <dgm:t>
        <a:bodyPr/>
        <a:lstStyle/>
        <a:p>
          <a:r>
            <a:rPr lang="en-US" dirty="0" err="1">
              <a:solidFill>
                <a:schemeClr val="tx2">
                  <a:lumMod val="10000"/>
                </a:schemeClr>
              </a:solidFill>
            </a:rPr>
            <a:t>vận</a:t>
          </a:r>
          <a:r>
            <a:rPr lang="en-US" dirty="0">
              <a:solidFill>
                <a:schemeClr val="tx2">
                  <a:lumMod val="10000"/>
                </a:schemeClr>
              </a:solidFill>
            </a:rPr>
            <a:t> </a:t>
          </a:r>
          <a:r>
            <a:rPr lang="en-US" dirty="0" err="1">
              <a:solidFill>
                <a:schemeClr val="tx2">
                  <a:lumMod val="10000"/>
                </a:schemeClr>
              </a:solidFill>
            </a:rPr>
            <a:t>động</a:t>
          </a:r>
          <a:r>
            <a:rPr lang="en-US" dirty="0">
              <a:solidFill>
                <a:schemeClr val="tx2">
                  <a:lumMod val="10000"/>
                </a:schemeClr>
              </a:solidFill>
            </a:rPr>
            <a:t> </a:t>
          </a:r>
          <a:r>
            <a:rPr lang="en-US" dirty="0" err="1">
              <a:solidFill>
                <a:schemeClr val="tx2">
                  <a:lumMod val="10000"/>
                </a:schemeClr>
              </a:solidFill>
            </a:rPr>
            <a:t>của</a:t>
          </a:r>
          <a:r>
            <a:rPr lang="en-US" dirty="0">
              <a:solidFill>
                <a:schemeClr val="tx2">
                  <a:lumMod val="10000"/>
                </a:schemeClr>
              </a:solidFill>
            </a:rPr>
            <a:t> </a:t>
          </a:r>
          <a:r>
            <a:rPr lang="en-US" dirty="0" err="1">
              <a:solidFill>
                <a:schemeClr val="tx2">
                  <a:lumMod val="10000"/>
                </a:schemeClr>
              </a:solidFill>
            </a:rPr>
            <a:t>cơ</a:t>
          </a:r>
          <a:r>
            <a:rPr lang="en-US" dirty="0">
              <a:solidFill>
                <a:schemeClr val="tx2">
                  <a:lumMod val="10000"/>
                </a:schemeClr>
              </a:solidFill>
            </a:rPr>
            <a:t> </a:t>
          </a:r>
          <a:r>
            <a:rPr lang="en-US" dirty="0" err="1">
              <a:solidFill>
                <a:schemeClr val="tx2">
                  <a:lumMod val="10000"/>
                </a:schemeClr>
              </a:solidFill>
            </a:rPr>
            <a:t>thể</a:t>
          </a:r>
          <a:endParaRPr lang="en-US" dirty="0">
            <a:solidFill>
              <a:schemeClr val="tx2">
                <a:lumMod val="10000"/>
              </a:schemeClr>
            </a:solidFill>
          </a:endParaRPr>
        </a:p>
      </dgm:t>
    </dgm:pt>
    <dgm:pt modelId="{0AE67C54-C138-4145-A331-E7D125CB4094}" type="parTrans" cxnId="{FD2C8AD9-9017-B64C-B27D-E05DFF80A8F7}">
      <dgm:prSet/>
      <dgm:spPr/>
      <dgm:t>
        <a:bodyPr/>
        <a:lstStyle/>
        <a:p>
          <a:endParaRPr lang="en-US"/>
        </a:p>
      </dgm:t>
    </dgm:pt>
    <dgm:pt modelId="{632EA136-E877-0A4A-AA2F-4873872DC0EB}" type="sibTrans" cxnId="{FD2C8AD9-9017-B64C-B27D-E05DFF80A8F7}">
      <dgm:prSet/>
      <dgm:spPr/>
      <dgm:t>
        <a:bodyPr/>
        <a:lstStyle/>
        <a:p>
          <a:endParaRPr lang="en-US"/>
        </a:p>
      </dgm:t>
    </dgm:pt>
    <dgm:pt modelId="{E8DB360A-6E55-BD45-BD84-C09FA30F6A70}" type="pres">
      <dgm:prSet presAssocID="{9ED6AFF3-3EC1-2945-B5B9-B806D7D04645}" presName="Name0" presStyleCnt="0">
        <dgm:presLayoutVars>
          <dgm:dir/>
          <dgm:resizeHandles val="exact"/>
        </dgm:presLayoutVars>
      </dgm:prSet>
      <dgm:spPr/>
    </dgm:pt>
    <dgm:pt modelId="{14C99406-C4A4-594E-AEB2-258A05806616}" type="pres">
      <dgm:prSet presAssocID="{9ED6AFF3-3EC1-2945-B5B9-B806D7D04645}" presName="cycle" presStyleCnt="0"/>
      <dgm:spPr/>
    </dgm:pt>
    <dgm:pt modelId="{D56E5422-BB9E-064B-943C-2623A1E019D2}" type="pres">
      <dgm:prSet presAssocID="{62843982-D5A6-114A-9450-CB7F531D3881}" presName="nodeFirstNode" presStyleLbl="node1" presStyleIdx="0" presStyleCnt="7">
        <dgm:presLayoutVars>
          <dgm:bulletEnabled val="1"/>
        </dgm:presLayoutVars>
      </dgm:prSet>
      <dgm:spPr/>
    </dgm:pt>
    <dgm:pt modelId="{EB31F86B-96E6-7C4E-A24B-CF1A05AC8227}" type="pres">
      <dgm:prSet presAssocID="{B4A7D7D5-1EA8-FF43-9735-EC1C9BF4971B}" presName="sibTransFirstNode" presStyleLbl="bgShp" presStyleIdx="0" presStyleCnt="1"/>
      <dgm:spPr/>
    </dgm:pt>
    <dgm:pt modelId="{27576816-3649-224B-BCB9-0DAAB0289FA8}" type="pres">
      <dgm:prSet presAssocID="{DC2EF937-D24E-F849-B0EA-5771A7C9E3A3}" presName="nodeFollowingNodes" presStyleLbl="node1" presStyleIdx="1" presStyleCnt="7">
        <dgm:presLayoutVars>
          <dgm:bulletEnabled val="1"/>
        </dgm:presLayoutVars>
      </dgm:prSet>
      <dgm:spPr/>
    </dgm:pt>
    <dgm:pt modelId="{B08F4EF6-99F2-CA41-AF78-98A9C4B3F5A0}" type="pres">
      <dgm:prSet presAssocID="{44FDBD7A-5A3D-3249-BBB0-03FEC94BE68B}" presName="nodeFollowingNodes" presStyleLbl="node1" presStyleIdx="2" presStyleCnt="7">
        <dgm:presLayoutVars>
          <dgm:bulletEnabled val="1"/>
        </dgm:presLayoutVars>
      </dgm:prSet>
      <dgm:spPr/>
    </dgm:pt>
    <dgm:pt modelId="{176D7E92-C6E4-5D43-B74F-40A9372D9A02}" type="pres">
      <dgm:prSet presAssocID="{3CAF9031-E546-B04A-80E2-84802BBA5111}" presName="nodeFollowingNodes" presStyleLbl="node1" presStyleIdx="3" presStyleCnt="7">
        <dgm:presLayoutVars>
          <dgm:bulletEnabled val="1"/>
        </dgm:presLayoutVars>
      </dgm:prSet>
      <dgm:spPr/>
    </dgm:pt>
    <dgm:pt modelId="{5655F4DA-679E-6A46-BB25-4DFBFBE4B11A}" type="pres">
      <dgm:prSet presAssocID="{229B955E-9896-2042-81D4-08AF165DAC99}" presName="nodeFollowingNodes" presStyleLbl="node1" presStyleIdx="4" presStyleCnt="7">
        <dgm:presLayoutVars>
          <dgm:bulletEnabled val="1"/>
        </dgm:presLayoutVars>
      </dgm:prSet>
      <dgm:spPr/>
    </dgm:pt>
    <dgm:pt modelId="{C2BCB722-360D-3347-A999-FFB0C57B4703}" type="pres">
      <dgm:prSet presAssocID="{02646C90-1E76-D440-80C8-42FE1FFE0320}" presName="nodeFollowingNodes" presStyleLbl="node1" presStyleIdx="5" presStyleCnt="7">
        <dgm:presLayoutVars>
          <dgm:bulletEnabled val="1"/>
        </dgm:presLayoutVars>
      </dgm:prSet>
      <dgm:spPr/>
    </dgm:pt>
    <dgm:pt modelId="{CDEEEDAB-1A95-FB40-8E98-3EE05810A307}" type="pres">
      <dgm:prSet presAssocID="{6F3D7552-6F67-A142-8275-BED188526169}" presName="nodeFollowingNodes" presStyleLbl="node1" presStyleIdx="6" presStyleCnt="7">
        <dgm:presLayoutVars>
          <dgm:bulletEnabled val="1"/>
        </dgm:presLayoutVars>
      </dgm:prSet>
      <dgm:spPr/>
    </dgm:pt>
  </dgm:ptLst>
  <dgm:cxnLst>
    <dgm:cxn modelId="{9571332F-393B-6245-B204-610B93ABBAE7}" type="presOf" srcId="{3CAF9031-E546-B04A-80E2-84802BBA5111}" destId="{176D7E92-C6E4-5D43-B74F-40A9372D9A02}" srcOrd="0" destOrd="0" presId="urn:microsoft.com/office/officeart/2005/8/layout/cycle3"/>
    <dgm:cxn modelId="{DEF2893D-E9F4-0A4D-81FD-D6D2681F997C}" srcId="{9ED6AFF3-3EC1-2945-B5B9-B806D7D04645}" destId="{3CAF9031-E546-B04A-80E2-84802BBA5111}" srcOrd="3" destOrd="0" parTransId="{C63E9892-EE0C-0B44-9C8B-97736638D426}" sibTransId="{F601314F-3930-7A4A-BC59-2598CA318FCC}"/>
    <dgm:cxn modelId="{0A2C7E48-385F-ED48-8ACC-350F3CF14538}" type="presOf" srcId="{229B955E-9896-2042-81D4-08AF165DAC99}" destId="{5655F4DA-679E-6A46-BB25-4DFBFBE4B11A}" srcOrd="0" destOrd="0" presId="urn:microsoft.com/office/officeart/2005/8/layout/cycle3"/>
    <dgm:cxn modelId="{F8452056-5A04-C540-8F0B-59B579EBC111}" type="presOf" srcId="{B4A7D7D5-1EA8-FF43-9735-EC1C9BF4971B}" destId="{EB31F86B-96E6-7C4E-A24B-CF1A05AC8227}" srcOrd="0" destOrd="0" presId="urn:microsoft.com/office/officeart/2005/8/layout/cycle3"/>
    <dgm:cxn modelId="{701E6457-92D8-B14F-B029-462E24035865}" type="presOf" srcId="{44FDBD7A-5A3D-3249-BBB0-03FEC94BE68B}" destId="{B08F4EF6-99F2-CA41-AF78-98A9C4B3F5A0}" srcOrd="0" destOrd="0" presId="urn:microsoft.com/office/officeart/2005/8/layout/cycle3"/>
    <dgm:cxn modelId="{20AC0465-4AC0-2C40-9E2D-4E4F092CF6AF}" srcId="{9ED6AFF3-3EC1-2945-B5B9-B806D7D04645}" destId="{62843982-D5A6-114A-9450-CB7F531D3881}" srcOrd="0" destOrd="0" parTransId="{E946C44A-B170-9B4C-A1F2-F611CDEB24B6}" sibTransId="{B4A7D7D5-1EA8-FF43-9735-EC1C9BF4971B}"/>
    <dgm:cxn modelId="{97E5B479-16E6-5344-8E44-BCBF71F1044C}" srcId="{9ED6AFF3-3EC1-2945-B5B9-B806D7D04645}" destId="{229B955E-9896-2042-81D4-08AF165DAC99}" srcOrd="4" destOrd="0" parTransId="{08D30966-6C83-5545-9857-7164D5CBCF0F}" sibTransId="{E28099AE-34C4-2B4B-8CA8-D659CB22FF06}"/>
    <dgm:cxn modelId="{5A59EF88-E4EB-3241-BAA4-64CFD2BBB4DE}" type="presOf" srcId="{62843982-D5A6-114A-9450-CB7F531D3881}" destId="{D56E5422-BB9E-064B-943C-2623A1E019D2}" srcOrd="0" destOrd="0" presId="urn:microsoft.com/office/officeart/2005/8/layout/cycle3"/>
    <dgm:cxn modelId="{6F0326A5-EA07-1249-AFC5-871520549AC0}" type="presOf" srcId="{9ED6AFF3-3EC1-2945-B5B9-B806D7D04645}" destId="{E8DB360A-6E55-BD45-BD84-C09FA30F6A70}" srcOrd="0" destOrd="0" presId="urn:microsoft.com/office/officeart/2005/8/layout/cycle3"/>
    <dgm:cxn modelId="{7EB8D1A5-CB63-AF41-B99C-E6E87CA95969}" srcId="{9ED6AFF3-3EC1-2945-B5B9-B806D7D04645}" destId="{DC2EF937-D24E-F849-B0EA-5771A7C9E3A3}" srcOrd="1" destOrd="0" parTransId="{568666A0-AA86-7748-9554-7BA9BE5EDF64}" sibTransId="{3825613B-90B5-A24C-890E-C0A226126E72}"/>
    <dgm:cxn modelId="{E57BD5BA-236D-A34D-A307-5CFDB95DA603}" srcId="{9ED6AFF3-3EC1-2945-B5B9-B806D7D04645}" destId="{02646C90-1E76-D440-80C8-42FE1FFE0320}" srcOrd="5" destOrd="0" parTransId="{1E0F8FE6-36CE-AD47-9F89-22CF57FF438B}" sibTransId="{E34FD797-F782-6F4B-BAED-37F1C4B067A1}"/>
    <dgm:cxn modelId="{C9DFEAD6-EA18-634A-BA73-92024F91F935}" type="presOf" srcId="{DC2EF937-D24E-F849-B0EA-5771A7C9E3A3}" destId="{27576816-3649-224B-BCB9-0DAAB0289FA8}" srcOrd="0" destOrd="0" presId="urn:microsoft.com/office/officeart/2005/8/layout/cycle3"/>
    <dgm:cxn modelId="{FD2C8AD9-9017-B64C-B27D-E05DFF80A8F7}" srcId="{9ED6AFF3-3EC1-2945-B5B9-B806D7D04645}" destId="{6F3D7552-6F67-A142-8275-BED188526169}" srcOrd="6" destOrd="0" parTransId="{0AE67C54-C138-4145-A331-E7D125CB4094}" sibTransId="{632EA136-E877-0A4A-AA2F-4873872DC0EB}"/>
    <dgm:cxn modelId="{D5B894EB-C8BE-F240-A0D0-BE5D21FAC89C}" srcId="{9ED6AFF3-3EC1-2945-B5B9-B806D7D04645}" destId="{44FDBD7A-5A3D-3249-BBB0-03FEC94BE68B}" srcOrd="2" destOrd="0" parTransId="{527BDCD7-4BE1-BD40-A27B-42BEFC4AEB8E}" sibTransId="{4FC7368C-8A4C-C14C-A8A4-475B89F8EFFC}"/>
    <dgm:cxn modelId="{3E907EEF-8B14-5245-8F75-A570AE5C5A3E}" type="presOf" srcId="{02646C90-1E76-D440-80C8-42FE1FFE0320}" destId="{C2BCB722-360D-3347-A999-FFB0C57B4703}" srcOrd="0" destOrd="0" presId="urn:microsoft.com/office/officeart/2005/8/layout/cycle3"/>
    <dgm:cxn modelId="{17C8A1FC-513C-2345-85FF-590531E3F8FA}" type="presOf" srcId="{6F3D7552-6F67-A142-8275-BED188526169}" destId="{CDEEEDAB-1A95-FB40-8E98-3EE05810A307}" srcOrd="0" destOrd="0" presId="urn:microsoft.com/office/officeart/2005/8/layout/cycle3"/>
    <dgm:cxn modelId="{488F8CF3-671A-1946-B5FB-C5A8C650D123}" type="presParOf" srcId="{E8DB360A-6E55-BD45-BD84-C09FA30F6A70}" destId="{14C99406-C4A4-594E-AEB2-258A05806616}" srcOrd="0" destOrd="0" presId="urn:microsoft.com/office/officeart/2005/8/layout/cycle3"/>
    <dgm:cxn modelId="{BD1A8AF4-FA78-4843-8403-19F89DE59B14}" type="presParOf" srcId="{14C99406-C4A4-594E-AEB2-258A05806616}" destId="{D56E5422-BB9E-064B-943C-2623A1E019D2}" srcOrd="0" destOrd="0" presId="urn:microsoft.com/office/officeart/2005/8/layout/cycle3"/>
    <dgm:cxn modelId="{4E4F778C-F547-9540-B5A7-7118F0D0E8A1}" type="presParOf" srcId="{14C99406-C4A4-594E-AEB2-258A05806616}" destId="{EB31F86B-96E6-7C4E-A24B-CF1A05AC8227}" srcOrd="1" destOrd="0" presId="urn:microsoft.com/office/officeart/2005/8/layout/cycle3"/>
    <dgm:cxn modelId="{959633B0-0721-F348-84B5-7F81BE4C207A}" type="presParOf" srcId="{14C99406-C4A4-594E-AEB2-258A05806616}" destId="{27576816-3649-224B-BCB9-0DAAB0289FA8}" srcOrd="2" destOrd="0" presId="urn:microsoft.com/office/officeart/2005/8/layout/cycle3"/>
    <dgm:cxn modelId="{B4164873-4D30-F043-8462-0D14BD35D01F}" type="presParOf" srcId="{14C99406-C4A4-594E-AEB2-258A05806616}" destId="{B08F4EF6-99F2-CA41-AF78-98A9C4B3F5A0}" srcOrd="3" destOrd="0" presId="urn:microsoft.com/office/officeart/2005/8/layout/cycle3"/>
    <dgm:cxn modelId="{E3B4D769-D11D-6841-B352-3D5FEA036C7B}" type="presParOf" srcId="{14C99406-C4A4-594E-AEB2-258A05806616}" destId="{176D7E92-C6E4-5D43-B74F-40A9372D9A02}" srcOrd="4" destOrd="0" presId="urn:microsoft.com/office/officeart/2005/8/layout/cycle3"/>
    <dgm:cxn modelId="{2272F93A-0CDE-A143-BDC2-ACF564CBA804}" type="presParOf" srcId="{14C99406-C4A4-594E-AEB2-258A05806616}" destId="{5655F4DA-679E-6A46-BB25-4DFBFBE4B11A}" srcOrd="5" destOrd="0" presId="urn:microsoft.com/office/officeart/2005/8/layout/cycle3"/>
    <dgm:cxn modelId="{BFDF0F5E-E661-FE43-AF68-830DD0823268}" type="presParOf" srcId="{14C99406-C4A4-594E-AEB2-258A05806616}" destId="{C2BCB722-360D-3347-A999-FFB0C57B4703}" srcOrd="6" destOrd="0" presId="urn:microsoft.com/office/officeart/2005/8/layout/cycle3"/>
    <dgm:cxn modelId="{4D0B1AB9-9854-934F-8632-3B1B2A5F2594}" type="presParOf" srcId="{14C99406-C4A4-594E-AEB2-258A05806616}" destId="{CDEEEDAB-1A95-FB40-8E98-3EE05810A307}" srcOrd="7"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7D5B9D-36B6-FB43-8A66-48FB292DF925}">
      <dsp:nvSpPr>
        <dsp:cNvPr id="0" name=""/>
        <dsp:cNvSpPr/>
      </dsp:nvSpPr>
      <dsp:spPr>
        <a:xfrm>
          <a:off x="-3529507" y="-542525"/>
          <a:ext cx="4207876" cy="4207876"/>
        </a:xfrm>
        <a:prstGeom prst="blockArc">
          <a:avLst>
            <a:gd name="adj1" fmla="val 18900000"/>
            <a:gd name="adj2" fmla="val 2700000"/>
            <a:gd name="adj3" fmla="val 513"/>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F7DC04-FA82-EA4C-8DD0-A9033636642B}">
      <dsp:nvSpPr>
        <dsp:cNvPr id="0" name=""/>
        <dsp:cNvSpPr/>
      </dsp:nvSpPr>
      <dsp:spPr>
        <a:xfrm>
          <a:off x="355652" y="240082"/>
          <a:ext cx="5121467" cy="480415"/>
        </a:xfrm>
        <a:prstGeom prst="rect">
          <a:avLst/>
        </a:prstGeom>
        <a:solidFill>
          <a:schemeClr val="accent1">
            <a:hueOff val="0"/>
            <a:satOff val="0"/>
            <a:lumOff val="0"/>
            <a:alphaOff val="0"/>
          </a:schemeClr>
        </a:solidFill>
        <a:ln w="25400" cap="flat" cmpd="sng" algn="ctr">
          <a:solidFill>
            <a:srgbClr val="0070C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330" tIns="45720" rIns="45720" bIns="45720" numCol="1" spcCol="1270" anchor="ctr" anchorCtr="0">
          <a:noAutofit/>
        </a:bodyPr>
        <a:lstStyle/>
        <a:p>
          <a:pPr marL="0" lvl="0" indent="0" algn="l" defTabSz="800100">
            <a:lnSpc>
              <a:spcPct val="90000"/>
            </a:lnSpc>
            <a:spcBef>
              <a:spcPct val="0"/>
            </a:spcBef>
            <a:spcAft>
              <a:spcPct val="35000"/>
            </a:spcAft>
            <a:buNone/>
          </a:pPr>
          <a:r>
            <a:rPr lang="en-US" sz="1800" b="1" i="1" u="none" strike="noStrike" kern="1200" cap="none" dirty="0" err="1">
              <a:solidFill>
                <a:schemeClr val="dk1"/>
              </a:solidFill>
              <a:latin typeface="Arial" panose="020B0604020202020204" pitchFamily="34" charset="0"/>
              <a:ea typeface="Mulish"/>
              <a:cs typeface="Arial" panose="020B0604020202020204" pitchFamily="34" charset="0"/>
              <a:sym typeface="Mulish"/>
            </a:rPr>
            <a:t>Ngôn</a:t>
          </a:r>
          <a:r>
            <a:rPr lang="en-US" sz="1800" b="1" i="1" u="none" strike="noStrike" kern="1200" cap="none" dirty="0">
              <a:solidFill>
                <a:schemeClr val="dk1"/>
              </a:solidFill>
              <a:latin typeface="Arial" panose="020B0604020202020204" pitchFamily="34" charset="0"/>
              <a:ea typeface="Mulish"/>
              <a:cs typeface="Arial" panose="020B0604020202020204" pitchFamily="34" charset="0"/>
              <a:sym typeface="Mulish"/>
            </a:rPr>
            <a:t> </a:t>
          </a:r>
          <a:r>
            <a:rPr lang="en-US" sz="1800" b="1" i="1" u="none" strike="noStrike" kern="1200" cap="none" dirty="0" err="1">
              <a:solidFill>
                <a:schemeClr val="dk1"/>
              </a:solidFill>
              <a:latin typeface="Arial" panose="020B0604020202020204" pitchFamily="34" charset="0"/>
              <a:ea typeface="Mulish"/>
              <a:cs typeface="Arial" panose="020B0604020202020204" pitchFamily="34" charset="0"/>
              <a:sym typeface="Mulish"/>
            </a:rPr>
            <a:t>ngữ</a:t>
          </a:r>
          <a:r>
            <a:rPr lang="en-US" sz="1800" b="0" i="1" u="none" strike="noStrike" kern="1200" cap="none" dirty="0">
              <a:solidFill>
                <a:schemeClr val="dk1"/>
              </a:solidFill>
              <a:latin typeface="Arial" panose="020B0604020202020204" pitchFamily="34" charset="0"/>
              <a:ea typeface="Mulish"/>
              <a:cs typeface="Arial" panose="020B0604020202020204" pitchFamily="34" charset="0"/>
              <a:sym typeface="Mulish"/>
            </a:rPr>
            <a:t>: Giao </a:t>
          </a:r>
          <a:r>
            <a:rPr lang="en-US" sz="1800" b="0" i="1" u="none" strike="noStrike" kern="1200" cap="none" dirty="0" err="1">
              <a:solidFill>
                <a:schemeClr val="dk1"/>
              </a:solidFill>
              <a:latin typeface="Arial" panose="020B0604020202020204" pitchFamily="34" charset="0"/>
              <a:ea typeface="Mulish"/>
              <a:cs typeface="Arial" panose="020B0604020202020204" pitchFamily="34" charset="0"/>
              <a:sym typeface="Mulish"/>
            </a:rPr>
            <a:t>tiếp</a:t>
          </a:r>
          <a:r>
            <a:rPr lang="en-US" sz="1800" b="0" i="1" u="none" strike="noStrike" kern="1200" cap="none" dirty="0">
              <a:solidFill>
                <a:schemeClr val="dk1"/>
              </a:solidFill>
              <a:latin typeface="Arial" panose="020B0604020202020204" pitchFamily="34" charset="0"/>
              <a:ea typeface="Mulish"/>
              <a:cs typeface="Arial" panose="020B0604020202020204" pitchFamily="34" charset="0"/>
              <a:sym typeface="Mulish"/>
            </a:rPr>
            <a:t> </a:t>
          </a:r>
          <a:r>
            <a:rPr lang="en-US" sz="1800" b="0" i="1" u="none" strike="noStrike" kern="1200" cap="none" dirty="0" err="1">
              <a:solidFill>
                <a:schemeClr val="dk1"/>
              </a:solidFill>
              <a:latin typeface="Arial" panose="020B0604020202020204" pitchFamily="34" charset="0"/>
              <a:ea typeface="Mulish"/>
              <a:cs typeface="Arial" panose="020B0604020202020204" pitchFamily="34" charset="0"/>
              <a:sym typeface="Mulish"/>
            </a:rPr>
            <a:t>bằng</a:t>
          </a:r>
          <a:r>
            <a:rPr lang="en-US" sz="1800" b="0" i="1" u="none" strike="noStrike" kern="1200" cap="none" dirty="0">
              <a:solidFill>
                <a:schemeClr val="dk1"/>
              </a:solidFill>
              <a:latin typeface="Arial" panose="020B0604020202020204" pitchFamily="34" charset="0"/>
              <a:ea typeface="Mulish"/>
              <a:cs typeface="Arial" panose="020B0604020202020204" pitchFamily="34" charset="0"/>
              <a:sym typeface="Mulish"/>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lời</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nói</a:t>
          </a:r>
          <a:endParaRPr lang="en-US" sz="1800" b="0" i="1" u="none" strike="noStrike" kern="1200" cap="none" dirty="0">
            <a:solidFill>
              <a:srgbClr val="5C5C5F"/>
            </a:solidFill>
            <a:latin typeface="Arial" panose="020B0604020202020204" pitchFamily="34" charset="0"/>
            <a:ea typeface="Mulish"/>
            <a:cs typeface="Arial" panose="020B0604020202020204" pitchFamily="34" charset="0"/>
          </a:endParaRPr>
        </a:p>
      </dsp:txBody>
      <dsp:txXfrm>
        <a:off x="355652" y="240082"/>
        <a:ext cx="5121467" cy="480415"/>
      </dsp:txXfrm>
    </dsp:sp>
    <dsp:sp modelId="{4AA414C3-721D-3849-A69C-75771BC45F15}">
      <dsp:nvSpPr>
        <dsp:cNvPr id="0" name=""/>
        <dsp:cNvSpPr/>
      </dsp:nvSpPr>
      <dsp:spPr>
        <a:xfrm>
          <a:off x="55392" y="180030"/>
          <a:ext cx="600519" cy="600519"/>
        </a:xfrm>
        <a:prstGeom prst="ellipse">
          <a:avLst/>
        </a:prstGeom>
        <a:solidFill>
          <a:srgbClr val="A9D3FF"/>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606525-3BDB-B94A-9412-ED9BA5EFCB17}">
      <dsp:nvSpPr>
        <dsp:cNvPr id="0" name=""/>
        <dsp:cNvSpPr/>
      </dsp:nvSpPr>
      <dsp:spPr>
        <a:xfrm>
          <a:off x="631085" y="960830"/>
          <a:ext cx="4846034" cy="480415"/>
        </a:xfrm>
        <a:prstGeom prst="rect">
          <a:avLst/>
        </a:prstGeom>
        <a:solidFill>
          <a:schemeClr val="accent1">
            <a:hueOff val="0"/>
            <a:satOff val="0"/>
            <a:lumOff val="0"/>
            <a:alphaOff val="0"/>
          </a:schemeClr>
        </a:solidFill>
        <a:ln w="25400" cap="flat" cmpd="sng" algn="ctr">
          <a:solidFill>
            <a:srgbClr val="FF91B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330" tIns="45720" rIns="45720" bIns="45720" numCol="1" spcCol="1270" anchor="ctr" anchorCtr="0">
          <a:noAutofit/>
        </a:bodyPr>
        <a:lstStyle/>
        <a:p>
          <a:pPr marL="0" lvl="0" indent="0" algn="l" defTabSz="800100">
            <a:lnSpc>
              <a:spcPct val="90000"/>
            </a:lnSpc>
            <a:spcBef>
              <a:spcPct val="0"/>
            </a:spcBef>
            <a:spcAft>
              <a:spcPct val="35000"/>
            </a:spcAft>
            <a:buNone/>
          </a:pP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Phi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ngôn</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ngữ</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Giao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qua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ngôn</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ngữ</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cơ</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thể</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nét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mặt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ánh</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mắt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và</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giọng</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điệu</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p>
      </dsp:txBody>
      <dsp:txXfrm>
        <a:off x="631085" y="960830"/>
        <a:ext cx="4846034" cy="480415"/>
      </dsp:txXfrm>
    </dsp:sp>
    <dsp:sp modelId="{2DA3F040-5BFD-884F-871E-72A71054C7AB}">
      <dsp:nvSpPr>
        <dsp:cNvPr id="0" name=""/>
        <dsp:cNvSpPr/>
      </dsp:nvSpPr>
      <dsp:spPr>
        <a:xfrm>
          <a:off x="330826" y="900778"/>
          <a:ext cx="600519" cy="600519"/>
        </a:xfrm>
        <a:prstGeom prst="ellipse">
          <a:avLst/>
        </a:prstGeom>
        <a:solidFill>
          <a:srgbClr val="EEE0FF"/>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11220A-E721-114F-8690-FF3975AB06CB}">
      <dsp:nvSpPr>
        <dsp:cNvPr id="0" name=""/>
        <dsp:cNvSpPr/>
      </dsp:nvSpPr>
      <dsp:spPr>
        <a:xfrm>
          <a:off x="631085" y="1681578"/>
          <a:ext cx="4846034" cy="480415"/>
        </a:xfrm>
        <a:prstGeom prst="rect">
          <a:avLst/>
        </a:prstGeom>
        <a:solidFill>
          <a:schemeClr val="accent1">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330" tIns="45720" rIns="45720" bIns="45720" numCol="1" spcCol="1270" anchor="ctr" anchorCtr="0">
          <a:noAutofit/>
        </a:bodyPr>
        <a:lstStyle/>
        <a:p>
          <a:pPr marL="0" lvl="0" indent="0" algn="l" defTabSz="622300">
            <a:lnSpc>
              <a:spcPct val="90000"/>
            </a:lnSpc>
            <a:spcBef>
              <a:spcPct val="0"/>
            </a:spcBef>
            <a:spcAft>
              <a:spcPct val="35000"/>
            </a:spcAft>
            <a:buNone/>
          </a:pP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Văn</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bản</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Giao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bằng</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ngôn</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ngữ</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viết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ký</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hiệu</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và</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con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số</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p>
      </dsp:txBody>
      <dsp:txXfrm>
        <a:off x="631085" y="1681578"/>
        <a:ext cx="4846034" cy="480415"/>
      </dsp:txXfrm>
    </dsp:sp>
    <dsp:sp modelId="{8AC013B7-2BD2-6C46-BEA5-A3F962E8B7D6}">
      <dsp:nvSpPr>
        <dsp:cNvPr id="0" name=""/>
        <dsp:cNvSpPr/>
      </dsp:nvSpPr>
      <dsp:spPr>
        <a:xfrm>
          <a:off x="330826" y="1621526"/>
          <a:ext cx="600519" cy="600519"/>
        </a:xfrm>
        <a:prstGeom prst="ellipse">
          <a:avLst/>
        </a:prstGeom>
        <a:solidFill>
          <a:srgbClr val="FFC00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1ADAED-51FB-CD47-9928-F33FC2FBBA46}">
      <dsp:nvSpPr>
        <dsp:cNvPr id="0" name=""/>
        <dsp:cNvSpPr/>
      </dsp:nvSpPr>
      <dsp:spPr>
        <a:xfrm>
          <a:off x="355652" y="2402326"/>
          <a:ext cx="5121467" cy="480415"/>
        </a:xfrm>
        <a:prstGeom prst="rect">
          <a:avLst/>
        </a:prstGeom>
        <a:solidFill>
          <a:schemeClr val="accent1">
            <a:hueOff val="0"/>
            <a:satOff val="0"/>
            <a:lumOff val="0"/>
            <a:alphaOff val="0"/>
          </a:schemeClr>
        </a:solidFill>
        <a:ln w="25400" cap="flat" cmpd="sng" algn="ctr">
          <a:solidFill>
            <a:srgbClr val="00919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330" tIns="45720" rIns="45720" bIns="45720" numCol="1" spcCol="1270" anchor="ctr" anchorCtr="0">
          <a:noAutofit/>
        </a:bodyPr>
        <a:lstStyle/>
        <a:p>
          <a:pPr marL="0" lvl="0" indent="0" algn="l" defTabSz="622300">
            <a:lnSpc>
              <a:spcPct val="90000"/>
            </a:lnSpc>
            <a:spcBef>
              <a:spcPct val="0"/>
            </a:spcBef>
            <a:spcAft>
              <a:spcPct val="35000"/>
            </a:spcAft>
            <a:buNone/>
          </a:pP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Hình</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1" i="1" u="none" strike="noStrike" kern="1200" cap="none" dirty="0" err="1">
              <a:solidFill>
                <a:srgbClr val="5C5C5F"/>
              </a:solidFill>
              <a:latin typeface="Arial" panose="020B0604020202020204" pitchFamily="34" charset="0"/>
              <a:ea typeface="Mulish"/>
              <a:cs typeface="Arial" panose="020B0604020202020204" pitchFamily="34" charset="0"/>
            </a:rPr>
            <a:t>ảnh</a:t>
          </a:r>
          <a:r>
            <a:rPr lang="en-US" sz="1800" b="1"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Giao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bằng</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nhiếp</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ảnh</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nghệ</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thuật</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bản</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vẽ</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phác</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họa</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biểu</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đồ</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và</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đồ</a:t>
          </a:r>
          <a:r>
            <a:rPr lang="en-US" sz="1800" b="0" i="1" u="none" strike="noStrike" kern="1200" cap="none" dirty="0">
              <a:solidFill>
                <a:srgbClr val="5C5C5F"/>
              </a:solidFill>
              <a:latin typeface="Arial" panose="020B0604020202020204" pitchFamily="34" charset="0"/>
              <a:ea typeface="Mulish"/>
              <a:cs typeface="Arial" panose="020B0604020202020204" pitchFamily="34" charset="0"/>
            </a:rPr>
            <a:t> </a:t>
          </a:r>
          <a:r>
            <a:rPr lang="en-US" sz="1800" b="0" i="1" u="none" strike="noStrike" kern="1200" cap="none" dirty="0" err="1">
              <a:solidFill>
                <a:srgbClr val="5C5C5F"/>
              </a:solidFill>
              <a:latin typeface="Arial" panose="020B0604020202020204" pitchFamily="34" charset="0"/>
              <a:ea typeface="Mulish"/>
              <a:cs typeface="Arial" panose="020B0604020202020204" pitchFamily="34" charset="0"/>
            </a:rPr>
            <a:t>thị</a:t>
          </a:r>
          <a:endParaRPr lang="en-US" sz="1800" b="0" i="1" u="none" strike="noStrike" kern="1200" cap="none" dirty="0">
            <a:solidFill>
              <a:srgbClr val="5C5C5F"/>
            </a:solidFill>
            <a:latin typeface="Arial" panose="020B0604020202020204" pitchFamily="34" charset="0"/>
            <a:ea typeface="Mulish"/>
            <a:cs typeface="Arial" panose="020B0604020202020204" pitchFamily="34" charset="0"/>
          </a:endParaRPr>
        </a:p>
      </dsp:txBody>
      <dsp:txXfrm>
        <a:off x="355652" y="2402326"/>
        <a:ext cx="5121467" cy="480415"/>
      </dsp:txXfrm>
    </dsp:sp>
    <dsp:sp modelId="{FB0AA0E8-0959-F245-9B52-3563E4AB6AAF}">
      <dsp:nvSpPr>
        <dsp:cNvPr id="0" name=""/>
        <dsp:cNvSpPr/>
      </dsp:nvSpPr>
      <dsp:spPr>
        <a:xfrm>
          <a:off x="55392" y="2342274"/>
          <a:ext cx="600519" cy="600519"/>
        </a:xfrm>
        <a:prstGeom prst="ellipse">
          <a:avLst/>
        </a:prstGeom>
        <a:solidFill>
          <a:srgbClr val="92D050"/>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E32D4-1AE5-9F4F-8160-712C13868890}">
      <dsp:nvSpPr>
        <dsp:cNvPr id="0" name=""/>
        <dsp:cNvSpPr/>
      </dsp:nvSpPr>
      <dsp:spPr>
        <a:xfrm rot="16200000">
          <a:off x="132912" y="745955"/>
          <a:ext cx="1579575" cy="965287"/>
        </a:xfrm>
        <a:prstGeom prst="round2SameRect">
          <a:avLst>
            <a:gd name="adj1" fmla="val 16670"/>
            <a:gd name="adj2" fmla="val 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146050" rIns="131445" bIns="146050" numCol="1" spcCol="1270" anchor="t" anchorCtr="0">
          <a:noAutofit/>
        </a:bodyPr>
        <a:lstStyle/>
        <a:p>
          <a:pPr marL="0" lvl="0" indent="0" algn="l" defTabSz="1022350">
            <a:lnSpc>
              <a:spcPct val="90000"/>
            </a:lnSpc>
            <a:spcBef>
              <a:spcPct val="0"/>
            </a:spcBef>
            <a:spcAft>
              <a:spcPct val="35000"/>
            </a:spcAft>
            <a:buNone/>
          </a:pPr>
          <a:r>
            <a:rPr lang="en-US" sz="2300" kern="1200" dirty="0" err="1"/>
            <a:t>Ngôn</a:t>
          </a:r>
          <a:r>
            <a:rPr lang="en-US" sz="2300" kern="1200" dirty="0"/>
            <a:t> </a:t>
          </a:r>
          <a:r>
            <a:rPr lang="en-US" sz="2300" kern="1200" dirty="0" err="1"/>
            <a:t>ngữ</a:t>
          </a:r>
          <a:r>
            <a:rPr lang="en-US" sz="2300" kern="1200" dirty="0"/>
            <a:t> </a:t>
          </a:r>
          <a:r>
            <a:rPr lang="en-US" sz="2300" kern="1200" dirty="0" err="1"/>
            <a:t>nói</a:t>
          </a:r>
          <a:endParaRPr lang="en-US" sz="2300" kern="1200" dirty="0"/>
        </a:p>
      </dsp:txBody>
      <dsp:txXfrm rot="5400000">
        <a:off x="487186" y="485941"/>
        <a:ext cx="918157" cy="1485315"/>
      </dsp:txXfrm>
    </dsp:sp>
    <dsp:sp modelId="{5094B630-05DC-7344-9236-736F14522BBE}">
      <dsp:nvSpPr>
        <dsp:cNvPr id="0" name=""/>
        <dsp:cNvSpPr/>
      </dsp:nvSpPr>
      <dsp:spPr>
        <a:xfrm rot="5400000">
          <a:off x="1142031" y="745955"/>
          <a:ext cx="1579575" cy="965287"/>
        </a:xfrm>
        <a:prstGeom prst="round2SameRect">
          <a:avLst>
            <a:gd name="adj1" fmla="val 16670"/>
            <a:gd name="adj2" fmla="val 0"/>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445" tIns="146050" rIns="87630" bIns="146050" numCol="1" spcCol="1270" anchor="t" anchorCtr="0">
          <a:noAutofit/>
        </a:bodyPr>
        <a:lstStyle/>
        <a:p>
          <a:pPr marL="0" lvl="0" indent="0" algn="l" defTabSz="1022350">
            <a:lnSpc>
              <a:spcPct val="90000"/>
            </a:lnSpc>
            <a:spcBef>
              <a:spcPct val="0"/>
            </a:spcBef>
            <a:spcAft>
              <a:spcPct val="35000"/>
            </a:spcAft>
            <a:buNone/>
          </a:pPr>
          <a:r>
            <a:rPr lang="en-US" sz="2300" kern="1200" dirty="0" err="1"/>
            <a:t>Ngôn</a:t>
          </a:r>
          <a:r>
            <a:rPr lang="en-US" sz="2300" kern="1200" dirty="0"/>
            <a:t> </a:t>
          </a:r>
          <a:r>
            <a:rPr lang="en-US" sz="2300" kern="1200" dirty="0" err="1"/>
            <a:t>ngữ</a:t>
          </a:r>
          <a:r>
            <a:rPr lang="en-US" sz="2300" kern="1200" dirty="0"/>
            <a:t> </a:t>
          </a:r>
          <a:r>
            <a:rPr lang="en-US" sz="2300" kern="1200" dirty="0" err="1"/>
            <a:t>viết</a:t>
          </a:r>
          <a:endParaRPr lang="en-US" sz="2300" kern="1200" dirty="0"/>
        </a:p>
      </dsp:txBody>
      <dsp:txXfrm rot="-5400000">
        <a:off x="1449175" y="485941"/>
        <a:ext cx="918157" cy="1485315"/>
      </dsp:txXfrm>
    </dsp:sp>
    <dsp:sp modelId="{2B68C77A-E0CB-5D43-81EE-F38B626C47B4}">
      <dsp:nvSpPr>
        <dsp:cNvPr id="0" name=""/>
        <dsp:cNvSpPr/>
      </dsp:nvSpPr>
      <dsp:spPr>
        <a:xfrm>
          <a:off x="922600" y="0"/>
          <a:ext cx="1009119" cy="1009070"/>
        </a:xfrm>
        <a:prstGeom prst="circularArrow">
          <a:avLst>
            <a:gd name="adj1" fmla="val 12500"/>
            <a:gd name="adj2" fmla="val 1142322"/>
            <a:gd name="adj3" fmla="val 20457678"/>
            <a:gd name="adj4" fmla="val 10800000"/>
            <a:gd name="adj5" fmla="val 12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21348A-D9FE-4C46-A31C-54995A755863}">
      <dsp:nvSpPr>
        <dsp:cNvPr id="0" name=""/>
        <dsp:cNvSpPr/>
      </dsp:nvSpPr>
      <dsp:spPr>
        <a:xfrm rot="10800000">
          <a:off x="922600" y="1447882"/>
          <a:ext cx="1009119" cy="1009070"/>
        </a:xfrm>
        <a:prstGeom prst="circularArrow">
          <a:avLst>
            <a:gd name="adj1" fmla="val 12500"/>
            <a:gd name="adj2" fmla="val 1142322"/>
            <a:gd name="adj3" fmla="val 20457678"/>
            <a:gd name="adj4" fmla="val 10800000"/>
            <a:gd name="adj5" fmla="val 12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31F86B-96E6-7C4E-A24B-CF1A05AC8227}">
      <dsp:nvSpPr>
        <dsp:cNvPr id="0" name=""/>
        <dsp:cNvSpPr/>
      </dsp:nvSpPr>
      <dsp:spPr>
        <a:xfrm>
          <a:off x="270857" y="-23060"/>
          <a:ext cx="2857467" cy="2857467"/>
        </a:xfrm>
        <a:prstGeom prst="circularArrow">
          <a:avLst>
            <a:gd name="adj1" fmla="val 5544"/>
            <a:gd name="adj2" fmla="val 330680"/>
            <a:gd name="adj3" fmla="val 14604787"/>
            <a:gd name="adj4" fmla="val 16899479"/>
            <a:gd name="adj5" fmla="val 5757"/>
          </a:avLst>
        </a:prstGeom>
        <a:solidFill>
          <a:schemeClr val="bg2">
            <a:lumMod val="60000"/>
            <a:lumOff val="40000"/>
          </a:schemeClr>
        </a:solidFill>
        <a:ln>
          <a:noFill/>
        </a:ln>
        <a:effectLst/>
      </dsp:spPr>
      <dsp:style>
        <a:lnRef idx="0">
          <a:scrgbClr r="0" g="0" b="0"/>
        </a:lnRef>
        <a:fillRef idx="1">
          <a:scrgbClr r="0" g="0" b="0"/>
        </a:fillRef>
        <a:effectRef idx="0">
          <a:scrgbClr r="0" g="0" b="0"/>
        </a:effectRef>
        <a:fontRef idx="minor"/>
      </dsp:style>
    </dsp:sp>
    <dsp:sp modelId="{D56E5422-BB9E-064B-943C-2623A1E019D2}">
      <dsp:nvSpPr>
        <dsp:cNvPr id="0" name=""/>
        <dsp:cNvSpPr/>
      </dsp:nvSpPr>
      <dsp:spPr>
        <a:xfrm>
          <a:off x="1282992" y="528"/>
          <a:ext cx="833197" cy="416598"/>
        </a:xfrm>
        <a:prstGeom prst="roundRect">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Ánh</a:t>
          </a:r>
          <a:r>
            <a:rPr lang="en-US" sz="1100" kern="1200" dirty="0">
              <a:solidFill>
                <a:schemeClr val="tx2">
                  <a:lumMod val="10000"/>
                </a:schemeClr>
              </a:solidFill>
            </a:rPr>
            <a:t> </a:t>
          </a:r>
          <a:r>
            <a:rPr lang="en-US" sz="1100" kern="1200" dirty="0" err="1">
              <a:solidFill>
                <a:schemeClr val="tx2">
                  <a:lumMod val="10000"/>
                </a:schemeClr>
              </a:solidFill>
            </a:rPr>
            <a:t>mắt</a:t>
          </a:r>
          <a:endParaRPr lang="en-US" sz="1100" kern="1200" dirty="0">
            <a:solidFill>
              <a:schemeClr val="tx2">
                <a:lumMod val="10000"/>
              </a:schemeClr>
            </a:solidFill>
          </a:endParaRPr>
        </a:p>
      </dsp:txBody>
      <dsp:txXfrm>
        <a:off x="1303329" y="20865"/>
        <a:ext cx="792523" cy="375924"/>
      </dsp:txXfrm>
    </dsp:sp>
    <dsp:sp modelId="{27576816-3649-224B-BCB9-0DAAB0289FA8}">
      <dsp:nvSpPr>
        <dsp:cNvPr id="0" name=""/>
        <dsp:cNvSpPr/>
      </dsp:nvSpPr>
      <dsp:spPr>
        <a:xfrm>
          <a:off x="2235681" y="459319"/>
          <a:ext cx="833197" cy="416598"/>
        </a:xfrm>
        <a:prstGeom prst="roundRect">
          <a:avLst/>
        </a:prstGeom>
        <a:solidFill>
          <a:srgbClr val="F8EC9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Tư</a:t>
          </a:r>
          <a:r>
            <a:rPr lang="en-US" sz="1100" kern="1200" dirty="0">
              <a:solidFill>
                <a:schemeClr val="tx2">
                  <a:lumMod val="10000"/>
                </a:schemeClr>
              </a:solidFill>
            </a:rPr>
            <a:t> </a:t>
          </a:r>
          <a:r>
            <a:rPr lang="en-US" sz="1100" kern="1200" dirty="0" err="1">
              <a:solidFill>
                <a:schemeClr val="tx2">
                  <a:lumMod val="10000"/>
                </a:schemeClr>
              </a:solidFill>
            </a:rPr>
            <a:t>thế</a:t>
          </a:r>
          <a:endParaRPr lang="en-US" sz="1100" kern="1200" dirty="0">
            <a:solidFill>
              <a:schemeClr val="tx2">
                <a:lumMod val="10000"/>
              </a:schemeClr>
            </a:solidFill>
          </a:endParaRPr>
        </a:p>
      </dsp:txBody>
      <dsp:txXfrm>
        <a:off x="2256018" y="479656"/>
        <a:ext cx="792523" cy="375924"/>
      </dsp:txXfrm>
    </dsp:sp>
    <dsp:sp modelId="{B08F4EF6-99F2-CA41-AF78-98A9C4B3F5A0}">
      <dsp:nvSpPr>
        <dsp:cNvPr id="0" name=""/>
        <dsp:cNvSpPr/>
      </dsp:nvSpPr>
      <dsp:spPr>
        <a:xfrm>
          <a:off x="2470976" y="1490214"/>
          <a:ext cx="833197" cy="416598"/>
        </a:xfrm>
        <a:prstGeom prst="roundRect">
          <a:avLst/>
        </a:prstGeom>
        <a:solidFill>
          <a:srgbClr val="FFC99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Điệu</a:t>
          </a:r>
          <a:r>
            <a:rPr lang="en-US" sz="1100" kern="1200" dirty="0">
              <a:solidFill>
                <a:schemeClr val="tx2">
                  <a:lumMod val="10000"/>
                </a:schemeClr>
              </a:solidFill>
            </a:rPr>
            <a:t> </a:t>
          </a:r>
          <a:r>
            <a:rPr lang="en-US" sz="1100" kern="1200" dirty="0" err="1">
              <a:solidFill>
                <a:schemeClr val="tx2">
                  <a:lumMod val="10000"/>
                </a:schemeClr>
              </a:solidFill>
            </a:rPr>
            <a:t>bộ</a:t>
          </a:r>
          <a:endParaRPr lang="en-US" sz="1100" kern="1200" dirty="0">
            <a:solidFill>
              <a:schemeClr val="tx2">
                <a:lumMod val="10000"/>
              </a:schemeClr>
            </a:solidFill>
          </a:endParaRPr>
        </a:p>
      </dsp:txBody>
      <dsp:txXfrm>
        <a:off x="2491313" y="1510551"/>
        <a:ext cx="792523" cy="375924"/>
      </dsp:txXfrm>
    </dsp:sp>
    <dsp:sp modelId="{176D7E92-C6E4-5D43-B74F-40A9372D9A02}">
      <dsp:nvSpPr>
        <dsp:cNvPr id="0" name=""/>
        <dsp:cNvSpPr/>
      </dsp:nvSpPr>
      <dsp:spPr>
        <a:xfrm>
          <a:off x="1811695" y="2316927"/>
          <a:ext cx="833197" cy="416598"/>
        </a:xfrm>
        <a:prstGeom prst="roundRect">
          <a:avLst/>
        </a:prstGeom>
        <a:solidFill>
          <a:srgbClr val="FF91B9"/>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Nét</a:t>
          </a:r>
          <a:r>
            <a:rPr lang="en-US" sz="1100" kern="1200" dirty="0">
              <a:solidFill>
                <a:schemeClr val="tx2">
                  <a:lumMod val="10000"/>
                </a:schemeClr>
              </a:solidFill>
            </a:rPr>
            <a:t> </a:t>
          </a:r>
          <a:r>
            <a:rPr lang="en-US" sz="1100" kern="1200" dirty="0" err="1">
              <a:solidFill>
                <a:schemeClr val="tx2">
                  <a:lumMod val="10000"/>
                </a:schemeClr>
              </a:solidFill>
            </a:rPr>
            <a:t>mặt</a:t>
          </a:r>
          <a:endParaRPr lang="en-US" sz="1100" kern="1200" dirty="0">
            <a:solidFill>
              <a:schemeClr val="tx2">
                <a:lumMod val="10000"/>
              </a:schemeClr>
            </a:solidFill>
          </a:endParaRPr>
        </a:p>
      </dsp:txBody>
      <dsp:txXfrm>
        <a:off x="1832032" y="2337264"/>
        <a:ext cx="792523" cy="375924"/>
      </dsp:txXfrm>
    </dsp:sp>
    <dsp:sp modelId="{5655F4DA-679E-6A46-BB25-4DFBFBE4B11A}">
      <dsp:nvSpPr>
        <dsp:cNvPr id="0" name=""/>
        <dsp:cNvSpPr/>
      </dsp:nvSpPr>
      <dsp:spPr>
        <a:xfrm>
          <a:off x="754289" y="2316927"/>
          <a:ext cx="833197" cy="416598"/>
        </a:xfrm>
        <a:prstGeom prst="roundRect">
          <a:avLst/>
        </a:prstGeom>
        <a:solidFill>
          <a:srgbClr val="ECC8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Nụ</a:t>
          </a:r>
          <a:r>
            <a:rPr lang="en-US" sz="1100" kern="1200" dirty="0">
              <a:solidFill>
                <a:schemeClr val="tx2">
                  <a:lumMod val="10000"/>
                </a:schemeClr>
              </a:solidFill>
            </a:rPr>
            <a:t> </a:t>
          </a:r>
          <a:r>
            <a:rPr lang="en-US" sz="1100" kern="1200" dirty="0" err="1">
              <a:solidFill>
                <a:schemeClr val="tx2">
                  <a:lumMod val="10000"/>
                </a:schemeClr>
              </a:solidFill>
            </a:rPr>
            <a:t>cười</a:t>
          </a:r>
          <a:endParaRPr lang="en-US" sz="1100" kern="1200" dirty="0">
            <a:solidFill>
              <a:schemeClr val="tx2">
                <a:lumMod val="10000"/>
              </a:schemeClr>
            </a:solidFill>
          </a:endParaRPr>
        </a:p>
      </dsp:txBody>
      <dsp:txXfrm>
        <a:off x="774626" y="2337264"/>
        <a:ext cx="792523" cy="375924"/>
      </dsp:txXfrm>
    </dsp:sp>
    <dsp:sp modelId="{C2BCB722-360D-3347-A999-FFB0C57B4703}">
      <dsp:nvSpPr>
        <dsp:cNvPr id="0" name=""/>
        <dsp:cNvSpPr/>
      </dsp:nvSpPr>
      <dsp:spPr>
        <a:xfrm>
          <a:off x="95007" y="1490214"/>
          <a:ext cx="833197" cy="416598"/>
        </a:xfrm>
        <a:prstGeom prst="roundRect">
          <a:avLst/>
        </a:prstGeom>
        <a:solidFill>
          <a:srgbClr val="A9D3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Khoảng</a:t>
          </a:r>
          <a:r>
            <a:rPr lang="en-US" sz="1100" kern="1200" dirty="0">
              <a:solidFill>
                <a:schemeClr val="tx2">
                  <a:lumMod val="10000"/>
                </a:schemeClr>
              </a:solidFill>
            </a:rPr>
            <a:t> </a:t>
          </a:r>
          <a:r>
            <a:rPr lang="en-US" sz="1100" kern="1200" dirty="0" err="1">
              <a:solidFill>
                <a:schemeClr val="tx2">
                  <a:lumMod val="10000"/>
                </a:schemeClr>
              </a:solidFill>
            </a:rPr>
            <a:t>cách</a:t>
          </a:r>
          <a:endParaRPr lang="en-US" sz="1100" kern="1200" dirty="0">
            <a:solidFill>
              <a:schemeClr val="tx2">
                <a:lumMod val="10000"/>
              </a:schemeClr>
            </a:solidFill>
          </a:endParaRPr>
        </a:p>
      </dsp:txBody>
      <dsp:txXfrm>
        <a:off x="115344" y="1510551"/>
        <a:ext cx="792523" cy="375924"/>
      </dsp:txXfrm>
    </dsp:sp>
    <dsp:sp modelId="{CDEEEDAB-1A95-FB40-8E98-3EE05810A307}">
      <dsp:nvSpPr>
        <dsp:cNvPr id="0" name=""/>
        <dsp:cNvSpPr/>
      </dsp:nvSpPr>
      <dsp:spPr>
        <a:xfrm>
          <a:off x="330302" y="459319"/>
          <a:ext cx="833197" cy="416598"/>
        </a:xfrm>
        <a:prstGeom prst="roundRect">
          <a:avLst/>
        </a:prstGeom>
        <a:solidFill>
          <a:srgbClr val="7CEDF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err="1">
              <a:solidFill>
                <a:schemeClr val="tx2">
                  <a:lumMod val="10000"/>
                </a:schemeClr>
              </a:solidFill>
            </a:rPr>
            <a:t>vận</a:t>
          </a:r>
          <a:r>
            <a:rPr lang="en-US" sz="1100" kern="1200" dirty="0">
              <a:solidFill>
                <a:schemeClr val="tx2">
                  <a:lumMod val="10000"/>
                </a:schemeClr>
              </a:solidFill>
            </a:rPr>
            <a:t> </a:t>
          </a:r>
          <a:r>
            <a:rPr lang="en-US" sz="1100" kern="1200" dirty="0" err="1">
              <a:solidFill>
                <a:schemeClr val="tx2">
                  <a:lumMod val="10000"/>
                </a:schemeClr>
              </a:solidFill>
            </a:rPr>
            <a:t>động</a:t>
          </a:r>
          <a:r>
            <a:rPr lang="en-US" sz="1100" kern="1200" dirty="0">
              <a:solidFill>
                <a:schemeClr val="tx2">
                  <a:lumMod val="10000"/>
                </a:schemeClr>
              </a:solidFill>
            </a:rPr>
            <a:t> </a:t>
          </a:r>
          <a:r>
            <a:rPr lang="en-US" sz="1100" kern="1200" dirty="0" err="1">
              <a:solidFill>
                <a:schemeClr val="tx2">
                  <a:lumMod val="10000"/>
                </a:schemeClr>
              </a:solidFill>
            </a:rPr>
            <a:t>của</a:t>
          </a:r>
          <a:r>
            <a:rPr lang="en-US" sz="1100" kern="1200" dirty="0">
              <a:solidFill>
                <a:schemeClr val="tx2">
                  <a:lumMod val="10000"/>
                </a:schemeClr>
              </a:solidFill>
            </a:rPr>
            <a:t> </a:t>
          </a:r>
          <a:r>
            <a:rPr lang="en-US" sz="1100" kern="1200" dirty="0" err="1">
              <a:solidFill>
                <a:schemeClr val="tx2">
                  <a:lumMod val="10000"/>
                </a:schemeClr>
              </a:solidFill>
            </a:rPr>
            <a:t>cơ</a:t>
          </a:r>
          <a:r>
            <a:rPr lang="en-US" sz="1100" kern="1200" dirty="0">
              <a:solidFill>
                <a:schemeClr val="tx2">
                  <a:lumMod val="10000"/>
                </a:schemeClr>
              </a:solidFill>
            </a:rPr>
            <a:t> </a:t>
          </a:r>
          <a:r>
            <a:rPr lang="en-US" sz="1100" kern="1200" dirty="0" err="1">
              <a:solidFill>
                <a:schemeClr val="tx2">
                  <a:lumMod val="10000"/>
                </a:schemeClr>
              </a:solidFill>
            </a:rPr>
            <a:t>thể</a:t>
          </a:r>
          <a:endParaRPr lang="en-US" sz="1100" kern="1200" dirty="0">
            <a:solidFill>
              <a:schemeClr val="tx2">
                <a:lumMod val="10000"/>
              </a:schemeClr>
            </a:solidFill>
          </a:endParaRPr>
        </a:p>
      </dsp:txBody>
      <dsp:txXfrm>
        <a:off x="350639" y="479656"/>
        <a:ext cx="792523" cy="375924"/>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VN" dirty="0"/>
              <a:t>Khoảng cách cá nhân: (0, 45 m -1,2m)- khoảng cách “một cánh tay” là khaong3 cách được khuyến cáo cho người làm CTXH sử dụng trong CTXH ca 1nhân vì nó tạo cảm giác thoải mái, thân thiện cho NB, người nhà NB</a:t>
            </a:r>
          </a:p>
        </p:txBody>
      </p:sp>
    </p:spTree>
    <p:extLst>
      <p:ext uri="{BB962C8B-B14F-4D97-AF65-F5344CB8AC3E}">
        <p14:creationId xmlns:p14="http://schemas.microsoft.com/office/powerpoint/2010/main" val="1063381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VN" dirty="0"/>
              <a:t>Khoảng cách cá nhân: (0, 45 m -1,2m)- khoảng cách “một cánh tay” là khaong3 cách được khuyến cáo cho người làm CTXH sử dụng trong CTXH ca 1nhân vì nó tạo cảm giác thoải mái, thân thiện cho NB, người nhà NB</a:t>
            </a:r>
          </a:p>
        </p:txBody>
      </p:sp>
    </p:spTree>
    <p:extLst>
      <p:ext uri="{BB962C8B-B14F-4D97-AF65-F5344CB8AC3E}">
        <p14:creationId xmlns:p14="http://schemas.microsoft.com/office/powerpoint/2010/main" val="1020356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350F2-0B25-724F-A10E-7E08F4032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F4C21-2B95-569B-415F-973D4E0D19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13269A3-925D-E325-A6EA-314E03DFD362}"/>
              </a:ext>
            </a:extLst>
          </p:cNvPr>
          <p:cNvSpPr>
            <a:spLocks noGrp="1"/>
          </p:cNvSpPr>
          <p:nvPr>
            <p:ph type="body" idx="1"/>
          </p:nvPr>
        </p:nvSpPr>
        <p:spPr/>
        <p:txBody>
          <a:bodyPr/>
          <a:lstStyle/>
          <a:p>
            <a:r>
              <a:rPr lang="en-VN" dirty="0"/>
              <a:t>Khoảng cách cá nhân: (0, 45 m -1,2m)- khoảng cách “một cánh tay” là khaong3 cách được khuyến cáo cho người làm CTXH sử dụng trong CTXH ca 1nhân vì nó tạo cảm giác thoải mái, thân thiện cho NB, người nhà NB</a:t>
            </a:r>
          </a:p>
        </p:txBody>
      </p:sp>
    </p:spTree>
    <p:extLst>
      <p:ext uri="{BB962C8B-B14F-4D97-AF65-F5344CB8AC3E}">
        <p14:creationId xmlns:p14="http://schemas.microsoft.com/office/powerpoint/2010/main" val="3023219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7068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7968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2056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65551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pic>
        <p:nvPicPr>
          <p:cNvPr id="3" name="Picture 2" descr="A black screen with a black background&#10;&#10;Description automatically generated">
            <a:extLst>
              <a:ext uri="{FF2B5EF4-FFF2-40B4-BE49-F238E27FC236}">
                <a16:creationId xmlns:a16="http://schemas.microsoft.com/office/drawing/2014/main" id="{B8C73053-4021-7699-6EDA-0DBB901344D1}"/>
              </a:ext>
            </a:extLst>
          </p:cNvPr>
          <p:cNvPicPr>
            <a:picLocks noChangeAspect="1"/>
          </p:cNvPicPr>
          <p:nvPr userDrawn="1"/>
        </p:nvPicPr>
        <p:blipFill>
          <a:blip r:embed="rId2">
            <a:alphaModFix amt="8000"/>
          </a:blip>
          <a:stretch>
            <a:fillRect/>
          </a:stretch>
        </p:blipFill>
        <p:spPr>
          <a:xfrm>
            <a:off x="3646954" y="1646704"/>
            <a:ext cx="1850091" cy="1850091"/>
          </a:xfrm>
          <a:prstGeom prst="rect">
            <a:avLst/>
          </a:prstGeom>
        </p:spPr>
      </p:pic>
      <p:sp>
        <p:nvSpPr>
          <p:cNvPr id="4" name="TextBox 3">
            <a:extLst>
              <a:ext uri="{FF2B5EF4-FFF2-40B4-BE49-F238E27FC236}">
                <a16:creationId xmlns:a16="http://schemas.microsoft.com/office/drawing/2014/main" id="{28875F00-216C-9B6F-B037-C8AD9637A803}"/>
              </a:ext>
            </a:extLst>
          </p:cNvPr>
          <p:cNvSpPr txBox="1"/>
          <p:nvPr userDrawn="1"/>
        </p:nvSpPr>
        <p:spPr>
          <a:xfrm>
            <a:off x="3552328" y="4956278"/>
            <a:ext cx="2039341" cy="215444"/>
          </a:xfrm>
          <a:prstGeom prst="rect">
            <a:avLst/>
          </a:prstGeom>
          <a:noFill/>
        </p:spPr>
        <p:txBody>
          <a:bodyPr wrap="none" rtlCol="0">
            <a:spAutoFit/>
          </a:bodyPr>
          <a:lstStyle/>
          <a:p>
            <a:pPr algn="ctr"/>
            <a:r>
              <a:rPr lang="en-US" sz="800" b="1" dirty="0">
                <a:solidFill>
                  <a:schemeClr val="bg1">
                    <a:lumMod val="50000"/>
                  </a:schemeClr>
                </a:solidFill>
              </a:rPr>
              <a:t>TRƯỜNG ĐẠI HỌC Y TẾ CÔNG CỘNG</a:t>
            </a:r>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1959250" y="1854500"/>
            <a:ext cx="1189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1959250" y="2939075"/>
            <a:ext cx="5225400" cy="446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cxnSp>
        <p:nvCxnSpPr>
          <p:cNvPr id="18" name="Google Shape;18;p3"/>
          <p:cNvCxnSpPr/>
          <p:nvPr/>
        </p:nvCxnSpPr>
        <p:spPr>
          <a:xfrm rot="10800000">
            <a:off x="8761325" y="2079300"/>
            <a:ext cx="0" cy="984900"/>
          </a:xfrm>
          <a:prstGeom prst="straightConnector1">
            <a:avLst/>
          </a:prstGeom>
          <a:noFill/>
          <a:ln w="19050" cap="flat" cmpd="sng">
            <a:solidFill>
              <a:schemeClr val="lt1"/>
            </a:solidFill>
            <a:prstDash val="solid"/>
            <a:round/>
            <a:headEnd type="oval" w="med" len="med"/>
            <a:tailEnd type="oval" w="med" len="med"/>
          </a:ln>
        </p:spPr>
      </p:cxnSp>
      <p:cxnSp>
        <p:nvCxnSpPr>
          <p:cNvPr id="19" name="Google Shape;19;p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 name="Google Shape;20;p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 name="Google Shape;22;p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3" name="Google Shape;23;p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4" name="Google Shape;24;p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5" name="Google Shape;25;p3"/>
          <p:cNvCxnSpPr/>
          <p:nvPr/>
        </p:nvCxnSpPr>
        <p:spPr>
          <a:xfrm rot="10800000">
            <a:off x="394350" y="2079300"/>
            <a:ext cx="0" cy="984900"/>
          </a:xfrm>
          <a:prstGeom prst="straightConnector1">
            <a:avLst/>
          </a:prstGeom>
          <a:noFill/>
          <a:ln w="19050" cap="flat" cmpd="sng">
            <a:solidFill>
              <a:schemeClr val="lt1"/>
            </a:solidFill>
            <a:prstDash val="solid"/>
            <a:round/>
            <a:headEnd type="oval" w="med" len="med"/>
            <a:tailEnd type="oval" w="med" len="med"/>
          </a:ln>
        </p:spPr>
      </p:cxnSp>
      <p:pic>
        <p:nvPicPr>
          <p:cNvPr id="3" name="Picture 2" descr="A black screen with a black background&#10;&#10;Description automatically generated">
            <a:extLst>
              <a:ext uri="{FF2B5EF4-FFF2-40B4-BE49-F238E27FC236}">
                <a16:creationId xmlns:a16="http://schemas.microsoft.com/office/drawing/2014/main" id="{AD1340BD-8EF2-8E18-8289-BB2DD7FB5EFF}"/>
              </a:ext>
            </a:extLst>
          </p:cNvPr>
          <p:cNvPicPr>
            <a:picLocks noChangeAspect="1"/>
          </p:cNvPicPr>
          <p:nvPr userDrawn="1"/>
        </p:nvPicPr>
        <p:blipFill>
          <a:blip r:embed="rId2">
            <a:alphaModFix amt="8000"/>
          </a:blip>
          <a:stretch>
            <a:fillRect/>
          </a:stretch>
        </p:blipFill>
        <p:spPr>
          <a:xfrm>
            <a:off x="3646954" y="1646704"/>
            <a:ext cx="1850091" cy="1850091"/>
          </a:xfrm>
          <a:prstGeom prst="rect">
            <a:avLst/>
          </a:prstGeom>
        </p:spPr>
      </p:pic>
      <p:sp>
        <p:nvSpPr>
          <p:cNvPr id="4" name="TextBox 3">
            <a:extLst>
              <a:ext uri="{FF2B5EF4-FFF2-40B4-BE49-F238E27FC236}">
                <a16:creationId xmlns:a16="http://schemas.microsoft.com/office/drawing/2014/main" id="{569EE38C-4238-C179-7CE3-2AB3F1DD5D6B}"/>
              </a:ext>
            </a:extLst>
          </p:cNvPr>
          <p:cNvSpPr txBox="1"/>
          <p:nvPr userDrawn="1"/>
        </p:nvSpPr>
        <p:spPr>
          <a:xfrm>
            <a:off x="3552328" y="4956278"/>
            <a:ext cx="2039341" cy="215444"/>
          </a:xfrm>
          <a:prstGeom prst="rect">
            <a:avLst/>
          </a:prstGeom>
          <a:noFill/>
        </p:spPr>
        <p:txBody>
          <a:bodyPr wrap="none" rtlCol="0">
            <a:spAutoFit/>
          </a:bodyPr>
          <a:lstStyle/>
          <a:p>
            <a:pPr algn="ctr"/>
            <a:r>
              <a:rPr lang="en-US" sz="800" b="1" dirty="0">
                <a:solidFill>
                  <a:schemeClr val="bg1">
                    <a:lumMod val="50000"/>
                  </a:schemeClr>
                </a:solidFill>
              </a:rPr>
              <a:t>TRƯỜNG ĐẠI HỌC Y TẾ CÔNG CỘNG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9" name="Google Shape;29;p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30;p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31" name="Google Shape;31;p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32" name="Google Shape;32;p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33" name="Google Shape;33;p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pic>
        <p:nvPicPr>
          <p:cNvPr id="3" name="Picture 2" descr="A black screen with a black background&#10;&#10;Description automatically generated">
            <a:extLst>
              <a:ext uri="{FF2B5EF4-FFF2-40B4-BE49-F238E27FC236}">
                <a16:creationId xmlns:a16="http://schemas.microsoft.com/office/drawing/2014/main" id="{6BC4F203-7DE1-598C-C0F8-E136789840AA}"/>
              </a:ext>
            </a:extLst>
          </p:cNvPr>
          <p:cNvPicPr>
            <a:picLocks noChangeAspect="1"/>
          </p:cNvPicPr>
          <p:nvPr userDrawn="1"/>
        </p:nvPicPr>
        <p:blipFill>
          <a:blip r:embed="rId2">
            <a:alphaModFix amt="8000"/>
          </a:blip>
          <a:stretch>
            <a:fillRect/>
          </a:stretch>
        </p:blipFill>
        <p:spPr>
          <a:xfrm>
            <a:off x="3646954" y="1646704"/>
            <a:ext cx="1850091" cy="1850091"/>
          </a:xfrm>
          <a:prstGeom prst="rect">
            <a:avLst/>
          </a:prstGeom>
        </p:spPr>
      </p:pic>
      <p:sp>
        <p:nvSpPr>
          <p:cNvPr id="4" name="TextBox 3">
            <a:extLst>
              <a:ext uri="{FF2B5EF4-FFF2-40B4-BE49-F238E27FC236}">
                <a16:creationId xmlns:a16="http://schemas.microsoft.com/office/drawing/2014/main" id="{D126BD2F-53CF-150E-834C-994ED6C6BA59}"/>
              </a:ext>
            </a:extLst>
          </p:cNvPr>
          <p:cNvSpPr txBox="1"/>
          <p:nvPr userDrawn="1"/>
        </p:nvSpPr>
        <p:spPr>
          <a:xfrm>
            <a:off x="3552328" y="4956278"/>
            <a:ext cx="2039341" cy="215444"/>
          </a:xfrm>
          <a:prstGeom prst="rect">
            <a:avLst/>
          </a:prstGeom>
          <a:noFill/>
        </p:spPr>
        <p:txBody>
          <a:bodyPr wrap="none" rtlCol="0">
            <a:spAutoFit/>
          </a:bodyPr>
          <a:lstStyle/>
          <a:p>
            <a:pPr algn="ctr"/>
            <a:r>
              <a:rPr lang="en-US" sz="800" b="1" dirty="0">
                <a:solidFill>
                  <a:schemeClr val="bg1">
                    <a:lumMod val="50000"/>
                  </a:schemeClr>
                </a:solidFill>
              </a:rPr>
              <a:t>TRƯỜNG ĐẠI HỌC Y TẾ CÔNG CỘNG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9CBCFCDE-9512-C4D2-B024-DEDB81C5F627}"/>
              </a:ext>
            </a:extLst>
          </p:cNvPr>
          <p:cNvSpPr txBox="1"/>
          <p:nvPr userDrawn="1"/>
        </p:nvSpPr>
        <p:spPr>
          <a:xfrm>
            <a:off x="3552328" y="4956278"/>
            <a:ext cx="2039341" cy="215444"/>
          </a:xfrm>
          <a:prstGeom prst="rect">
            <a:avLst/>
          </a:prstGeom>
          <a:noFill/>
        </p:spPr>
        <p:txBody>
          <a:bodyPr wrap="none" rtlCol="0">
            <a:spAutoFit/>
          </a:bodyPr>
          <a:lstStyle/>
          <a:p>
            <a:pPr algn="ctr"/>
            <a:r>
              <a:rPr lang="en-US" sz="800" b="1" dirty="0">
                <a:solidFill>
                  <a:schemeClr val="bg1">
                    <a:lumMod val="50000"/>
                  </a:schemeClr>
                </a:solidFill>
              </a:rPr>
              <a:t>TRƯỜNG ĐẠI HỌC Y TẾ CÔNG CỘNG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94"/>
        <p:cNvGrpSpPr/>
        <p:nvPr/>
      </p:nvGrpSpPr>
      <p:grpSpPr>
        <a:xfrm>
          <a:off x="0" y="0"/>
          <a:ext cx="0" cy="0"/>
          <a:chOff x="0" y="0"/>
          <a:chExt cx="0" cy="0"/>
        </a:xfrm>
      </p:grpSpPr>
      <p:sp>
        <p:nvSpPr>
          <p:cNvPr id="2" name="TextBox 1">
            <a:extLst>
              <a:ext uri="{FF2B5EF4-FFF2-40B4-BE49-F238E27FC236}">
                <a16:creationId xmlns:a16="http://schemas.microsoft.com/office/drawing/2014/main" id="{810151AB-DB7D-130F-4C81-C82FA990C114}"/>
              </a:ext>
            </a:extLst>
          </p:cNvPr>
          <p:cNvSpPr txBox="1"/>
          <p:nvPr userDrawn="1"/>
        </p:nvSpPr>
        <p:spPr>
          <a:xfrm>
            <a:off x="3552328" y="4956278"/>
            <a:ext cx="2039341" cy="215444"/>
          </a:xfrm>
          <a:prstGeom prst="rect">
            <a:avLst/>
          </a:prstGeom>
          <a:noFill/>
        </p:spPr>
        <p:txBody>
          <a:bodyPr wrap="none" rtlCol="0">
            <a:spAutoFit/>
          </a:bodyPr>
          <a:lstStyle/>
          <a:p>
            <a:pPr algn="ctr"/>
            <a:r>
              <a:rPr lang="en-US" sz="800" b="1" dirty="0">
                <a:solidFill>
                  <a:schemeClr val="bg1">
                    <a:lumMod val="50000"/>
                  </a:schemeClr>
                </a:solidFill>
              </a:rPr>
              <a:t>TRƯỜNG ĐẠI HỌC Y TẾ CÔNG CỘNG</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5"/>
        <p:cNvGrpSpPr/>
        <p:nvPr/>
      </p:nvGrpSpPr>
      <p:grpSpPr>
        <a:xfrm>
          <a:off x="0" y="0"/>
          <a:ext cx="0" cy="0"/>
          <a:chOff x="0" y="0"/>
          <a:chExt cx="0" cy="0"/>
        </a:xfrm>
      </p:grpSpPr>
      <p:sp>
        <p:nvSpPr>
          <p:cNvPr id="96" name="Google Shape;96;p1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8" name="Google Shape;98;p13"/>
          <p:cNvSpPr txBox="1">
            <a:spLocks noGrp="1"/>
          </p:cNvSpPr>
          <p:nvPr>
            <p:ph type="subTitle" idx="1"/>
          </p:nvPr>
        </p:nvSpPr>
        <p:spPr>
          <a:xfrm>
            <a:off x="713225" y="20181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 name="Google Shape;99;p13"/>
          <p:cNvSpPr txBox="1">
            <a:spLocks noGrp="1"/>
          </p:cNvSpPr>
          <p:nvPr>
            <p:ph type="subTitle" idx="2"/>
          </p:nvPr>
        </p:nvSpPr>
        <p:spPr>
          <a:xfrm>
            <a:off x="713225" y="3870728"/>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 name="Google Shape;100;p13"/>
          <p:cNvSpPr txBox="1">
            <a:spLocks noGrp="1"/>
          </p:cNvSpPr>
          <p:nvPr>
            <p:ph type="subTitle" idx="3"/>
          </p:nvPr>
        </p:nvSpPr>
        <p:spPr>
          <a:xfrm>
            <a:off x="3359125"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13"/>
          <p:cNvSpPr txBox="1">
            <a:spLocks noGrp="1"/>
          </p:cNvSpPr>
          <p:nvPr>
            <p:ph type="subTitle" idx="4"/>
          </p:nvPr>
        </p:nvSpPr>
        <p:spPr>
          <a:xfrm>
            <a:off x="3359125"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2" name="Google Shape;102;p13"/>
          <p:cNvSpPr txBox="1">
            <a:spLocks noGrp="1"/>
          </p:cNvSpPr>
          <p:nvPr>
            <p:ph type="title" idx="5" hasCustomPrompt="1"/>
          </p:nvPr>
        </p:nvSpPr>
        <p:spPr>
          <a:xfrm>
            <a:off x="713225" y="1141288"/>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title" idx="6" hasCustomPrompt="1"/>
          </p:nvPr>
        </p:nvSpPr>
        <p:spPr>
          <a:xfrm>
            <a:off x="33591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a:spLocks noGrp="1"/>
          </p:cNvSpPr>
          <p:nvPr>
            <p:ph type="title" idx="7" hasCustomPrompt="1"/>
          </p:nvPr>
        </p:nvSpPr>
        <p:spPr>
          <a:xfrm>
            <a:off x="7132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8" hasCustomPrompt="1"/>
          </p:nvPr>
        </p:nvSpPr>
        <p:spPr>
          <a:xfrm>
            <a:off x="3359125"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subTitle" idx="9"/>
          </p:nvPr>
        </p:nvSpPr>
        <p:spPr>
          <a:xfrm>
            <a:off x="5997638"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7" name="Google Shape;107;p13"/>
          <p:cNvSpPr txBox="1">
            <a:spLocks noGrp="1"/>
          </p:cNvSpPr>
          <p:nvPr>
            <p:ph type="subTitle" idx="13"/>
          </p:nvPr>
        </p:nvSpPr>
        <p:spPr>
          <a:xfrm>
            <a:off x="5997638"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 name="Google Shape;108;p13"/>
          <p:cNvSpPr txBox="1">
            <a:spLocks noGrp="1"/>
          </p:cNvSpPr>
          <p:nvPr>
            <p:ph type="title" idx="14" hasCustomPrompt="1"/>
          </p:nvPr>
        </p:nvSpPr>
        <p:spPr>
          <a:xfrm>
            <a:off x="5997638"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15" hasCustomPrompt="1"/>
          </p:nvPr>
        </p:nvSpPr>
        <p:spPr>
          <a:xfrm>
            <a:off x="5997638"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subTitle" idx="16"/>
          </p:nvPr>
        </p:nvSpPr>
        <p:spPr>
          <a:xfrm>
            <a:off x="7132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1" name="Google Shape;111;p13"/>
          <p:cNvSpPr txBox="1">
            <a:spLocks noGrp="1"/>
          </p:cNvSpPr>
          <p:nvPr>
            <p:ph type="subTitle" idx="17"/>
          </p:nvPr>
        </p:nvSpPr>
        <p:spPr>
          <a:xfrm>
            <a:off x="713225" y="3447136"/>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2" name="Google Shape;112;p13"/>
          <p:cNvSpPr txBox="1">
            <a:spLocks noGrp="1"/>
          </p:cNvSpPr>
          <p:nvPr>
            <p:ph type="subTitle" idx="18"/>
          </p:nvPr>
        </p:nvSpPr>
        <p:spPr>
          <a:xfrm>
            <a:off x="3359125"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3" name="Google Shape;113;p13"/>
          <p:cNvSpPr txBox="1">
            <a:spLocks noGrp="1"/>
          </p:cNvSpPr>
          <p:nvPr>
            <p:ph type="subTitle" idx="19"/>
          </p:nvPr>
        </p:nvSpPr>
        <p:spPr>
          <a:xfrm>
            <a:off x="33591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4" name="Google Shape;114;p13"/>
          <p:cNvSpPr txBox="1">
            <a:spLocks noGrp="1"/>
          </p:cNvSpPr>
          <p:nvPr>
            <p:ph type="subTitle" idx="20"/>
          </p:nvPr>
        </p:nvSpPr>
        <p:spPr>
          <a:xfrm>
            <a:off x="5997638"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5" name="Google Shape;115;p13"/>
          <p:cNvSpPr txBox="1">
            <a:spLocks noGrp="1"/>
          </p:cNvSpPr>
          <p:nvPr>
            <p:ph type="subTitle" idx="21"/>
          </p:nvPr>
        </p:nvSpPr>
        <p:spPr>
          <a:xfrm>
            <a:off x="5997638"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cxnSp>
        <p:nvCxnSpPr>
          <p:cNvPr id="116" name="Google Shape;116;p1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17" name="Google Shape;117;p1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 name="Google Shape;118;p1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19" name="Google Shape;119;p1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0" name="Google Shape;120;p1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1" name="Google Shape;121;p1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pic>
        <p:nvPicPr>
          <p:cNvPr id="2" name="Picture 1" descr="A black screen with a black background&#10;&#10;Description automatically generated">
            <a:extLst>
              <a:ext uri="{FF2B5EF4-FFF2-40B4-BE49-F238E27FC236}">
                <a16:creationId xmlns:a16="http://schemas.microsoft.com/office/drawing/2014/main" id="{BB90B63B-3F24-C171-DE9D-A2C5ADD5935B}"/>
              </a:ext>
            </a:extLst>
          </p:cNvPr>
          <p:cNvPicPr>
            <a:picLocks noChangeAspect="1"/>
          </p:cNvPicPr>
          <p:nvPr userDrawn="1"/>
        </p:nvPicPr>
        <p:blipFill>
          <a:blip r:embed="rId2">
            <a:alphaModFix amt="8000"/>
          </a:blip>
          <a:stretch>
            <a:fillRect/>
          </a:stretch>
        </p:blipFill>
        <p:spPr>
          <a:xfrm>
            <a:off x="3646954" y="1646704"/>
            <a:ext cx="1850091" cy="1850091"/>
          </a:xfrm>
          <a:prstGeom prst="rect">
            <a:avLst/>
          </a:prstGeom>
        </p:spPr>
      </p:pic>
      <p:sp>
        <p:nvSpPr>
          <p:cNvPr id="3" name="TextBox 2">
            <a:extLst>
              <a:ext uri="{FF2B5EF4-FFF2-40B4-BE49-F238E27FC236}">
                <a16:creationId xmlns:a16="http://schemas.microsoft.com/office/drawing/2014/main" id="{CA6E84FD-0ED9-714D-D0D7-FC76D30CF63E}"/>
              </a:ext>
            </a:extLst>
          </p:cNvPr>
          <p:cNvSpPr txBox="1"/>
          <p:nvPr userDrawn="1"/>
        </p:nvSpPr>
        <p:spPr>
          <a:xfrm>
            <a:off x="3552328" y="4956278"/>
            <a:ext cx="2039341" cy="215444"/>
          </a:xfrm>
          <a:prstGeom prst="rect">
            <a:avLst/>
          </a:prstGeom>
          <a:noFill/>
        </p:spPr>
        <p:txBody>
          <a:bodyPr wrap="none" rtlCol="0">
            <a:spAutoFit/>
          </a:bodyPr>
          <a:lstStyle/>
          <a:p>
            <a:pPr algn="ctr"/>
            <a:r>
              <a:rPr lang="en-US" sz="800" b="1" dirty="0">
                <a:solidFill>
                  <a:schemeClr val="bg1">
                    <a:lumMod val="50000"/>
                  </a:schemeClr>
                </a:solidFill>
              </a:rPr>
              <a:t>TRƯỜNG ĐẠI HỌC Y TẾ CÔNG CỘNG</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t>‹#›</a:t>
            </a:fld>
            <a:endParaRPr/>
          </a:p>
        </p:txBody>
      </p:sp>
      <p:pic>
        <p:nvPicPr>
          <p:cNvPr id="16" name="Picture 15" descr="A black screen with a black background&#10;&#10;Description automatically generated">
            <a:extLst>
              <a:ext uri="{FF2B5EF4-FFF2-40B4-BE49-F238E27FC236}">
                <a16:creationId xmlns:a16="http://schemas.microsoft.com/office/drawing/2014/main" id="{F852F16F-2B07-61F0-4672-FED3D83ACDFD}"/>
              </a:ext>
            </a:extLst>
          </p:cNvPr>
          <p:cNvPicPr>
            <a:picLocks noChangeAspect="1"/>
          </p:cNvPicPr>
          <p:nvPr userDrawn="1"/>
        </p:nvPicPr>
        <p:blipFill>
          <a:blip r:embed="rId8">
            <a:alphaModFix amt="8000"/>
          </a:blip>
          <a:stretch>
            <a:fillRect/>
          </a:stretch>
        </p:blipFill>
        <p:spPr>
          <a:xfrm>
            <a:off x="3646954" y="1646704"/>
            <a:ext cx="1850091" cy="1850091"/>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applewebdata://5BC2D295-41F5-46B0-A883-89286E8CC479/#_ftn1"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749808" y="1205508"/>
            <a:ext cx="7662672" cy="229866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solidFill>
                  <a:schemeClr val="bg1">
                    <a:lumMod val="25000"/>
                  </a:schemeClr>
                </a:solidFill>
                <a:latin typeface="Arial" panose="020B0604020202020204" pitchFamily="34" charset="0"/>
                <a:cs typeface="Arial" panose="020B0604020202020204" pitchFamily="34" charset="0"/>
              </a:rPr>
              <a:t>BÀI 4: MỘT SỐ KỸ NĂNG CHUYÊN SÂU VỀ QLTH TRONG CTXH</a:t>
            </a:r>
            <a:br>
              <a:rPr lang="en-US" sz="2800" dirty="0">
                <a:solidFill>
                  <a:schemeClr val="bg1">
                    <a:lumMod val="25000"/>
                  </a:schemeClr>
                </a:solidFill>
                <a:latin typeface="Arial" panose="020B0604020202020204" pitchFamily="34" charset="0"/>
                <a:cs typeface="Arial" panose="020B0604020202020204" pitchFamily="34" charset="0"/>
              </a:rPr>
            </a:br>
            <a:endParaRPr lang="en-US" sz="2800" dirty="0">
              <a:solidFill>
                <a:schemeClr val="bg1">
                  <a:lumMod val="25000"/>
                </a:schemeClr>
              </a:solidFill>
              <a:latin typeface="Arial" panose="020B0604020202020204" pitchFamily="34" charset="0"/>
              <a:cs typeface="Arial" panose="020B0604020202020204" pitchFamily="34" charset="0"/>
            </a:endParaRPr>
          </a:p>
        </p:txBody>
      </p:sp>
      <p:sp>
        <p:nvSpPr>
          <p:cNvPr id="286" name="Google Shape;286;p29"/>
          <p:cNvSpPr txBox="1">
            <a:spLocks noGrp="1"/>
          </p:cNvSpPr>
          <p:nvPr>
            <p:ph type="subTitle" idx="1"/>
          </p:nvPr>
        </p:nvSpPr>
        <p:spPr>
          <a:xfrm>
            <a:off x="1609200" y="3573775"/>
            <a:ext cx="5942700" cy="717568"/>
          </a:xfrm>
          <a:prstGeom prst="rect">
            <a:avLst/>
          </a:prstGeom>
        </p:spPr>
        <p:txBody>
          <a:bodyPr spcFirstLastPara="1" wrap="square" lIns="91425" tIns="91425" rIns="91425" bIns="91425" anchor="t" anchorCtr="0">
            <a:noAutofit/>
          </a:bodyPr>
          <a:lstStyle/>
          <a:p>
            <a:pPr marL="0" lvl="0" indent="0" rtl="0">
              <a:lnSpc>
                <a:spcPct val="150000"/>
              </a:lnSpc>
              <a:spcBef>
                <a:spcPts val="0"/>
              </a:spcBef>
              <a:spcAft>
                <a:spcPts val="0"/>
              </a:spcAft>
              <a:buNone/>
            </a:pPr>
            <a:r>
              <a:rPr lang="vi-VN" sz="1600" dirty="0">
                <a:solidFill>
                  <a:schemeClr val="bg1">
                    <a:lumMod val="25000"/>
                  </a:schemeClr>
                </a:solidFill>
                <a:latin typeface="Arial" panose="020B0604020202020204" pitchFamily="34" charset="0"/>
                <a:cs typeface="Arial" panose="020B0604020202020204" pitchFamily="34" charset="0"/>
              </a:rPr>
              <a:t>Bộ môn Công tác xã hội </a:t>
            </a:r>
          </a:p>
          <a:p>
            <a:pPr marL="0" lvl="0" indent="0" rtl="0">
              <a:lnSpc>
                <a:spcPct val="150000"/>
              </a:lnSpc>
              <a:spcBef>
                <a:spcPts val="0"/>
              </a:spcBef>
              <a:spcAft>
                <a:spcPts val="0"/>
              </a:spcAft>
              <a:buNone/>
            </a:pPr>
            <a:r>
              <a:rPr lang="vi-VN" sz="1600" dirty="0">
                <a:solidFill>
                  <a:schemeClr val="bg1">
                    <a:lumMod val="25000"/>
                  </a:schemeClr>
                </a:solidFill>
                <a:latin typeface="Arial" panose="020B0604020202020204" pitchFamily="34" charset="0"/>
                <a:cs typeface="Arial" panose="020B0604020202020204" pitchFamily="34" charset="0"/>
              </a:rPr>
              <a:t>Trường Đại học Y tế Công cộng</a:t>
            </a:r>
          </a:p>
        </p:txBody>
      </p:sp>
      <p:cxnSp>
        <p:nvCxnSpPr>
          <p:cNvPr id="287" name="Google Shape;287;p29"/>
          <p:cNvCxnSpPr/>
          <p:nvPr/>
        </p:nvCxnSpPr>
        <p:spPr>
          <a:xfrm rot="10800000" flipH="1">
            <a:off x="1600600" y="2544888"/>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00600" y="1348663"/>
            <a:ext cx="5942700" cy="6600"/>
          </a:xfrm>
          <a:prstGeom prst="straightConnector1">
            <a:avLst/>
          </a:prstGeom>
          <a:noFill/>
          <a:ln w="19050" cap="flat" cmpd="sng">
            <a:solidFill>
              <a:schemeClr val="lt1"/>
            </a:solidFill>
            <a:prstDash val="solid"/>
            <a:round/>
            <a:headEnd type="oval" w="med" len="med"/>
            <a:tailEnd type="oval" w="med" len="med"/>
          </a:ln>
        </p:spPr>
      </p:cxnSp>
      <p:sp>
        <p:nvSpPr>
          <p:cNvPr id="289" name="Google Shape;289;p29"/>
          <p:cNvSpPr/>
          <p:nvPr/>
        </p:nvSpPr>
        <p:spPr>
          <a:xfrm>
            <a:off x="2422825" y="186552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6733600" y="186552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Freeform 13">
            <a:extLst>
              <a:ext uri="{FF2B5EF4-FFF2-40B4-BE49-F238E27FC236}">
                <a16:creationId xmlns:a16="http://schemas.microsoft.com/office/drawing/2014/main" id="{72E10391-A166-6AF9-14E1-49235F14A802}"/>
              </a:ext>
            </a:extLst>
          </p:cNvPr>
          <p:cNvSpPr/>
          <p:nvPr/>
        </p:nvSpPr>
        <p:spPr>
          <a:xfrm>
            <a:off x="3401673" y="174258"/>
            <a:ext cx="2113199" cy="636282"/>
          </a:xfrm>
          <a:custGeom>
            <a:avLst/>
            <a:gdLst/>
            <a:ahLst/>
            <a:cxnLst/>
            <a:rect l="l" t="t" r="r" b="b"/>
            <a:pathLst>
              <a:path w="4682569" h="1409916">
                <a:moveTo>
                  <a:pt x="0" y="0"/>
                </a:moveTo>
                <a:lnTo>
                  <a:pt x="4682570" y="0"/>
                </a:lnTo>
                <a:lnTo>
                  <a:pt x="4682570" y="1409916"/>
                </a:lnTo>
                <a:lnTo>
                  <a:pt x="0" y="1409916"/>
                </a:lnTo>
                <a:lnTo>
                  <a:pt x="0" y="0"/>
                </a:lnTo>
                <a:close/>
              </a:path>
            </a:pathLst>
          </a:custGeom>
          <a:blipFill>
            <a:blip r:embed="rId3"/>
            <a:stretch>
              <a:fillRect/>
            </a:stretch>
          </a:blipFill>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CHUẨN ĐẦU RA BÀI HỌC</a:t>
            </a:r>
            <a:endParaRPr dirty="0"/>
          </a:p>
        </p:txBody>
      </p:sp>
      <p:sp>
        <p:nvSpPr>
          <p:cNvPr id="296" name="Google Shape;296;p30"/>
          <p:cNvSpPr txBox="1">
            <a:spLocks noGrp="1"/>
          </p:cNvSpPr>
          <p:nvPr>
            <p:ph type="body" idx="1"/>
          </p:nvPr>
        </p:nvSpPr>
        <p:spPr>
          <a:xfrm>
            <a:off x="1170432" y="1563624"/>
            <a:ext cx="7253567" cy="1940067"/>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Wingdings" pitchFamily="2" charset="2"/>
              <a:buChar char="§"/>
            </a:pPr>
            <a:r>
              <a:rPr lang="vi-VN"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LLO1: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Phân</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tích</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một</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số</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kỹ</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năng</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chuyên</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sâu</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về</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quản</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lý</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trường</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hợp</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trong</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công</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tác</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xã</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r>
              <a:rPr lang="en-US" sz="2000" dirty="0" err="1">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hội</a:t>
            </a:r>
            <a:r>
              <a:rPr lang="en-US"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 </a:t>
            </a:r>
            <a:endParaRPr lang="en-US" sz="2000" dirty="0">
              <a:solidFill>
                <a:schemeClr val="bg1">
                  <a:lumMod val="10000"/>
                </a:schemeClr>
              </a:solidFill>
              <a:latin typeface="Arial" panose="020B0604020202020204" pitchFamily="34" charset="0"/>
              <a:cs typeface="Arial" panose="020B0604020202020204" pitchFamily="34" charset="0"/>
            </a:endParaRPr>
          </a:p>
          <a:p>
            <a:pPr marL="342900" lvl="0" indent="-342900" algn="l" rtl="0">
              <a:spcBef>
                <a:spcPts val="0"/>
              </a:spcBef>
              <a:spcAft>
                <a:spcPts val="0"/>
              </a:spcAft>
              <a:buFont typeface="Wingdings" pitchFamily="2" charset="2"/>
              <a:buChar char="§"/>
            </a:pPr>
            <a:r>
              <a:rPr lang="vi-VN" sz="20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LLO2: Áp dụng một số kỹ năng chuyên sâu về quản lý trường hợp trong công tác xã hội</a:t>
            </a:r>
            <a:r>
              <a:rPr lang="en-VN" sz="2000" dirty="0">
                <a:solidFill>
                  <a:schemeClr val="bg1">
                    <a:lumMod val="10000"/>
                  </a:schemeClr>
                </a:solidFill>
                <a:effectLst/>
                <a:latin typeface="Arial" panose="020B0604020202020204" pitchFamily="34" charset="0"/>
                <a:cs typeface="Arial" panose="020B0604020202020204" pitchFamily="34" charset="0"/>
              </a:rPr>
              <a:t> </a:t>
            </a:r>
            <a:endParaRPr sz="2000" dirty="0">
              <a:solidFill>
                <a:schemeClr val="bg1">
                  <a:lumMod val="10000"/>
                </a:schemeClr>
              </a:solidFill>
              <a:latin typeface="Arial" panose="020B0604020202020204" pitchFamily="34" charset="0"/>
              <a:cs typeface="Arial" panose="020B0604020202020204" pitchFamily="34" charset="0"/>
            </a:endParaRPr>
          </a:p>
        </p:txBody>
      </p:sp>
      <p:sp>
        <p:nvSpPr>
          <p:cNvPr id="300" name="Google Shape;300;p3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1">
                    <a:lumMod val="10000"/>
                  </a:schemeClr>
                </a:solidFill>
              </a:rPr>
              <a:t>NỘI DUNG BÀI HỌC</a:t>
            </a:r>
            <a:endParaRPr dirty="0">
              <a:solidFill>
                <a:schemeClr val="bg1">
                  <a:lumMod val="10000"/>
                </a:schemeClr>
              </a:solidFill>
            </a:endParaRPr>
          </a:p>
        </p:txBody>
      </p:sp>
      <p:sp>
        <p:nvSpPr>
          <p:cNvPr id="310" name="Google Shape;310;p31"/>
          <p:cNvSpPr txBox="1">
            <a:spLocks noGrp="1"/>
          </p:cNvSpPr>
          <p:nvPr>
            <p:ph type="title" idx="5"/>
          </p:nvPr>
        </p:nvSpPr>
        <p:spPr>
          <a:xfrm>
            <a:off x="713225" y="1141288"/>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bg1">
                    <a:lumMod val="10000"/>
                  </a:schemeClr>
                </a:solidFill>
              </a:rPr>
              <a:t>01</a:t>
            </a:r>
            <a:endParaRPr>
              <a:solidFill>
                <a:schemeClr val="bg1">
                  <a:lumMod val="10000"/>
                </a:schemeClr>
              </a:solidFill>
            </a:endParaRPr>
          </a:p>
        </p:txBody>
      </p:sp>
      <p:sp>
        <p:nvSpPr>
          <p:cNvPr id="312" name="Google Shape;312;p31"/>
          <p:cNvSpPr txBox="1">
            <a:spLocks noGrp="1"/>
          </p:cNvSpPr>
          <p:nvPr>
            <p:ph type="title" idx="7"/>
          </p:nvPr>
        </p:nvSpPr>
        <p:spPr>
          <a:xfrm>
            <a:off x="6135830" y="3143898"/>
            <a:ext cx="656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lumMod val="10000"/>
                  </a:schemeClr>
                </a:solidFill>
              </a:rPr>
              <a:t>04</a:t>
            </a:r>
            <a:endParaRPr dirty="0">
              <a:solidFill>
                <a:schemeClr val="bg1">
                  <a:lumMod val="10000"/>
                </a:schemeClr>
              </a:solidFill>
            </a:endParaRPr>
          </a:p>
        </p:txBody>
      </p:sp>
      <p:sp>
        <p:nvSpPr>
          <p:cNvPr id="313" name="Google Shape;313;p31"/>
          <p:cNvSpPr txBox="1">
            <a:spLocks noGrp="1"/>
          </p:cNvSpPr>
          <p:nvPr>
            <p:ph type="title" idx="8"/>
          </p:nvPr>
        </p:nvSpPr>
        <p:spPr>
          <a:xfrm>
            <a:off x="6135830" y="1134260"/>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lumMod val="10000"/>
                  </a:schemeClr>
                </a:solidFill>
              </a:rPr>
              <a:t>02</a:t>
            </a:r>
            <a:endParaRPr dirty="0">
              <a:solidFill>
                <a:schemeClr val="bg1">
                  <a:lumMod val="10000"/>
                </a:schemeClr>
              </a:solidFill>
            </a:endParaRPr>
          </a:p>
        </p:txBody>
      </p:sp>
      <p:sp>
        <p:nvSpPr>
          <p:cNvPr id="317" name="Google Shape;317;p31"/>
          <p:cNvSpPr txBox="1">
            <a:spLocks noGrp="1"/>
          </p:cNvSpPr>
          <p:nvPr>
            <p:ph type="title" idx="15"/>
          </p:nvPr>
        </p:nvSpPr>
        <p:spPr>
          <a:xfrm>
            <a:off x="713225" y="3110026"/>
            <a:ext cx="656100" cy="438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lumMod val="10000"/>
                  </a:schemeClr>
                </a:solidFill>
              </a:rPr>
              <a:t>03</a:t>
            </a:r>
            <a:endParaRPr dirty="0">
              <a:solidFill>
                <a:schemeClr val="bg1">
                  <a:lumMod val="10000"/>
                </a:schemeClr>
              </a:solidFill>
            </a:endParaRPr>
          </a:p>
        </p:txBody>
      </p:sp>
      <p:sp>
        <p:nvSpPr>
          <p:cNvPr id="318" name="Google Shape;318;p31"/>
          <p:cNvSpPr txBox="1">
            <a:spLocks noGrp="1"/>
          </p:cNvSpPr>
          <p:nvPr>
            <p:ph type="subTitle" idx="16"/>
          </p:nvPr>
        </p:nvSpPr>
        <p:spPr>
          <a:xfrm>
            <a:off x="713225" y="1594575"/>
            <a:ext cx="2423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err="1">
                <a:solidFill>
                  <a:schemeClr val="bg1">
                    <a:lumMod val="10000"/>
                  </a:schemeClr>
                </a:solidFill>
                <a:latin typeface="+mn-lt"/>
              </a:rPr>
              <a:t>Kỹ</a:t>
            </a:r>
            <a:r>
              <a:rPr lang="en" dirty="0">
                <a:solidFill>
                  <a:schemeClr val="bg1">
                    <a:lumMod val="10000"/>
                  </a:schemeClr>
                </a:solidFill>
                <a:latin typeface="+mn-lt"/>
              </a:rPr>
              <a:t> </a:t>
            </a:r>
            <a:r>
              <a:rPr lang="en" dirty="0" err="1">
                <a:solidFill>
                  <a:schemeClr val="bg1">
                    <a:lumMod val="10000"/>
                  </a:schemeClr>
                </a:solidFill>
                <a:latin typeface="+mn-lt"/>
              </a:rPr>
              <a:t>năng</a:t>
            </a:r>
            <a:r>
              <a:rPr lang="en" dirty="0">
                <a:solidFill>
                  <a:schemeClr val="bg1">
                    <a:lumMod val="10000"/>
                  </a:schemeClr>
                </a:solidFill>
                <a:latin typeface="+mn-lt"/>
              </a:rPr>
              <a:t> </a:t>
            </a:r>
            <a:r>
              <a:rPr lang="en" dirty="0" err="1">
                <a:solidFill>
                  <a:schemeClr val="bg1">
                    <a:lumMod val="10000"/>
                  </a:schemeClr>
                </a:solidFill>
                <a:latin typeface="+mn-lt"/>
              </a:rPr>
              <a:t>giao</a:t>
            </a:r>
            <a:r>
              <a:rPr lang="en" dirty="0">
                <a:solidFill>
                  <a:schemeClr val="bg1">
                    <a:lumMod val="10000"/>
                  </a:schemeClr>
                </a:solidFill>
                <a:latin typeface="+mn-lt"/>
              </a:rPr>
              <a:t> </a:t>
            </a:r>
            <a:r>
              <a:rPr lang="en" dirty="0" err="1">
                <a:solidFill>
                  <a:schemeClr val="bg1">
                    <a:lumMod val="10000"/>
                  </a:schemeClr>
                </a:solidFill>
                <a:latin typeface="+mn-lt"/>
              </a:rPr>
              <a:t>tiếp</a:t>
            </a:r>
            <a:endParaRPr dirty="0">
              <a:solidFill>
                <a:schemeClr val="bg1">
                  <a:lumMod val="10000"/>
                </a:schemeClr>
              </a:solidFill>
              <a:latin typeface="+mn-lt"/>
            </a:endParaRPr>
          </a:p>
        </p:txBody>
      </p:sp>
      <p:sp>
        <p:nvSpPr>
          <p:cNvPr id="319" name="Google Shape;319;p31"/>
          <p:cNvSpPr txBox="1">
            <a:spLocks noGrp="1"/>
          </p:cNvSpPr>
          <p:nvPr>
            <p:ph type="subTitle" idx="17"/>
          </p:nvPr>
        </p:nvSpPr>
        <p:spPr>
          <a:xfrm>
            <a:off x="6135830" y="3710075"/>
            <a:ext cx="2423100" cy="42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err="1">
                <a:solidFill>
                  <a:schemeClr val="bg1">
                    <a:lumMod val="10000"/>
                  </a:schemeClr>
                </a:solidFill>
                <a:latin typeface="+mn-lt"/>
              </a:rPr>
              <a:t>Kỹ</a:t>
            </a:r>
            <a:r>
              <a:rPr lang="en" dirty="0">
                <a:solidFill>
                  <a:schemeClr val="bg1">
                    <a:lumMod val="10000"/>
                  </a:schemeClr>
                </a:solidFill>
                <a:latin typeface="+mn-lt"/>
              </a:rPr>
              <a:t> </a:t>
            </a:r>
            <a:r>
              <a:rPr lang="en" dirty="0" err="1">
                <a:solidFill>
                  <a:schemeClr val="bg1">
                    <a:lumMod val="10000"/>
                  </a:schemeClr>
                </a:solidFill>
                <a:latin typeface="+mn-lt"/>
              </a:rPr>
              <a:t>năng</a:t>
            </a:r>
            <a:r>
              <a:rPr lang="en" dirty="0">
                <a:solidFill>
                  <a:schemeClr val="bg1">
                    <a:lumMod val="10000"/>
                  </a:schemeClr>
                </a:solidFill>
                <a:latin typeface="+mn-lt"/>
              </a:rPr>
              <a:t> </a:t>
            </a:r>
            <a:r>
              <a:rPr lang="en" dirty="0" err="1">
                <a:solidFill>
                  <a:schemeClr val="bg1">
                    <a:lumMod val="10000"/>
                  </a:schemeClr>
                </a:solidFill>
                <a:latin typeface="+mn-lt"/>
              </a:rPr>
              <a:t>biện</a:t>
            </a:r>
            <a:r>
              <a:rPr lang="en" dirty="0">
                <a:solidFill>
                  <a:schemeClr val="bg1">
                    <a:lumMod val="10000"/>
                  </a:schemeClr>
                </a:solidFill>
                <a:latin typeface="+mn-lt"/>
              </a:rPr>
              <a:t> </a:t>
            </a:r>
            <a:r>
              <a:rPr lang="en" dirty="0" err="1">
                <a:solidFill>
                  <a:schemeClr val="bg1">
                    <a:lumMod val="10000"/>
                  </a:schemeClr>
                </a:solidFill>
                <a:latin typeface="+mn-lt"/>
              </a:rPr>
              <a:t>hộ</a:t>
            </a:r>
            <a:endParaRPr dirty="0">
              <a:solidFill>
                <a:schemeClr val="bg1">
                  <a:lumMod val="10000"/>
                </a:schemeClr>
              </a:solidFill>
              <a:latin typeface="+mn-lt"/>
            </a:endParaRPr>
          </a:p>
        </p:txBody>
      </p:sp>
      <p:sp>
        <p:nvSpPr>
          <p:cNvPr id="321" name="Google Shape;321;p31"/>
          <p:cNvSpPr txBox="1">
            <a:spLocks noGrp="1"/>
          </p:cNvSpPr>
          <p:nvPr>
            <p:ph type="subTitle" idx="19"/>
          </p:nvPr>
        </p:nvSpPr>
        <p:spPr>
          <a:xfrm>
            <a:off x="6135830" y="1560703"/>
            <a:ext cx="2423100" cy="438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err="1">
                <a:solidFill>
                  <a:schemeClr val="bg1">
                    <a:lumMod val="10000"/>
                  </a:schemeClr>
                </a:solidFill>
                <a:latin typeface="+mn-lt"/>
              </a:rPr>
              <a:t>Kỹ</a:t>
            </a:r>
            <a:r>
              <a:rPr lang="en" dirty="0">
                <a:solidFill>
                  <a:schemeClr val="bg1">
                    <a:lumMod val="10000"/>
                  </a:schemeClr>
                </a:solidFill>
                <a:latin typeface="+mn-lt"/>
              </a:rPr>
              <a:t> </a:t>
            </a:r>
            <a:r>
              <a:rPr lang="en" dirty="0" err="1">
                <a:solidFill>
                  <a:schemeClr val="bg1">
                    <a:lumMod val="10000"/>
                  </a:schemeClr>
                </a:solidFill>
                <a:latin typeface="+mn-lt"/>
              </a:rPr>
              <a:t>năng</a:t>
            </a:r>
            <a:r>
              <a:rPr lang="en" dirty="0">
                <a:solidFill>
                  <a:schemeClr val="bg1">
                    <a:lumMod val="10000"/>
                  </a:schemeClr>
                </a:solidFill>
                <a:latin typeface="+mn-lt"/>
              </a:rPr>
              <a:t> </a:t>
            </a:r>
            <a:r>
              <a:rPr lang="en" dirty="0" err="1">
                <a:solidFill>
                  <a:schemeClr val="bg1">
                    <a:lumMod val="10000"/>
                  </a:schemeClr>
                </a:solidFill>
                <a:latin typeface="+mn-lt"/>
              </a:rPr>
              <a:t>đánh</a:t>
            </a:r>
            <a:r>
              <a:rPr lang="en" dirty="0">
                <a:solidFill>
                  <a:schemeClr val="bg1">
                    <a:lumMod val="10000"/>
                  </a:schemeClr>
                </a:solidFill>
                <a:latin typeface="+mn-lt"/>
              </a:rPr>
              <a:t> </a:t>
            </a:r>
            <a:r>
              <a:rPr lang="en" dirty="0" err="1">
                <a:solidFill>
                  <a:schemeClr val="bg1">
                    <a:lumMod val="10000"/>
                  </a:schemeClr>
                </a:solidFill>
                <a:latin typeface="+mn-lt"/>
              </a:rPr>
              <a:t>giá</a:t>
            </a:r>
            <a:endParaRPr dirty="0">
              <a:solidFill>
                <a:schemeClr val="bg1">
                  <a:lumMod val="10000"/>
                </a:schemeClr>
              </a:solidFill>
              <a:latin typeface="+mn-lt"/>
            </a:endParaRPr>
          </a:p>
        </p:txBody>
      </p:sp>
      <p:sp>
        <p:nvSpPr>
          <p:cNvPr id="323" name="Google Shape;323;p31"/>
          <p:cNvSpPr txBox="1">
            <a:spLocks noGrp="1"/>
          </p:cNvSpPr>
          <p:nvPr>
            <p:ph type="subTitle" idx="21"/>
          </p:nvPr>
        </p:nvSpPr>
        <p:spPr>
          <a:xfrm>
            <a:off x="719999" y="3710075"/>
            <a:ext cx="2618623" cy="65990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lumMod val="10000"/>
                  </a:schemeClr>
                </a:solidFill>
                <a:latin typeface="Arial" panose="020B0604020202020204" pitchFamily="34" charset="0"/>
                <a:cs typeface="Arial" panose="020B0604020202020204" pitchFamily="34" charset="0"/>
              </a:rPr>
              <a:t>KN </a:t>
            </a:r>
            <a:r>
              <a:rPr lang="en" dirty="0" err="1">
                <a:solidFill>
                  <a:schemeClr val="bg1">
                    <a:lumMod val="10000"/>
                  </a:schemeClr>
                </a:solidFill>
                <a:latin typeface="Arial" panose="020B0604020202020204" pitchFamily="34" charset="0"/>
                <a:cs typeface="Arial" panose="020B0604020202020204" pitchFamily="34" charset="0"/>
              </a:rPr>
              <a:t>kết</a:t>
            </a:r>
            <a:r>
              <a:rPr lang="en" dirty="0">
                <a:solidFill>
                  <a:schemeClr val="bg1">
                    <a:lumMod val="10000"/>
                  </a:schemeClr>
                </a:solidFill>
                <a:latin typeface="Arial" panose="020B0604020202020204" pitchFamily="34" charset="0"/>
                <a:cs typeface="Arial" panose="020B0604020202020204" pitchFamily="34" charset="0"/>
              </a:rPr>
              <a:t> </a:t>
            </a:r>
            <a:r>
              <a:rPr lang="en" dirty="0" err="1">
                <a:solidFill>
                  <a:schemeClr val="bg1">
                    <a:lumMod val="10000"/>
                  </a:schemeClr>
                </a:solidFill>
                <a:latin typeface="Arial" panose="020B0604020202020204" pitchFamily="34" charset="0"/>
                <a:cs typeface="Arial" panose="020B0604020202020204" pitchFamily="34" charset="0"/>
              </a:rPr>
              <a:t>nối</a:t>
            </a:r>
            <a:r>
              <a:rPr lang="en" dirty="0">
                <a:solidFill>
                  <a:schemeClr val="bg1">
                    <a:lumMod val="10000"/>
                  </a:schemeClr>
                </a:solidFill>
                <a:latin typeface="Arial" panose="020B0604020202020204" pitchFamily="34" charset="0"/>
                <a:cs typeface="Arial" panose="020B0604020202020204" pitchFamily="34" charset="0"/>
              </a:rPr>
              <a:t> &amp; </a:t>
            </a:r>
            <a:r>
              <a:rPr lang="en" dirty="0" err="1">
                <a:solidFill>
                  <a:schemeClr val="bg1">
                    <a:lumMod val="10000"/>
                  </a:schemeClr>
                </a:solidFill>
                <a:latin typeface="Arial" panose="020B0604020202020204" pitchFamily="34" charset="0"/>
                <a:cs typeface="Arial" panose="020B0604020202020204" pitchFamily="34" charset="0"/>
              </a:rPr>
              <a:t>điều</a:t>
            </a:r>
            <a:r>
              <a:rPr lang="en" dirty="0">
                <a:solidFill>
                  <a:schemeClr val="bg1">
                    <a:lumMod val="10000"/>
                  </a:schemeClr>
                </a:solidFill>
                <a:latin typeface="Arial" panose="020B0604020202020204" pitchFamily="34" charset="0"/>
                <a:cs typeface="Arial" panose="020B0604020202020204" pitchFamily="34" charset="0"/>
              </a:rPr>
              <a:t> </a:t>
            </a:r>
            <a:r>
              <a:rPr lang="en" dirty="0" err="1">
                <a:solidFill>
                  <a:schemeClr val="bg1">
                    <a:lumMod val="10000"/>
                  </a:schemeClr>
                </a:solidFill>
                <a:latin typeface="Arial" panose="020B0604020202020204" pitchFamily="34" charset="0"/>
                <a:cs typeface="Arial" panose="020B0604020202020204" pitchFamily="34" charset="0"/>
              </a:rPr>
              <a:t>phối</a:t>
            </a:r>
            <a:r>
              <a:rPr lang="en" dirty="0">
                <a:solidFill>
                  <a:schemeClr val="bg1">
                    <a:lumMod val="10000"/>
                  </a:schemeClr>
                </a:solidFill>
                <a:latin typeface="Arial" panose="020B0604020202020204" pitchFamily="34" charset="0"/>
                <a:cs typeface="Arial" panose="020B0604020202020204" pitchFamily="34" charset="0"/>
              </a:rPr>
              <a:t> </a:t>
            </a:r>
            <a:r>
              <a:rPr lang="en" dirty="0" err="1">
                <a:solidFill>
                  <a:schemeClr val="bg1">
                    <a:lumMod val="10000"/>
                  </a:schemeClr>
                </a:solidFill>
                <a:latin typeface="Arial" panose="020B0604020202020204" pitchFamily="34" charset="0"/>
                <a:cs typeface="Arial" panose="020B0604020202020204" pitchFamily="34" charset="0"/>
              </a:rPr>
              <a:t>nguồn</a:t>
            </a:r>
            <a:r>
              <a:rPr lang="en" dirty="0">
                <a:solidFill>
                  <a:schemeClr val="bg1">
                    <a:lumMod val="10000"/>
                  </a:schemeClr>
                </a:solidFill>
                <a:latin typeface="Arial" panose="020B0604020202020204" pitchFamily="34" charset="0"/>
                <a:cs typeface="Arial" panose="020B0604020202020204" pitchFamily="34" charset="0"/>
              </a:rPr>
              <a:t> </a:t>
            </a:r>
            <a:r>
              <a:rPr lang="en" dirty="0" err="1">
                <a:solidFill>
                  <a:schemeClr val="bg1">
                    <a:lumMod val="10000"/>
                  </a:schemeClr>
                </a:solidFill>
                <a:latin typeface="Arial" panose="020B0604020202020204" pitchFamily="34" charset="0"/>
                <a:cs typeface="Arial" panose="020B0604020202020204" pitchFamily="34" charset="0"/>
              </a:rPr>
              <a:t>lực</a:t>
            </a:r>
            <a:endParaRPr dirty="0">
              <a:solidFill>
                <a:schemeClr val="bg1">
                  <a:lumMod val="10000"/>
                </a:schemeClr>
              </a:solidFill>
              <a:latin typeface="Arial" panose="020B0604020202020204" pitchFamily="34" charset="0"/>
              <a:cs typeface="Arial" panose="020B0604020202020204" pitchFamily="34" charset="0"/>
            </a:endParaRPr>
          </a:p>
        </p:txBody>
      </p:sp>
      <p:sp>
        <p:nvSpPr>
          <p:cNvPr id="324" name="Google Shape;324;p3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chemeClr val="bg1">
                    <a:lumMod val="10000"/>
                  </a:schemeClr>
                </a:solidFill>
              </a:rPr>
              <a:t>3</a:t>
            </a:fld>
            <a:endParaRPr>
              <a:solidFill>
                <a:schemeClr val="bg1">
                  <a:lumMod val="1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2886635" y="1854500"/>
            <a:ext cx="4823012"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err="1">
                <a:solidFill>
                  <a:schemeClr val="bg1">
                    <a:lumMod val="10000"/>
                  </a:schemeClr>
                </a:solidFill>
                <a:latin typeface="Arial" panose="020B0604020202020204" pitchFamily="34" charset="0"/>
                <a:cs typeface="Arial" panose="020B0604020202020204" pitchFamily="34" charset="0"/>
              </a:rPr>
              <a:t>Kỹ</a:t>
            </a:r>
            <a:r>
              <a:rPr lang="en" sz="3200" dirty="0">
                <a:solidFill>
                  <a:schemeClr val="bg1">
                    <a:lumMod val="10000"/>
                  </a:schemeClr>
                </a:solidFill>
                <a:latin typeface="Arial" panose="020B0604020202020204" pitchFamily="34" charset="0"/>
                <a:cs typeface="Arial" panose="020B0604020202020204" pitchFamily="34" charset="0"/>
              </a:rPr>
              <a:t> </a:t>
            </a:r>
            <a:r>
              <a:rPr lang="en" sz="3200" dirty="0" err="1">
                <a:solidFill>
                  <a:schemeClr val="bg1">
                    <a:lumMod val="10000"/>
                  </a:schemeClr>
                </a:solidFill>
                <a:latin typeface="Arial" panose="020B0604020202020204" pitchFamily="34" charset="0"/>
                <a:cs typeface="Arial" panose="020B0604020202020204" pitchFamily="34" charset="0"/>
              </a:rPr>
              <a:t>năng</a:t>
            </a:r>
            <a:r>
              <a:rPr lang="en" sz="3200" dirty="0">
                <a:solidFill>
                  <a:schemeClr val="bg1">
                    <a:lumMod val="10000"/>
                  </a:schemeClr>
                </a:solidFill>
                <a:latin typeface="Arial" panose="020B0604020202020204" pitchFamily="34" charset="0"/>
                <a:cs typeface="Arial" panose="020B0604020202020204" pitchFamily="34" charset="0"/>
              </a:rPr>
              <a:t> </a:t>
            </a:r>
            <a:r>
              <a:rPr lang="en" sz="3200" dirty="0" err="1">
                <a:solidFill>
                  <a:schemeClr val="bg1">
                    <a:lumMod val="10000"/>
                  </a:schemeClr>
                </a:solidFill>
                <a:latin typeface="Arial" panose="020B0604020202020204" pitchFamily="34" charset="0"/>
                <a:cs typeface="Arial" panose="020B0604020202020204" pitchFamily="34" charset="0"/>
              </a:rPr>
              <a:t>giao</a:t>
            </a:r>
            <a:r>
              <a:rPr lang="en" sz="3200" dirty="0">
                <a:solidFill>
                  <a:schemeClr val="bg1">
                    <a:lumMod val="10000"/>
                  </a:schemeClr>
                </a:solidFill>
                <a:latin typeface="Arial" panose="020B0604020202020204" pitchFamily="34" charset="0"/>
                <a:cs typeface="Arial" panose="020B0604020202020204" pitchFamily="34" charset="0"/>
              </a:rPr>
              <a:t> </a:t>
            </a:r>
            <a:r>
              <a:rPr lang="en" sz="3200" dirty="0" err="1">
                <a:solidFill>
                  <a:schemeClr val="bg1">
                    <a:lumMod val="10000"/>
                  </a:schemeClr>
                </a:solidFill>
                <a:latin typeface="Arial" panose="020B0604020202020204" pitchFamily="34" charset="0"/>
                <a:cs typeface="Arial" panose="020B0604020202020204" pitchFamily="34" charset="0"/>
              </a:rPr>
              <a:t>tiếp</a:t>
            </a:r>
            <a:endParaRPr sz="3200" dirty="0">
              <a:solidFill>
                <a:schemeClr val="bg1">
                  <a:lumMod val="10000"/>
                </a:schemeClr>
              </a:solidFill>
              <a:latin typeface="Arial" panose="020B0604020202020204" pitchFamily="34" charset="0"/>
              <a:cs typeface="Arial" panose="020B0604020202020204" pitchFamily="34" charset="0"/>
            </a:endParaRPr>
          </a:p>
        </p:txBody>
      </p:sp>
      <p:sp>
        <p:nvSpPr>
          <p:cNvPr id="330" name="Google Shape;330;p32"/>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describe the topic of the section here</a:t>
            </a:r>
            <a:endParaRPr/>
          </a:p>
        </p:txBody>
      </p:sp>
      <p:sp>
        <p:nvSpPr>
          <p:cNvPr id="331" name="Google Shape;331;p32"/>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solidFill>
                  <a:schemeClr val="bg1">
                    <a:lumMod val="10000"/>
                  </a:schemeClr>
                </a:solidFill>
              </a:rPr>
              <a:t>5</a:t>
            </a:fld>
            <a:endParaRPr lang="en">
              <a:solidFill>
                <a:schemeClr val="bg1">
                  <a:lumMod val="10000"/>
                </a:schemeClr>
              </a:solidFill>
            </a:endParaRPr>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p:txBody>
          <a:bodyPr/>
          <a:lstStyle/>
          <a:p>
            <a:r>
              <a:rPr lang="en-VN" sz="2800" dirty="0">
                <a:solidFill>
                  <a:schemeClr val="bg1">
                    <a:lumMod val="10000"/>
                  </a:schemeClr>
                </a:solidFill>
                <a:latin typeface="Arial" panose="020B0604020202020204" pitchFamily="34" charset="0"/>
                <a:cs typeface="Arial" panose="020B0604020202020204" pitchFamily="34" charset="0"/>
              </a:rPr>
              <a:t>Khái niệm</a:t>
            </a:r>
          </a:p>
        </p:txBody>
      </p:sp>
      <p:sp>
        <p:nvSpPr>
          <p:cNvPr id="4" name="Text Placeholder 3">
            <a:extLst>
              <a:ext uri="{FF2B5EF4-FFF2-40B4-BE49-F238E27FC236}">
                <a16:creationId xmlns:a16="http://schemas.microsoft.com/office/drawing/2014/main" id="{49031695-2FCD-E0C8-039A-C7C350690DDA}"/>
              </a:ext>
            </a:extLst>
          </p:cNvPr>
          <p:cNvSpPr>
            <a:spLocks noGrp="1"/>
          </p:cNvSpPr>
          <p:nvPr>
            <p:ph type="body" idx="1"/>
          </p:nvPr>
        </p:nvSpPr>
        <p:spPr>
          <a:xfrm>
            <a:off x="3003811" y="1096481"/>
            <a:ext cx="5823923" cy="3233100"/>
          </a:xfrm>
        </p:spPr>
        <p:txBody>
          <a:bodyPr/>
          <a:lstStyle/>
          <a:p>
            <a:r>
              <a:rPr lang="en-VN" i="1" dirty="0">
                <a:solidFill>
                  <a:schemeClr val="bg1">
                    <a:lumMod val="10000"/>
                  </a:schemeClr>
                </a:solidFill>
                <a:latin typeface="Arial" panose="020B0604020202020204" pitchFamily="34" charset="0"/>
                <a:cs typeface="Arial" panose="020B0604020202020204" pitchFamily="34" charset="0"/>
              </a:rPr>
              <a:t>Giao tiếp (communication) là quá trình chuyển giao, xử lý thông tin qua các hệ thống giao tiếp giữa người gửi và người nhận. Chất lượng giao tiếp có sự khác nhau và tùy thuộc vào mức độ tích cực tham gia của người nhận và người gửi.</a:t>
            </a:r>
          </a:p>
          <a:p>
            <a:pPr marL="177800" indent="0">
              <a:buNone/>
            </a:pPr>
            <a:r>
              <a:rPr lang="en-VN" i="1" dirty="0">
                <a:solidFill>
                  <a:schemeClr val="bg1">
                    <a:lumMod val="10000"/>
                  </a:schemeClr>
                </a:solidFill>
                <a:latin typeface="Arial" panose="020B0604020202020204" pitchFamily="34" charset="0"/>
                <a:cs typeface="Arial" panose="020B0604020202020204" pitchFamily="34" charset="0"/>
              </a:rPr>
              <a:t>	</a:t>
            </a:r>
            <a:r>
              <a:rPr lang="en-VN" dirty="0">
                <a:solidFill>
                  <a:schemeClr val="bg1">
                    <a:lumMod val="10000"/>
                  </a:schemeClr>
                </a:solidFill>
                <a:latin typeface="Arial" panose="020B0604020202020204" pitchFamily="34" charset="0"/>
                <a:cs typeface="Arial" panose="020B0604020202020204" pitchFamily="34" charset="0"/>
              </a:rPr>
              <a:t>Theo Micheal T. Motley (1990)</a:t>
            </a:r>
          </a:p>
          <a:p>
            <a:pPr marL="177800" indent="0">
              <a:buNone/>
            </a:pPr>
            <a:endParaRPr lang="en-VN" i="1" dirty="0">
              <a:solidFill>
                <a:schemeClr val="bg1">
                  <a:lumMod val="10000"/>
                </a:schemeClr>
              </a:solidFill>
              <a:latin typeface="Arial" panose="020B0604020202020204" pitchFamily="34" charset="0"/>
              <a:cs typeface="Arial" panose="020B0604020202020204" pitchFamily="34" charset="0"/>
            </a:endParaRPr>
          </a:p>
          <a:p>
            <a:r>
              <a:rPr lang="en-VN" i="1" dirty="0">
                <a:solidFill>
                  <a:schemeClr val="bg1">
                    <a:lumMod val="10000"/>
                  </a:schemeClr>
                </a:solidFill>
                <a:latin typeface="Arial" panose="020B0604020202020204" pitchFamily="34" charset="0"/>
                <a:cs typeface="Arial" panose="020B0604020202020204" pitchFamily="34" charset="0"/>
              </a:rPr>
              <a:t>Trong lĩnh vực y tế, giao tiếp là quá trình cung cấp, là lộ trình truyền thông tin quan trọng về người bệnh của nhân viên y tế đến các nhà cung cấp dịch vụ sức khỏe khác. Thông qua kỹ năng giao tiếp, nhân viên y tế sẽ có được và chia sẻ thông tin cần thiết (của người bệnh) đến với các thành viên gia đình người bệnh.</a:t>
            </a:r>
          </a:p>
          <a:p>
            <a:pPr marL="177800" indent="0">
              <a:buNone/>
            </a:pPr>
            <a:r>
              <a:rPr lang="en-VN" i="1" dirty="0">
                <a:solidFill>
                  <a:schemeClr val="bg1">
                    <a:lumMod val="10000"/>
                  </a:schemeClr>
                </a:solidFill>
                <a:latin typeface="Arial" panose="020B0604020202020204" pitchFamily="34" charset="0"/>
                <a:cs typeface="Arial" panose="020B0604020202020204" pitchFamily="34" charset="0"/>
              </a:rPr>
              <a:t>	</a:t>
            </a:r>
            <a:r>
              <a:rPr lang="en-VN" dirty="0">
                <a:solidFill>
                  <a:schemeClr val="bg1">
                    <a:lumMod val="10000"/>
                  </a:schemeClr>
                </a:solidFill>
                <a:latin typeface="Arial" panose="020B0604020202020204" pitchFamily="34" charset="0"/>
                <a:cs typeface="Arial" panose="020B0604020202020204" pitchFamily="34" charset="0"/>
              </a:rPr>
              <a:t>Theo Granados Gamez (2009)</a:t>
            </a:r>
          </a:p>
          <a:p>
            <a:pPr marL="177800" indent="0">
              <a:buNone/>
            </a:pPr>
            <a:r>
              <a:rPr lang="en-VN" dirty="0">
                <a:solidFill>
                  <a:schemeClr val="bg1">
                    <a:lumMod val="10000"/>
                  </a:schemeClr>
                </a:solidFill>
                <a:latin typeface="Arial" panose="020B0604020202020204" pitchFamily="34" charset="0"/>
                <a:cs typeface="Arial" panose="020B0604020202020204" pitchFamily="34" charset="0"/>
              </a:rPr>
              <a:t>       </a:t>
            </a:r>
          </a:p>
        </p:txBody>
      </p:sp>
      <p:pic>
        <p:nvPicPr>
          <p:cNvPr id="1025" name="Picture 1" descr="page2image57615712">
            <a:extLst>
              <a:ext uri="{FF2B5EF4-FFF2-40B4-BE49-F238E27FC236}">
                <a16:creationId xmlns:a16="http://schemas.microsoft.com/office/drawing/2014/main" id="{9A883C84-DB65-D895-0AEE-E146B51CF9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101" y="1751540"/>
            <a:ext cx="2962128" cy="1640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738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solidFill>
                  <a:schemeClr val="bg1">
                    <a:lumMod val="10000"/>
                  </a:schemeClr>
                </a:solidFill>
              </a:rPr>
              <a:t>6</a:t>
            </a:fld>
            <a:endParaRPr lang="en">
              <a:solidFill>
                <a:schemeClr val="bg1">
                  <a:lumMod val="10000"/>
                </a:schemeClr>
              </a:solidFill>
            </a:endParaRPr>
          </a:p>
        </p:txBody>
      </p:sp>
      <p:graphicFrame>
        <p:nvGraphicFramePr>
          <p:cNvPr id="7" name="Content Placeholder 6">
            <a:extLst>
              <a:ext uri="{FF2B5EF4-FFF2-40B4-BE49-F238E27FC236}">
                <a16:creationId xmlns:a16="http://schemas.microsoft.com/office/drawing/2014/main" id="{FCC40D9D-331A-B04B-7637-2315B5412673}"/>
              </a:ext>
            </a:extLst>
          </p:cNvPr>
          <p:cNvGraphicFramePr>
            <a:graphicFrameLocks/>
          </p:cNvGraphicFramePr>
          <p:nvPr>
            <p:extLst>
              <p:ext uri="{D42A27DB-BD31-4B8C-83A1-F6EECF244321}">
                <p14:modId xmlns:p14="http://schemas.microsoft.com/office/powerpoint/2010/main" val="3775138343"/>
              </p:ext>
            </p:extLst>
          </p:nvPr>
        </p:nvGraphicFramePr>
        <p:xfrm>
          <a:off x="3208132" y="1152144"/>
          <a:ext cx="5517442" cy="3122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oogle Shape;1106;p41">
            <a:extLst>
              <a:ext uri="{FF2B5EF4-FFF2-40B4-BE49-F238E27FC236}">
                <a16:creationId xmlns:a16="http://schemas.microsoft.com/office/drawing/2014/main" id="{1FA061CA-725E-6179-7AD3-029BD08BC17E}"/>
              </a:ext>
            </a:extLst>
          </p:cNvPr>
          <p:cNvGrpSpPr/>
          <p:nvPr/>
        </p:nvGrpSpPr>
        <p:grpSpPr>
          <a:xfrm>
            <a:off x="347472" y="788441"/>
            <a:ext cx="2860660" cy="1783309"/>
            <a:chOff x="4103687" y="1439862"/>
            <a:chExt cx="3986212" cy="3986211"/>
          </a:xfrm>
          <a:solidFill>
            <a:srgbClr val="92D050"/>
          </a:solidFill>
        </p:grpSpPr>
        <p:sp>
          <p:nvSpPr>
            <p:cNvPr id="11" name="Google Shape;1107;p41">
              <a:extLst>
                <a:ext uri="{FF2B5EF4-FFF2-40B4-BE49-F238E27FC236}">
                  <a16:creationId xmlns:a16="http://schemas.microsoft.com/office/drawing/2014/main" id="{892C8881-ABFD-3D73-69AD-19424A08561A}"/>
                </a:ext>
              </a:extLst>
            </p:cNvPr>
            <p:cNvSpPr/>
            <p:nvPr/>
          </p:nvSpPr>
          <p:spPr>
            <a:xfrm>
              <a:off x="4103687" y="1439862"/>
              <a:ext cx="2254250" cy="3986211"/>
            </a:xfrm>
            <a:custGeom>
              <a:avLst/>
              <a:gdLst/>
              <a:ahLst/>
              <a:cxnLst/>
              <a:rect l="l" t="t" r="r" b="b"/>
              <a:pathLst>
                <a:path w="502" h="887" extrusionOk="0">
                  <a:moveTo>
                    <a:pt x="435" y="815"/>
                  </a:moveTo>
                  <a:cubicBezTo>
                    <a:pt x="428" y="824"/>
                    <a:pt x="419" y="828"/>
                    <a:pt x="408" y="828"/>
                  </a:cubicBezTo>
                  <a:cubicBezTo>
                    <a:pt x="399" y="828"/>
                    <a:pt x="389" y="824"/>
                    <a:pt x="383" y="816"/>
                  </a:cubicBezTo>
                  <a:cubicBezTo>
                    <a:pt x="373" y="805"/>
                    <a:pt x="368" y="788"/>
                    <a:pt x="368" y="770"/>
                  </a:cubicBezTo>
                  <a:cubicBezTo>
                    <a:pt x="368" y="752"/>
                    <a:pt x="373" y="736"/>
                    <a:pt x="383" y="725"/>
                  </a:cubicBezTo>
                  <a:cubicBezTo>
                    <a:pt x="389" y="717"/>
                    <a:pt x="399" y="712"/>
                    <a:pt x="408" y="712"/>
                  </a:cubicBezTo>
                  <a:cubicBezTo>
                    <a:pt x="419" y="712"/>
                    <a:pt x="428" y="717"/>
                    <a:pt x="435" y="725"/>
                  </a:cubicBezTo>
                  <a:cubicBezTo>
                    <a:pt x="435" y="662"/>
                    <a:pt x="435" y="662"/>
                    <a:pt x="435" y="662"/>
                  </a:cubicBezTo>
                  <a:cubicBezTo>
                    <a:pt x="435" y="658"/>
                    <a:pt x="431" y="654"/>
                    <a:pt x="427" y="654"/>
                  </a:cubicBezTo>
                  <a:cubicBezTo>
                    <a:pt x="318" y="645"/>
                    <a:pt x="233" y="554"/>
                    <a:pt x="233" y="444"/>
                  </a:cubicBezTo>
                  <a:cubicBezTo>
                    <a:pt x="233" y="333"/>
                    <a:pt x="318" y="242"/>
                    <a:pt x="427" y="233"/>
                  </a:cubicBezTo>
                  <a:cubicBezTo>
                    <a:pt x="431" y="233"/>
                    <a:pt x="434" y="230"/>
                    <a:pt x="434" y="225"/>
                  </a:cubicBezTo>
                  <a:cubicBezTo>
                    <a:pt x="434" y="143"/>
                    <a:pt x="434" y="143"/>
                    <a:pt x="434" y="143"/>
                  </a:cubicBezTo>
                  <a:cubicBezTo>
                    <a:pt x="435" y="141"/>
                    <a:pt x="438" y="138"/>
                    <a:pt x="441" y="138"/>
                  </a:cubicBezTo>
                  <a:cubicBezTo>
                    <a:pt x="448" y="137"/>
                    <a:pt x="454" y="137"/>
                    <a:pt x="458" y="143"/>
                  </a:cubicBezTo>
                  <a:cubicBezTo>
                    <a:pt x="460" y="147"/>
                    <a:pt x="462" y="151"/>
                    <a:pt x="464" y="155"/>
                  </a:cubicBezTo>
                  <a:cubicBezTo>
                    <a:pt x="471" y="165"/>
                    <a:pt x="483" y="165"/>
                    <a:pt x="491" y="156"/>
                  </a:cubicBezTo>
                  <a:cubicBezTo>
                    <a:pt x="499" y="146"/>
                    <a:pt x="502" y="133"/>
                    <a:pt x="502" y="121"/>
                  </a:cubicBezTo>
                  <a:cubicBezTo>
                    <a:pt x="502" y="109"/>
                    <a:pt x="499" y="95"/>
                    <a:pt x="491" y="86"/>
                  </a:cubicBezTo>
                  <a:cubicBezTo>
                    <a:pt x="483" y="76"/>
                    <a:pt x="471" y="76"/>
                    <a:pt x="464" y="87"/>
                  </a:cubicBezTo>
                  <a:cubicBezTo>
                    <a:pt x="462" y="91"/>
                    <a:pt x="460" y="95"/>
                    <a:pt x="458" y="98"/>
                  </a:cubicBezTo>
                  <a:cubicBezTo>
                    <a:pt x="454" y="104"/>
                    <a:pt x="448" y="104"/>
                    <a:pt x="441" y="104"/>
                  </a:cubicBezTo>
                  <a:cubicBezTo>
                    <a:pt x="438" y="104"/>
                    <a:pt x="435" y="101"/>
                    <a:pt x="434" y="98"/>
                  </a:cubicBezTo>
                  <a:cubicBezTo>
                    <a:pt x="434" y="8"/>
                    <a:pt x="434" y="8"/>
                    <a:pt x="434" y="8"/>
                  </a:cubicBezTo>
                  <a:cubicBezTo>
                    <a:pt x="434" y="4"/>
                    <a:pt x="430" y="0"/>
                    <a:pt x="426" y="0"/>
                  </a:cubicBezTo>
                  <a:cubicBezTo>
                    <a:pt x="189" y="10"/>
                    <a:pt x="0" y="205"/>
                    <a:pt x="0" y="444"/>
                  </a:cubicBezTo>
                  <a:cubicBezTo>
                    <a:pt x="0" y="683"/>
                    <a:pt x="189" y="878"/>
                    <a:pt x="426" y="887"/>
                  </a:cubicBezTo>
                  <a:cubicBezTo>
                    <a:pt x="431" y="887"/>
                    <a:pt x="435" y="884"/>
                    <a:pt x="435" y="879"/>
                  </a:cubicBezTo>
                  <a:lnTo>
                    <a:pt x="435" y="815"/>
                  </a:lnTo>
                  <a:close/>
                </a:path>
              </a:pathLst>
            </a:custGeom>
            <a:grp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lang="en-US" b="1" i="1" kern="1200" dirty="0">
                <a:solidFill>
                  <a:schemeClr val="bg1">
                    <a:lumMod val="10000"/>
                  </a:schemeClr>
                </a:solidFill>
                <a:latin typeface="+mn-lt"/>
                <a:sym typeface="Calibri"/>
              </a:endParaRPr>
            </a:p>
            <a:p>
              <a:pPr marL="0" marR="0" lvl="0" indent="0" algn="l" rtl="0">
                <a:lnSpc>
                  <a:spcPct val="100000"/>
                </a:lnSpc>
                <a:spcBef>
                  <a:spcPts val="0"/>
                </a:spcBef>
                <a:spcAft>
                  <a:spcPts val="0"/>
                </a:spcAft>
                <a:buClr>
                  <a:schemeClr val="dk1"/>
                </a:buClr>
                <a:buSzPts val="1400"/>
                <a:buFont typeface="Calibri"/>
                <a:buNone/>
              </a:pPr>
              <a:endParaRPr lang="en-US" b="1" i="1" kern="1200" dirty="0">
                <a:solidFill>
                  <a:schemeClr val="bg1">
                    <a:lumMod val="10000"/>
                  </a:schemeClr>
                </a:solidFill>
                <a:latin typeface="+mn-lt"/>
                <a:sym typeface="Calibri"/>
              </a:endParaRPr>
            </a:p>
            <a:p>
              <a:pPr marL="0" marR="0" lvl="0" indent="0" algn="l" rtl="0">
                <a:lnSpc>
                  <a:spcPct val="100000"/>
                </a:lnSpc>
                <a:spcBef>
                  <a:spcPts val="0"/>
                </a:spcBef>
                <a:spcAft>
                  <a:spcPts val="0"/>
                </a:spcAft>
                <a:buClr>
                  <a:schemeClr val="dk1"/>
                </a:buClr>
                <a:buSzPts val="1400"/>
                <a:buFont typeface="Calibri"/>
                <a:buNone/>
              </a:pPr>
              <a:endParaRPr lang="en-US" b="1" i="1" kern="1200" dirty="0">
                <a:solidFill>
                  <a:schemeClr val="bg1">
                    <a:lumMod val="10000"/>
                  </a:schemeClr>
                </a:solidFill>
                <a:latin typeface="+mn-lt"/>
                <a:sym typeface="Calibri"/>
              </a:endParaRPr>
            </a:p>
            <a:p>
              <a:pPr marL="0" marR="0" lvl="0" indent="0" algn="l" rtl="0">
                <a:lnSpc>
                  <a:spcPct val="100000"/>
                </a:lnSpc>
                <a:spcBef>
                  <a:spcPts val="0"/>
                </a:spcBef>
                <a:spcAft>
                  <a:spcPts val="0"/>
                </a:spcAft>
                <a:buClr>
                  <a:schemeClr val="dk1"/>
                </a:buClr>
                <a:buSzPts val="1400"/>
                <a:buFont typeface="Calibri"/>
                <a:buNone/>
              </a:pPr>
              <a:r>
                <a:rPr lang="en-US" i="1" kern="1200" dirty="0">
                  <a:solidFill>
                    <a:schemeClr val="bg1">
                      <a:lumMod val="10000"/>
                    </a:schemeClr>
                  </a:solidFill>
                  <a:latin typeface="+mn-lt"/>
                  <a:sym typeface="Calibri"/>
                </a:rPr>
                <a:t>Giao </a:t>
              </a:r>
              <a:r>
                <a:rPr lang="en-US" i="1" kern="1200" dirty="0" err="1">
                  <a:solidFill>
                    <a:schemeClr val="bg1">
                      <a:lumMod val="10000"/>
                    </a:schemeClr>
                  </a:solidFill>
                  <a:latin typeface="+mn-lt"/>
                  <a:sym typeface="Calibri"/>
                </a:rPr>
                <a:t>tiếp</a:t>
              </a:r>
              <a:endParaRPr lang="en-US" i="1" kern="1200" dirty="0">
                <a:solidFill>
                  <a:schemeClr val="bg1">
                    <a:lumMod val="10000"/>
                  </a:schemeClr>
                </a:solidFill>
                <a:latin typeface="+mn-lt"/>
                <a:sym typeface="Calibri"/>
              </a:endParaRPr>
            </a:p>
            <a:p>
              <a:pPr marL="0" marR="0" lvl="0" indent="0" algn="l" rtl="0">
                <a:lnSpc>
                  <a:spcPct val="100000"/>
                </a:lnSpc>
                <a:spcBef>
                  <a:spcPts val="0"/>
                </a:spcBef>
                <a:spcAft>
                  <a:spcPts val="0"/>
                </a:spcAft>
                <a:buClr>
                  <a:schemeClr val="dk1"/>
                </a:buClr>
                <a:buSzPts val="1400"/>
                <a:buFont typeface="Calibri"/>
                <a:buNone/>
              </a:pPr>
              <a:r>
                <a:rPr lang="en-US" i="1" kern="1200" dirty="0">
                  <a:solidFill>
                    <a:schemeClr val="bg1">
                      <a:lumMod val="10000"/>
                    </a:schemeClr>
                  </a:solidFill>
                  <a:latin typeface="+mn-lt"/>
                  <a:sym typeface="Calibri"/>
                </a:rPr>
                <a:t>Phi </a:t>
              </a:r>
            </a:p>
            <a:p>
              <a:pPr marL="0" marR="0" lvl="0" indent="0" algn="l" rtl="0">
                <a:lnSpc>
                  <a:spcPct val="100000"/>
                </a:lnSpc>
                <a:spcBef>
                  <a:spcPts val="0"/>
                </a:spcBef>
                <a:spcAft>
                  <a:spcPts val="0"/>
                </a:spcAft>
                <a:buClr>
                  <a:schemeClr val="dk1"/>
                </a:buClr>
                <a:buSzPts val="1400"/>
                <a:buFont typeface="Calibri"/>
                <a:buNone/>
              </a:pPr>
              <a:r>
                <a:rPr lang="en-US" i="1" kern="1200" dirty="0" err="1">
                  <a:solidFill>
                    <a:schemeClr val="bg1">
                      <a:lumMod val="10000"/>
                    </a:schemeClr>
                  </a:solidFill>
                  <a:latin typeface="+mn-lt"/>
                  <a:sym typeface="Calibri"/>
                </a:rPr>
                <a:t>Ngôn</a:t>
              </a:r>
              <a:r>
                <a:rPr lang="en-US" i="1" kern="1200" dirty="0">
                  <a:solidFill>
                    <a:schemeClr val="bg1">
                      <a:lumMod val="10000"/>
                    </a:schemeClr>
                  </a:solidFill>
                  <a:latin typeface="+mn-lt"/>
                  <a:sym typeface="Calibri"/>
                </a:rPr>
                <a:t> </a:t>
              </a:r>
              <a:r>
                <a:rPr lang="en-US" i="1" kern="1200" dirty="0" err="1">
                  <a:solidFill>
                    <a:schemeClr val="bg1">
                      <a:lumMod val="10000"/>
                    </a:schemeClr>
                  </a:solidFill>
                  <a:latin typeface="+mn-lt"/>
                  <a:sym typeface="Calibri"/>
                </a:rPr>
                <a:t>ngữ</a:t>
              </a:r>
              <a:endParaRPr i="1" kern="1200" dirty="0">
                <a:solidFill>
                  <a:schemeClr val="bg1">
                    <a:lumMod val="10000"/>
                  </a:schemeClr>
                </a:solidFill>
                <a:latin typeface="+mn-lt"/>
                <a:sym typeface="Calibri"/>
              </a:endParaRPr>
            </a:p>
          </p:txBody>
        </p:sp>
        <p:sp>
          <p:nvSpPr>
            <p:cNvPr id="12" name="Google Shape;1108;p41">
              <a:extLst>
                <a:ext uri="{FF2B5EF4-FFF2-40B4-BE49-F238E27FC236}">
                  <a16:creationId xmlns:a16="http://schemas.microsoft.com/office/drawing/2014/main" id="{41FEB1FA-1E2B-5C28-04B8-A807CEC92823}"/>
                </a:ext>
              </a:extLst>
            </p:cNvPr>
            <p:cNvSpPr/>
            <p:nvPr/>
          </p:nvSpPr>
          <p:spPr>
            <a:xfrm>
              <a:off x="5837237" y="1439862"/>
              <a:ext cx="2252662" cy="3986211"/>
            </a:xfrm>
            <a:custGeom>
              <a:avLst/>
              <a:gdLst/>
              <a:ahLst/>
              <a:cxnLst/>
              <a:rect l="l" t="t" r="r" b="b"/>
              <a:pathLst>
                <a:path w="502" h="887" extrusionOk="0">
                  <a:moveTo>
                    <a:pt x="67" y="8"/>
                  </a:moveTo>
                  <a:cubicBezTo>
                    <a:pt x="67" y="76"/>
                    <a:pt x="67" y="76"/>
                    <a:pt x="67" y="76"/>
                  </a:cubicBezTo>
                  <a:cubicBezTo>
                    <a:pt x="73" y="68"/>
                    <a:pt x="83" y="63"/>
                    <a:pt x="93" y="63"/>
                  </a:cubicBezTo>
                  <a:cubicBezTo>
                    <a:pt x="103" y="63"/>
                    <a:pt x="112" y="67"/>
                    <a:pt x="119" y="75"/>
                  </a:cubicBezTo>
                  <a:cubicBezTo>
                    <a:pt x="128" y="87"/>
                    <a:pt x="134" y="103"/>
                    <a:pt x="133" y="121"/>
                  </a:cubicBezTo>
                  <a:cubicBezTo>
                    <a:pt x="134" y="139"/>
                    <a:pt x="128" y="155"/>
                    <a:pt x="119" y="166"/>
                  </a:cubicBezTo>
                  <a:cubicBezTo>
                    <a:pt x="112" y="174"/>
                    <a:pt x="103" y="179"/>
                    <a:pt x="93" y="179"/>
                  </a:cubicBezTo>
                  <a:cubicBezTo>
                    <a:pt x="83" y="179"/>
                    <a:pt x="73" y="174"/>
                    <a:pt x="67" y="166"/>
                  </a:cubicBezTo>
                  <a:cubicBezTo>
                    <a:pt x="67" y="225"/>
                    <a:pt x="67" y="225"/>
                    <a:pt x="67" y="225"/>
                  </a:cubicBezTo>
                  <a:cubicBezTo>
                    <a:pt x="67" y="230"/>
                    <a:pt x="70" y="233"/>
                    <a:pt x="75" y="233"/>
                  </a:cubicBezTo>
                  <a:cubicBezTo>
                    <a:pt x="183" y="242"/>
                    <a:pt x="269" y="333"/>
                    <a:pt x="269" y="444"/>
                  </a:cubicBezTo>
                  <a:cubicBezTo>
                    <a:pt x="269" y="554"/>
                    <a:pt x="183" y="645"/>
                    <a:pt x="75" y="654"/>
                  </a:cubicBezTo>
                  <a:cubicBezTo>
                    <a:pt x="71" y="654"/>
                    <a:pt x="67" y="658"/>
                    <a:pt x="67" y="662"/>
                  </a:cubicBezTo>
                  <a:cubicBezTo>
                    <a:pt x="67" y="748"/>
                    <a:pt x="67" y="748"/>
                    <a:pt x="67" y="748"/>
                  </a:cubicBezTo>
                  <a:cubicBezTo>
                    <a:pt x="66" y="751"/>
                    <a:pt x="64" y="754"/>
                    <a:pt x="60" y="754"/>
                  </a:cubicBezTo>
                  <a:cubicBezTo>
                    <a:pt x="54" y="754"/>
                    <a:pt x="48" y="754"/>
                    <a:pt x="44" y="748"/>
                  </a:cubicBezTo>
                  <a:cubicBezTo>
                    <a:pt x="41" y="744"/>
                    <a:pt x="40" y="740"/>
                    <a:pt x="37" y="736"/>
                  </a:cubicBezTo>
                  <a:cubicBezTo>
                    <a:pt x="30" y="726"/>
                    <a:pt x="18" y="726"/>
                    <a:pt x="10" y="736"/>
                  </a:cubicBezTo>
                  <a:cubicBezTo>
                    <a:pt x="3" y="745"/>
                    <a:pt x="0" y="758"/>
                    <a:pt x="0" y="770"/>
                  </a:cubicBezTo>
                  <a:cubicBezTo>
                    <a:pt x="0" y="783"/>
                    <a:pt x="3" y="796"/>
                    <a:pt x="10" y="805"/>
                  </a:cubicBezTo>
                  <a:cubicBezTo>
                    <a:pt x="18" y="815"/>
                    <a:pt x="30" y="815"/>
                    <a:pt x="37" y="804"/>
                  </a:cubicBezTo>
                  <a:cubicBezTo>
                    <a:pt x="40" y="801"/>
                    <a:pt x="41" y="796"/>
                    <a:pt x="44" y="793"/>
                  </a:cubicBezTo>
                  <a:cubicBezTo>
                    <a:pt x="48" y="787"/>
                    <a:pt x="54" y="787"/>
                    <a:pt x="60" y="787"/>
                  </a:cubicBezTo>
                  <a:cubicBezTo>
                    <a:pt x="64" y="787"/>
                    <a:pt x="66" y="790"/>
                    <a:pt x="67" y="793"/>
                  </a:cubicBezTo>
                  <a:cubicBezTo>
                    <a:pt x="67" y="879"/>
                    <a:pt x="67" y="879"/>
                    <a:pt x="67" y="879"/>
                  </a:cubicBezTo>
                  <a:cubicBezTo>
                    <a:pt x="67" y="884"/>
                    <a:pt x="71" y="887"/>
                    <a:pt x="76" y="887"/>
                  </a:cubicBezTo>
                  <a:cubicBezTo>
                    <a:pt x="313" y="878"/>
                    <a:pt x="502" y="683"/>
                    <a:pt x="502" y="444"/>
                  </a:cubicBezTo>
                  <a:cubicBezTo>
                    <a:pt x="502" y="204"/>
                    <a:pt x="312" y="9"/>
                    <a:pt x="75" y="0"/>
                  </a:cubicBezTo>
                  <a:cubicBezTo>
                    <a:pt x="71" y="0"/>
                    <a:pt x="67" y="4"/>
                    <a:pt x="67" y="8"/>
                  </a:cubicBezTo>
                  <a:close/>
                </a:path>
              </a:pathLst>
            </a:custGeom>
            <a:solidFill>
              <a:srgbClr val="FFC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r>
                <a:rPr lang="en-US" sz="1400" b="0" i="0" u="none" strike="noStrike" cap="none" dirty="0">
                  <a:solidFill>
                    <a:schemeClr val="bg1">
                      <a:lumMod val="10000"/>
                    </a:schemeClr>
                  </a:solidFill>
                  <a:latin typeface="+mn-lt"/>
                  <a:ea typeface="Calibri"/>
                  <a:cs typeface="Calibri"/>
                  <a:sym typeface="Calibri"/>
                </a:rPr>
                <a:t>             </a:t>
              </a:r>
              <a:r>
                <a:rPr lang="en-US" i="1" kern="1200" dirty="0">
                  <a:solidFill>
                    <a:schemeClr val="bg1">
                      <a:lumMod val="10000"/>
                    </a:schemeClr>
                  </a:solidFill>
                  <a:latin typeface="+mn-lt"/>
                  <a:sym typeface="Calibri"/>
                </a:rPr>
                <a:t>Giao </a:t>
              </a:r>
              <a:r>
                <a:rPr lang="en-US" i="1" kern="1200" dirty="0" err="1">
                  <a:solidFill>
                    <a:schemeClr val="bg1">
                      <a:lumMod val="10000"/>
                    </a:schemeClr>
                  </a:solidFill>
                  <a:latin typeface="+mn-lt"/>
                  <a:sym typeface="Calibri"/>
                </a:rPr>
                <a:t>tiếp</a:t>
              </a:r>
              <a:endParaRPr lang="en-US" i="1" kern="1200" dirty="0">
                <a:solidFill>
                  <a:schemeClr val="bg1">
                    <a:lumMod val="10000"/>
                  </a:schemeClr>
                </a:solidFill>
                <a:latin typeface="+mn-lt"/>
                <a:sym typeface="Calibri"/>
              </a:endParaRPr>
            </a:p>
            <a:p>
              <a:pPr marL="0" marR="0" lvl="0" indent="0" algn="l" rtl="0">
                <a:lnSpc>
                  <a:spcPct val="100000"/>
                </a:lnSpc>
                <a:spcBef>
                  <a:spcPts val="0"/>
                </a:spcBef>
                <a:spcAft>
                  <a:spcPts val="0"/>
                </a:spcAft>
                <a:buClr>
                  <a:schemeClr val="dk1"/>
                </a:buClr>
                <a:buSzPts val="1400"/>
                <a:buFont typeface="Calibri"/>
                <a:buNone/>
              </a:pPr>
              <a:r>
                <a:rPr lang="en-US" i="1" kern="1200" dirty="0" err="1">
                  <a:solidFill>
                    <a:schemeClr val="bg1">
                      <a:lumMod val="10000"/>
                    </a:schemeClr>
                  </a:solidFill>
                  <a:latin typeface="+mn-lt"/>
                  <a:sym typeface="Calibri"/>
                </a:rPr>
                <a:t>ngôn</a:t>
              </a:r>
              <a:r>
                <a:rPr lang="en-US" i="1" kern="1200" dirty="0">
                  <a:solidFill>
                    <a:schemeClr val="bg1">
                      <a:lumMod val="10000"/>
                    </a:schemeClr>
                  </a:solidFill>
                  <a:latin typeface="+mn-lt"/>
                  <a:sym typeface="Calibri"/>
                </a:rPr>
                <a:t> </a:t>
              </a:r>
              <a:r>
                <a:rPr lang="en-US" i="1" kern="1200" dirty="0" err="1">
                  <a:solidFill>
                    <a:schemeClr val="bg1">
                      <a:lumMod val="10000"/>
                    </a:schemeClr>
                  </a:solidFill>
                  <a:latin typeface="+mn-lt"/>
                  <a:sym typeface="Calibri"/>
                </a:rPr>
                <a:t>ngữ</a:t>
              </a:r>
              <a:endParaRPr i="1" kern="1200" dirty="0">
                <a:solidFill>
                  <a:schemeClr val="bg1">
                    <a:lumMod val="10000"/>
                  </a:schemeClr>
                </a:solidFill>
                <a:latin typeface="+mn-lt"/>
                <a:sym typeface="Calibri"/>
              </a:endParaRPr>
            </a:p>
          </p:txBody>
        </p:sp>
      </p:grpSp>
      <p:sp>
        <p:nvSpPr>
          <p:cNvPr id="15" name="TextBox 14">
            <a:extLst>
              <a:ext uri="{FF2B5EF4-FFF2-40B4-BE49-F238E27FC236}">
                <a16:creationId xmlns:a16="http://schemas.microsoft.com/office/drawing/2014/main" id="{E5A40AE8-DF4F-C4B0-92D2-4F56D5A151E0}"/>
              </a:ext>
            </a:extLst>
          </p:cNvPr>
          <p:cNvSpPr txBox="1"/>
          <p:nvPr/>
        </p:nvSpPr>
        <p:spPr>
          <a:xfrm>
            <a:off x="890547" y="388331"/>
            <a:ext cx="5142755" cy="400110"/>
          </a:xfrm>
          <a:prstGeom prst="rect">
            <a:avLst/>
          </a:prstGeom>
          <a:noFill/>
        </p:spPr>
        <p:txBody>
          <a:bodyPr wrap="none" rtlCol="0">
            <a:spAutoFit/>
          </a:bodyPr>
          <a:lstStyle/>
          <a:p>
            <a:r>
              <a:rPr lang="en-VN" sz="2000" b="1" i="1" kern="1200" dirty="0">
                <a:solidFill>
                  <a:schemeClr val="bg1">
                    <a:lumMod val="10000"/>
                  </a:schemeClr>
                </a:solidFill>
                <a:latin typeface="Arial" panose="020B0604020202020204" pitchFamily="34" charset="0"/>
                <a:cs typeface="Arial" panose="020B0604020202020204" pitchFamily="34" charset="0"/>
              </a:rPr>
              <a:t>Các loại giao tiếp/ phương thức giao tiếp</a:t>
            </a:r>
          </a:p>
        </p:txBody>
      </p:sp>
      <p:grpSp>
        <p:nvGrpSpPr>
          <p:cNvPr id="16" name="Google Shape;1358;p41">
            <a:extLst>
              <a:ext uri="{FF2B5EF4-FFF2-40B4-BE49-F238E27FC236}">
                <a16:creationId xmlns:a16="http://schemas.microsoft.com/office/drawing/2014/main" id="{D201045D-8187-9C2A-5B59-40A80474F157}"/>
              </a:ext>
            </a:extLst>
          </p:cNvPr>
          <p:cNvGrpSpPr/>
          <p:nvPr/>
        </p:nvGrpSpPr>
        <p:grpSpPr>
          <a:xfrm>
            <a:off x="418426" y="2751151"/>
            <a:ext cx="2801851" cy="2004018"/>
            <a:chOff x="1147762" y="1131887"/>
            <a:chExt cx="5137150" cy="4619626"/>
          </a:xfrm>
        </p:grpSpPr>
        <p:sp>
          <p:nvSpPr>
            <p:cNvPr id="17" name="Google Shape;1359;p41">
              <a:extLst>
                <a:ext uri="{FF2B5EF4-FFF2-40B4-BE49-F238E27FC236}">
                  <a16:creationId xmlns:a16="http://schemas.microsoft.com/office/drawing/2014/main" id="{0E5CED6C-7AEA-B985-9170-A5D223518C29}"/>
                </a:ext>
              </a:extLst>
            </p:cNvPr>
            <p:cNvSpPr/>
            <p:nvPr/>
          </p:nvSpPr>
          <p:spPr>
            <a:xfrm>
              <a:off x="1147762" y="2425700"/>
              <a:ext cx="2505075" cy="3325813"/>
            </a:xfrm>
            <a:custGeom>
              <a:avLst/>
              <a:gdLst/>
              <a:ahLst/>
              <a:cxnLst/>
              <a:rect l="l" t="t" r="r" b="b"/>
              <a:pathLst>
                <a:path w="566" h="751" extrusionOk="0">
                  <a:moveTo>
                    <a:pt x="62" y="403"/>
                  </a:moveTo>
                  <a:cubicBezTo>
                    <a:pt x="9" y="496"/>
                    <a:pt x="0" y="584"/>
                    <a:pt x="37" y="649"/>
                  </a:cubicBezTo>
                  <a:cubicBezTo>
                    <a:pt x="75" y="715"/>
                    <a:pt x="155" y="751"/>
                    <a:pt x="263" y="751"/>
                  </a:cubicBezTo>
                  <a:cubicBezTo>
                    <a:pt x="449" y="751"/>
                    <a:pt x="449" y="751"/>
                    <a:pt x="449" y="751"/>
                  </a:cubicBezTo>
                  <a:cubicBezTo>
                    <a:pt x="413" y="733"/>
                    <a:pt x="375" y="705"/>
                    <a:pt x="351" y="658"/>
                  </a:cubicBezTo>
                  <a:cubicBezTo>
                    <a:pt x="303" y="564"/>
                    <a:pt x="352" y="480"/>
                    <a:pt x="355" y="476"/>
                  </a:cubicBezTo>
                  <a:cubicBezTo>
                    <a:pt x="370" y="450"/>
                    <a:pt x="370" y="450"/>
                    <a:pt x="370" y="450"/>
                  </a:cubicBezTo>
                  <a:cubicBezTo>
                    <a:pt x="566" y="111"/>
                    <a:pt x="566" y="111"/>
                    <a:pt x="566" y="111"/>
                  </a:cubicBezTo>
                  <a:cubicBezTo>
                    <a:pt x="555" y="92"/>
                    <a:pt x="555" y="92"/>
                    <a:pt x="555" y="92"/>
                  </a:cubicBezTo>
                  <a:cubicBezTo>
                    <a:pt x="550" y="85"/>
                    <a:pt x="487" y="0"/>
                    <a:pt x="398" y="0"/>
                  </a:cubicBezTo>
                  <a:cubicBezTo>
                    <a:pt x="310" y="0"/>
                    <a:pt x="265" y="55"/>
                    <a:pt x="249" y="79"/>
                  </a:cubicBezTo>
                  <a:lnTo>
                    <a:pt x="62" y="403"/>
                  </a:lnTo>
                  <a:close/>
                </a:path>
              </a:pathLst>
            </a:custGeom>
            <a:solidFill>
              <a:srgbClr val="F8EC9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lang="en-US" sz="1400" b="0" i="1" u="none" strike="noStrike" cap="none" dirty="0">
                <a:solidFill>
                  <a:schemeClr val="bg1">
                    <a:lumMod val="10000"/>
                  </a:schemeClr>
                </a:solidFill>
                <a:latin typeface="+mn-lt"/>
                <a:ea typeface="Calibri"/>
                <a:cs typeface="Arial" panose="020B0604020202020204" pitchFamily="34" charset="0"/>
                <a:sym typeface="Calibri"/>
              </a:endParaRPr>
            </a:p>
            <a:p>
              <a:pPr marL="0" marR="0" lvl="0" indent="0" algn="l" rtl="0">
                <a:lnSpc>
                  <a:spcPct val="100000"/>
                </a:lnSpc>
                <a:spcBef>
                  <a:spcPts val="0"/>
                </a:spcBef>
                <a:spcAft>
                  <a:spcPts val="0"/>
                </a:spcAft>
                <a:buClr>
                  <a:schemeClr val="dk1"/>
                </a:buClr>
                <a:buSzPts val="1400"/>
                <a:buFont typeface="Calibri"/>
                <a:buNone/>
              </a:pPr>
              <a:r>
                <a:rPr lang="en-US" sz="1400" b="0" i="1" u="none" strike="noStrike" cap="none" dirty="0" err="1">
                  <a:solidFill>
                    <a:schemeClr val="bg1">
                      <a:lumMod val="10000"/>
                    </a:schemeClr>
                  </a:solidFill>
                  <a:latin typeface="+mn-lt"/>
                  <a:ea typeface="Calibri"/>
                  <a:cs typeface="Arial" panose="020B0604020202020204" pitchFamily="34" charset="0"/>
                  <a:sym typeface="Calibri"/>
                </a:rPr>
                <a:t>Văn</a:t>
              </a:r>
              <a:r>
                <a:rPr lang="en-US" sz="1400" b="0" i="1" u="none" strike="noStrike" cap="none" dirty="0">
                  <a:solidFill>
                    <a:schemeClr val="bg1">
                      <a:lumMod val="10000"/>
                    </a:schemeClr>
                  </a:solidFill>
                  <a:latin typeface="+mn-lt"/>
                  <a:ea typeface="Calibri"/>
                  <a:cs typeface="Arial" panose="020B0604020202020204" pitchFamily="34" charset="0"/>
                  <a:sym typeface="Calibri"/>
                </a:rPr>
                <a:t> </a:t>
              </a:r>
              <a:r>
                <a:rPr lang="en-US" sz="1400" b="0" i="1" u="none" strike="noStrike" cap="none" dirty="0" err="1">
                  <a:solidFill>
                    <a:schemeClr val="bg1">
                      <a:lumMod val="10000"/>
                    </a:schemeClr>
                  </a:solidFill>
                  <a:latin typeface="+mn-lt"/>
                  <a:ea typeface="Calibri"/>
                  <a:cs typeface="Arial" panose="020B0604020202020204" pitchFamily="34" charset="0"/>
                  <a:sym typeface="Calibri"/>
                </a:rPr>
                <a:t>bản</a:t>
              </a:r>
              <a:r>
                <a:rPr lang="en-US" sz="1400" b="0" i="1" u="none" strike="noStrike" cap="none" dirty="0">
                  <a:solidFill>
                    <a:schemeClr val="bg1">
                      <a:lumMod val="10000"/>
                    </a:schemeClr>
                  </a:solidFill>
                  <a:latin typeface="+mn-lt"/>
                  <a:ea typeface="Calibri"/>
                  <a:cs typeface="Arial" panose="020B0604020202020204" pitchFamily="34" charset="0"/>
                  <a:sym typeface="Calibri"/>
                </a:rPr>
                <a:t>/ </a:t>
              </a:r>
              <a:r>
                <a:rPr lang="en-US" sz="1400" b="0" i="1" u="none" strike="noStrike" cap="none" dirty="0" err="1">
                  <a:solidFill>
                    <a:schemeClr val="bg1">
                      <a:lumMod val="10000"/>
                    </a:schemeClr>
                  </a:solidFill>
                  <a:latin typeface="+mn-lt"/>
                  <a:ea typeface="Calibri"/>
                  <a:cs typeface="Arial" panose="020B0604020202020204" pitchFamily="34" charset="0"/>
                  <a:sym typeface="Calibri"/>
                </a:rPr>
                <a:t>Hình</a:t>
              </a:r>
              <a:r>
                <a:rPr lang="en-US" sz="1400" b="0" i="1" u="none" strike="noStrike" cap="none" dirty="0">
                  <a:solidFill>
                    <a:schemeClr val="bg1">
                      <a:lumMod val="10000"/>
                    </a:schemeClr>
                  </a:solidFill>
                  <a:latin typeface="+mn-lt"/>
                  <a:ea typeface="Calibri"/>
                  <a:cs typeface="Arial" panose="020B0604020202020204" pitchFamily="34" charset="0"/>
                  <a:sym typeface="Calibri"/>
                </a:rPr>
                <a:t> </a:t>
              </a:r>
              <a:r>
                <a:rPr lang="en-US" sz="1400" b="0" i="1" u="none" strike="noStrike" cap="none" dirty="0" err="1">
                  <a:solidFill>
                    <a:schemeClr val="bg1">
                      <a:lumMod val="10000"/>
                    </a:schemeClr>
                  </a:solidFill>
                  <a:latin typeface="+mn-lt"/>
                  <a:ea typeface="Calibri"/>
                  <a:cs typeface="Arial" panose="020B0604020202020204" pitchFamily="34" charset="0"/>
                  <a:sym typeface="Calibri"/>
                </a:rPr>
                <a:t>ảnh</a:t>
              </a:r>
              <a:endParaRPr sz="1400" b="0" i="1" u="none" strike="noStrike" cap="none" dirty="0">
                <a:solidFill>
                  <a:schemeClr val="bg1">
                    <a:lumMod val="10000"/>
                  </a:schemeClr>
                </a:solidFill>
                <a:latin typeface="+mn-lt"/>
                <a:ea typeface="Calibri"/>
                <a:cs typeface="Arial" panose="020B0604020202020204" pitchFamily="34" charset="0"/>
                <a:sym typeface="Calibri"/>
              </a:endParaRPr>
            </a:p>
          </p:txBody>
        </p:sp>
        <p:sp>
          <p:nvSpPr>
            <p:cNvPr id="18" name="Google Shape;1360;p41">
              <a:extLst>
                <a:ext uri="{FF2B5EF4-FFF2-40B4-BE49-F238E27FC236}">
                  <a16:creationId xmlns:a16="http://schemas.microsoft.com/office/drawing/2014/main" id="{D9A3D2B0-B186-FD65-EC4E-CCB9A17A1237}"/>
                </a:ext>
              </a:extLst>
            </p:cNvPr>
            <p:cNvSpPr/>
            <p:nvPr/>
          </p:nvSpPr>
          <p:spPr>
            <a:xfrm>
              <a:off x="2617787" y="3519487"/>
              <a:ext cx="3667125" cy="2232024"/>
            </a:xfrm>
            <a:custGeom>
              <a:avLst/>
              <a:gdLst/>
              <a:ahLst/>
              <a:cxnLst/>
              <a:rect l="l" t="t" r="r" b="b"/>
              <a:pathLst>
                <a:path w="829" h="504" extrusionOk="0">
                  <a:moveTo>
                    <a:pt x="766" y="156"/>
                  </a:moveTo>
                  <a:cubicBezTo>
                    <a:pt x="676" y="0"/>
                    <a:pt x="676" y="0"/>
                    <a:pt x="676" y="0"/>
                  </a:cubicBezTo>
                  <a:cubicBezTo>
                    <a:pt x="680" y="40"/>
                    <a:pt x="676" y="87"/>
                    <a:pt x="651" y="131"/>
                  </a:cubicBezTo>
                  <a:cubicBezTo>
                    <a:pt x="600" y="220"/>
                    <a:pt x="492" y="222"/>
                    <a:pt x="479" y="222"/>
                  </a:cubicBezTo>
                  <a:cubicBezTo>
                    <a:pt x="479" y="222"/>
                    <a:pt x="479" y="222"/>
                    <a:pt x="479" y="222"/>
                  </a:cubicBezTo>
                  <a:cubicBezTo>
                    <a:pt x="448" y="222"/>
                    <a:pt x="448" y="222"/>
                    <a:pt x="448" y="222"/>
                  </a:cubicBezTo>
                  <a:cubicBezTo>
                    <a:pt x="57" y="222"/>
                    <a:pt x="57" y="222"/>
                    <a:pt x="57" y="222"/>
                  </a:cubicBezTo>
                  <a:cubicBezTo>
                    <a:pt x="45" y="242"/>
                    <a:pt x="45" y="242"/>
                    <a:pt x="45" y="242"/>
                  </a:cubicBezTo>
                  <a:cubicBezTo>
                    <a:pt x="43" y="246"/>
                    <a:pt x="0" y="318"/>
                    <a:pt x="42" y="399"/>
                  </a:cubicBezTo>
                  <a:cubicBezTo>
                    <a:pt x="91" y="495"/>
                    <a:pt x="209" y="503"/>
                    <a:pt x="216" y="504"/>
                  </a:cubicBezTo>
                  <a:cubicBezTo>
                    <a:pt x="566" y="504"/>
                    <a:pt x="566" y="504"/>
                    <a:pt x="566" y="504"/>
                  </a:cubicBezTo>
                  <a:cubicBezTo>
                    <a:pt x="674" y="504"/>
                    <a:pt x="754" y="468"/>
                    <a:pt x="792" y="402"/>
                  </a:cubicBezTo>
                  <a:cubicBezTo>
                    <a:pt x="829" y="337"/>
                    <a:pt x="820" y="249"/>
                    <a:pt x="766" y="156"/>
                  </a:cubicBezTo>
                  <a:close/>
                </a:path>
              </a:pathLst>
            </a:custGeom>
            <a:solidFill>
              <a:srgbClr val="A9D3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lang="en-US" sz="1400" b="0" i="0" u="none" strike="noStrike" cap="none" dirty="0">
                <a:solidFill>
                  <a:schemeClr val="bg1">
                    <a:lumMod val="10000"/>
                  </a:schemeClr>
                </a:solidFill>
                <a:latin typeface="+mn-lt"/>
                <a:ea typeface="Calibri"/>
                <a:cs typeface="Calibri"/>
                <a:sym typeface="Calibri"/>
              </a:endParaRPr>
            </a:p>
            <a:p>
              <a:pPr marL="0" marR="0" lvl="0" indent="0" algn="l" rtl="0">
                <a:lnSpc>
                  <a:spcPct val="100000"/>
                </a:lnSpc>
                <a:spcBef>
                  <a:spcPts val="0"/>
                </a:spcBef>
                <a:spcAft>
                  <a:spcPts val="0"/>
                </a:spcAft>
                <a:buClr>
                  <a:schemeClr val="dk1"/>
                </a:buClr>
                <a:buSzPts val="1400"/>
                <a:buFont typeface="Calibri"/>
                <a:buNone/>
              </a:pPr>
              <a:endParaRPr lang="en-US" dirty="0">
                <a:solidFill>
                  <a:schemeClr val="bg1">
                    <a:lumMod val="10000"/>
                  </a:schemeClr>
                </a:solidFill>
                <a:latin typeface="+mn-lt"/>
                <a:ea typeface="Calibri"/>
                <a:cs typeface="Calibri"/>
                <a:sym typeface="Calibri"/>
              </a:endParaRPr>
            </a:p>
            <a:p>
              <a:pPr marL="0" marR="0" lvl="0" indent="0" algn="l" rtl="0">
                <a:lnSpc>
                  <a:spcPct val="100000"/>
                </a:lnSpc>
                <a:spcBef>
                  <a:spcPts val="0"/>
                </a:spcBef>
                <a:spcAft>
                  <a:spcPts val="0"/>
                </a:spcAft>
                <a:buClr>
                  <a:schemeClr val="dk1"/>
                </a:buClr>
                <a:buSzPts val="1400"/>
                <a:buFont typeface="Calibri"/>
                <a:buNone/>
              </a:pPr>
              <a:r>
                <a:rPr lang="en-US" sz="1400" b="0" i="0" u="none" strike="noStrike" cap="none" dirty="0">
                  <a:solidFill>
                    <a:schemeClr val="bg1">
                      <a:lumMod val="10000"/>
                    </a:schemeClr>
                  </a:solidFill>
                  <a:latin typeface="+mn-lt"/>
                  <a:ea typeface="Calibri"/>
                  <a:cs typeface="Calibri"/>
                  <a:sym typeface="Calibri"/>
                </a:rPr>
                <a:t>Phi </a:t>
              </a:r>
              <a:r>
                <a:rPr lang="en-US" sz="1400" b="0" i="0" u="none" strike="noStrike" cap="none" dirty="0" err="1">
                  <a:solidFill>
                    <a:schemeClr val="bg1">
                      <a:lumMod val="10000"/>
                    </a:schemeClr>
                  </a:solidFill>
                  <a:latin typeface="+mn-lt"/>
                  <a:ea typeface="Calibri"/>
                  <a:cs typeface="Calibri"/>
                  <a:sym typeface="Calibri"/>
                </a:rPr>
                <a:t>ngôn</a:t>
              </a:r>
              <a:r>
                <a:rPr lang="en-US" sz="1400" b="0" i="0" u="none" strike="noStrike" cap="none" dirty="0">
                  <a:solidFill>
                    <a:schemeClr val="bg1">
                      <a:lumMod val="10000"/>
                    </a:schemeClr>
                  </a:solidFill>
                  <a:latin typeface="+mn-lt"/>
                  <a:ea typeface="Calibri"/>
                  <a:cs typeface="Calibri"/>
                  <a:sym typeface="Calibri"/>
                </a:rPr>
                <a:t> </a:t>
              </a:r>
              <a:r>
                <a:rPr lang="en-US" sz="1400" b="0" i="0" u="none" strike="noStrike" cap="none" dirty="0" err="1">
                  <a:solidFill>
                    <a:schemeClr val="bg1">
                      <a:lumMod val="10000"/>
                    </a:schemeClr>
                  </a:solidFill>
                  <a:latin typeface="+mn-lt"/>
                  <a:ea typeface="Calibri"/>
                  <a:cs typeface="Calibri"/>
                  <a:sym typeface="Calibri"/>
                </a:rPr>
                <a:t>ngữ</a:t>
              </a:r>
              <a:endParaRPr sz="1400" b="0" i="0" u="none" strike="noStrike" cap="none" dirty="0">
                <a:solidFill>
                  <a:schemeClr val="bg1">
                    <a:lumMod val="10000"/>
                  </a:schemeClr>
                </a:solidFill>
                <a:latin typeface="+mn-lt"/>
                <a:ea typeface="Calibri"/>
                <a:cs typeface="Calibri"/>
                <a:sym typeface="Calibri"/>
              </a:endParaRPr>
            </a:p>
          </p:txBody>
        </p:sp>
        <p:sp>
          <p:nvSpPr>
            <p:cNvPr id="19" name="Google Shape;1361;p41">
              <a:extLst>
                <a:ext uri="{FF2B5EF4-FFF2-40B4-BE49-F238E27FC236}">
                  <a16:creationId xmlns:a16="http://schemas.microsoft.com/office/drawing/2014/main" id="{553F825A-C9ED-383A-73CC-60C755CF83C8}"/>
                </a:ext>
              </a:extLst>
            </p:cNvPr>
            <p:cNvSpPr/>
            <p:nvPr/>
          </p:nvSpPr>
          <p:spPr>
            <a:xfrm>
              <a:off x="2449512" y="1131887"/>
              <a:ext cx="3167061" cy="3259137"/>
            </a:xfrm>
            <a:custGeom>
              <a:avLst/>
              <a:gdLst/>
              <a:ahLst/>
              <a:cxnLst/>
              <a:rect l="l" t="t" r="r" b="b"/>
              <a:pathLst>
                <a:path w="716" h="736" extrusionOk="0">
                  <a:moveTo>
                    <a:pt x="487" y="145"/>
                  </a:moveTo>
                  <a:cubicBezTo>
                    <a:pt x="433" y="52"/>
                    <a:pt x="362" y="0"/>
                    <a:pt x="286" y="0"/>
                  </a:cubicBezTo>
                  <a:cubicBezTo>
                    <a:pt x="211" y="0"/>
                    <a:pt x="140" y="52"/>
                    <a:pt x="86" y="145"/>
                  </a:cubicBezTo>
                  <a:cubicBezTo>
                    <a:pt x="0" y="294"/>
                    <a:pt x="0" y="294"/>
                    <a:pt x="0" y="294"/>
                  </a:cubicBezTo>
                  <a:cubicBezTo>
                    <a:pt x="27" y="278"/>
                    <a:pt x="61" y="266"/>
                    <a:pt x="104" y="266"/>
                  </a:cubicBezTo>
                  <a:cubicBezTo>
                    <a:pt x="210" y="266"/>
                    <a:pt x="279" y="365"/>
                    <a:pt x="282" y="370"/>
                  </a:cubicBezTo>
                  <a:cubicBezTo>
                    <a:pt x="283" y="371"/>
                    <a:pt x="283" y="371"/>
                    <a:pt x="283" y="371"/>
                  </a:cubicBezTo>
                  <a:cubicBezTo>
                    <a:pt x="293" y="390"/>
                    <a:pt x="293" y="390"/>
                    <a:pt x="293" y="390"/>
                  </a:cubicBezTo>
                  <a:cubicBezTo>
                    <a:pt x="298" y="397"/>
                    <a:pt x="298" y="397"/>
                    <a:pt x="298" y="397"/>
                  </a:cubicBezTo>
                  <a:cubicBezTo>
                    <a:pt x="493" y="736"/>
                    <a:pt x="493" y="736"/>
                    <a:pt x="493" y="736"/>
                  </a:cubicBezTo>
                  <a:cubicBezTo>
                    <a:pt x="517" y="736"/>
                    <a:pt x="517" y="736"/>
                    <a:pt x="517" y="736"/>
                  </a:cubicBezTo>
                  <a:cubicBezTo>
                    <a:pt x="517" y="736"/>
                    <a:pt x="517" y="736"/>
                    <a:pt x="517" y="736"/>
                  </a:cubicBezTo>
                  <a:cubicBezTo>
                    <a:pt x="522" y="736"/>
                    <a:pt x="622" y="735"/>
                    <a:pt x="667" y="657"/>
                  </a:cubicBezTo>
                  <a:cubicBezTo>
                    <a:pt x="716" y="573"/>
                    <a:pt x="672" y="467"/>
                    <a:pt x="668" y="459"/>
                  </a:cubicBezTo>
                  <a:lnTo>
                    <a:pt x="487" y="145"/>
                  </a:lnTo>
                  <a:close/>
                </a:path>
              </a:pathLst>
            </a:custGeom>
            <a:solidFill>
              <a:srgbClr val="BFA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lang="en-US" i="1" dirty="0">
                <a:solidFill>
                  <a:schemeClr val="bg1">
                    <a:lumMod val="10000"/>
                  </a:schemeClr>
                </a:solidFill>
                <a:latin typeface="+mn-lt"/>
                <a:ea typeface="Calibri"/>
                <a:cs typeface="Calibri"/>
                <a:sym typeface="Calibri"/>
              </a:endParaRPr>
            </a:p>
            <a:p>
              <a:pPr marL="0" marR="0" lvl="0" indent="0" algn="l" rtl="0">
                <a:lnSpc>
                  <a:spcPct val="100000"/>
                </a:lnSpc>
                <a:spcBef>
                  <a:spcPts val="0"/>
                </a:spcBef>
                <a:spcAft>
                  <a:spcPts val="0"/>
                </a:spcAft>
                <a:buClr>
                  <a:schemeClr val="dk1"/>
                </a:buClr>
                <a:buSzPts val="1400"/>
                <a:buFont typeface="Calibri"/>
                <a:buNone/>
              </a:pPr>
              <a:r>
                <a:rPr lang="en-US" i="1" dirty="0" err="1">
                  <a:solidFill>
                    <a:schemeClr val="bg1">
                      <a:lumMod val="10000"/>
                    </a:schemeClr>
                  </a:solidFill>
                  <a:latin typeface="+mn-lt"/>
                  <a:ea typeface="Calibri"/>
                  <a:cs typeface="Calibri"/>
                  <a:sym typeface="Calibri"/>
                </a:rPr>
                <a:t>Ngôn</a:t>
              </a:r>
              <a:r>
                <a:rPr lang="en-US" i="1" dirty="0">
                  <a:solidFill>
                    <a:schemeClr val="bg1">
                      <a:lumMod val="10000"/>
                    </a:schemeClr>
                  </a:solidFill>
                  <a:latin typeface="+mn-lt"/>
                  <a:ea typeface="Calibri"/>
                  <a:cs typeface="Calibri"/>
                  <a:sym typeface="Calibri"/>
                </a:rPr>
                <a:t> </a:t>
              </a:r>
              <a:r>
                <a:rPr lang="en-US" i="1" kern="1200" dirty="0" err="1">
                  <a:solidFill>
                    <a:schemeClr val="bg1">
                      <a:lumMod val="10000"/>
                    </a:schemeClr>
                  </a:solidFill>
                  <a:latin typeface="+mn-lt"/>
                  <a:sym typeface="Calibri"/>
                </a:rPr>
                <a:t>ngữ</a:t>
              </a:r>
              <a:endParaRPr i="1" kern="1200" dirty="0">
                <a:solidFill>
                  <a:schemeClr val="bg1">
                    <a:lumMod val="10000"/>
                  </a:schemeClr>
                </a:solidFill>
                <a:latin typeface="+mn-lt"/>
                <a:sym typeface="Calibri"/>
              </a:endParaRPr>
            </a:p>
          </p:txBody>
        </p:sp>
      </p:grpSp>
    </p:spTree>
    <p:extLst>
      <p:ext uri="{BB962C8B-B14F-4D97-AF65-F5344CB8AC3E}">
        <p14:creationId xmlns:p14="http://schemas.microsoft.com/office/powerpoint/2010/main" val="2796355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a:t>
            </a:fld>
            <a:endParaRPr lang="en"/>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sz="2400" dirty="0">
                <a:latin typeface="+mn-lt"/>
              </a:rPr>
              <a:t>Ý nghĩa và nguyên tắc thực hiện</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167739" y="1017725"/>
            <a:ext cx="8336181" cy="3820313"/>
          </a:xfrm>
        </p:spPr>
        <p:txBody>
          <a:bodyPr/>
          <a:lstStyle/>
          <a:p>
            <a:r>
              <a:rPr lang="en-VN" sz="1800" dirty="0">
                <a:solidFill>
                  <a:schemeClr val="bg1">
                    <a:lumMod val="10000"/>
                  </a:schemeClr>
                </a:solidFill>
                <a:latin typeface="Arial" panose="020B0604020202020204" pitchFamily="34" charset="0"/>
                <a:cs typeface="Arial" panose="020B0604020202020204" pitchFamily="34" charset="0"/>
              </a:rPr>
              <a:t>Âm điệu, ngữ điệu và nhịp độ của giọng nói phụ thuộc vào trạng thái tình cảm của cán bộ QLTH với NB/ người nhà NB </a:t>
            </a:r>
          </a:p>
          <a:p>
            <a:endParaRPr lang="en-VN" sz="1800" dirty="0">
              <a:solidFill>
                <a:schemeClr val="bg1">
                  <a:lumMod val="10000"/>
                </a:schemeClr>
              </a:solidFill>
              <a:latin typeface="Arial" panose="020B0604020202020204" pitchFamily="34" charset="0"/>
              <a:cs typeface="Arial" panose="020B0604020202020204" pitchFamily="34" charset="0"/>
            </a:endParaRPr>
          </a:p>
          <a:p>
            <a:r>
              <a:rPr lang="en-VN" sz="1800" dirty="0">
                <a:solidFill>
                  <a:schemeClr val="bg1">
                    <a:lumMod val="10000"/>
                  </a:schemeClr>
                </a:solidFill>
                <a:latin typeface="Arial" panose="020B0604020202020204" pitchFamily="34" charset="0"/>
                <a:cs typeface="Arial" panose="020B0604020202020204" pitchFamily="34" charset="0"/>
              </a:rPr>
              <a:t>Lưu ý đến trang phục / bề ngoài trong quá trình giao tiếp với NB/người nhà NB ( thông thường bộ phận CTXH có đồng phục riêng để phân biệt với nhân viên y tế, cán bộ của các phòng ban khác).</a:t>
            </a:r>
          </a:p>
          <a:p>
            <a:pPr marL="177800" indent="0">
              <a:buNone/>
            </a:pPr>
            <a:endParaRPr lang="en-VN" sz="1800" dirty="0">
              <a:solidFill>
                <a:schemeClr val="bg1">
                  <a:lumMod val="10000"/>
                </a:schemeClr>
              </a:solidFill>
              <a:latin typeface="Arial" panose="020B0604020202020204" pitchFamily="34" charset="0"/>
              <a:cs typeface="Arial" panose="020B0604020202020204" pitchFamily="34" charset="0"/>
            </a:endParaRPr>
          </a:p>
          <a:p>
            <a:r>
              <a:rPr lang="en-US" sz="1800" dirty="0" err="1">
                <a:solidFill>
                  <a:schemeClr val="bg1">
                    <a:lumMod val="10000"/>
                  </a:schemeClr>
                </a:solidFill>
                <a:latin typeface="Arial" panose="020B0604020202020204" pitchFamily="34" charset="0"/>
                <a:cs typeface="Arial" panose="020B0604020202020204" pitchFamily="34" charset="0"/>
              </a:rPr>
              <a:t>Chuẩn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bị</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địa</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điểm</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không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gian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giao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tiếp</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yên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tĩnh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dễ</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chịu</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tránh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tiếng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ồn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không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khí</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ngột</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ngạt</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thiếu</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ánh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sáng</a:t>
            </a:r>
            <a:r>
              <a:rPr lang="en-US" sz="1800" dirty="0">
                <a:solidFill>
                  <a:schemeClr val="bg1">
                    <a:lumMod val="10000"/>
                  </a:schemeClr>
                </a:solidFill>
                <a:latin typeface="Arial" panose="020B0604020202020204" pitchFamily="34" charset="0"/>
                <a:cs typeface="Arial" panose="020B0604020202020204" pitchFamily="34" charset="0"/>
              </a:rPr>
              <a:t>.</a:t>
            </a:r>
          </a:p>
          <a:p>
            <a:endParaRPr lang="en-VN" sz="1800" dirty="0">
              <a:solidFill>
                <a:schemeClr val="bg1">
                  <a:lumMod val="10000"/>
                </a:schemeClr>
              </a:solidFill>
              <a:latin typeface="Arial" panose="020B0604020202020204" pitchFamily="34" charset="0"/>
              <a:cs typeface="Arial" panose="020B0604020202020204" pitchFamily="34" charset="0"/>
            </a:endParaRPr>
          </a:p>
          <a:p>
            <a:pPr marL="177800" indent="0">
              <a:buNone/>
            </a:pPr>
            <a:endParaRPr lang="en-VN" sz="18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3636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E053E-1CA2-B94C-555D-B7A4FF3ACE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3CD9B2-A301-02BE-461B-16C690B6DC8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a:t>
            </a:fld>
            <a:endParaRPr lang="en"/>
          </a:p>
        </p:txBody>
      </p:sp>
      <p:sp>
        <p:nvSpPr>
          <p:cNvPr id="3" name="Title 2">
            <a:extLst>
              <a:ext uri="{FF2B5EF4-FFF2-40B4-BE49-F238E27FC236}">
                <a16:creationId xmlns:a16="http://schemas.microsoft.com/office/drawing/2014/main" id="{4D5EF88A-5832-CF7A-C95B-F31E336A0792}"/>
              </a:ext>
            </a:extLst>
          </p:cNvPr>
          <p:cNvSpPr>
            <a:spLocks noGrp="1"/>
          </p:cNvSpPr>
          <p:nvPr>
            <p:ph type="title"/>
          </p:nvPr>
        </p:nvSpPr>
        <p:spPr/>
        <p:txBody>
          <a:bodyPr/>
          <a:lstStyle/>
          <a:p>
            <a:r>
              <a:rPr lang="en-VN" sz="2400" dirty="0">
                <a:latin typeface="+mn-lt"/>
              </a:rPr>
              <a:t>Ý nghĩa và nguyên tắc thực hiện</a:t>
            </a:r>
          </a:p>
        </p:txBody>
      </p:sp>
      <p:sp>
        <p:nvSpPr>
          <p:cNvPr id="5" name="TextBox 4">
            <a:extLst>
              <a:ext uri="{FF2B5EF4-FFF2-40B4-BE49-F238E27FC236}">
                <a16:creationId xmlns:a16="http://schemas.microsoft.com/office/drawing/2014/main" id="{9EF831E1-1B6E-2621-1B66-2D2473D26168}"/>
              </a:ext>
            </a:extLst>
          </p:cNvPr>
          <p:cNvSpPr txBox="1"/>
          <p:nvPr/>
        </p:nvSpPr>
        <p:spPr>
          <a:xfrm>
            <a:off x="720000" y="1020310"/>
            <a:ext cx="7926059" cy="3416320"/>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solidFill>
                  <a:schemeClr val="bg1">
                    <a:lumMod val="10000"/>
                  </a:schemeClr>
                </a:solidFill>
                <a:latin typeface="Arial" panose="020B0604020202020204" pitchFamily="34" charset="0"/>
                <a:cs typeface="Arial" panose="020B0604020202020204" pitchFamily="34" charset="0"/>
                <a:sym typeface="Mulish"/>
              </a:rPr>
              <a:t>Lựa</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chọn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thời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điểm</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giao</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tiếp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hợp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lý</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tránh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tiếp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cận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với</a:t>
            </a:r>
            <a:r>
              <a:rPr lang="en-US" sz="1800" dirty="0">
                <a:solidFill>
                  <a:schemeClr val="bg1">
                    <a:lumMod val="10000"/>
                  </a:schemeClr>
                </a:solidFill>
                <a:latin typeface="Arial" panose="020B0604020202020204" pitchFamily="34" charset="0"/>
                <a:cs typeface="Arial" panose="020B0604020202020204" pitchFamily="34" charset="0"/>
                <a:sym typeface="Mulish"/>
              </a:rPr>
              <a:t> NB </a:t>
            </a:r>
            <a:r>
              <a:rPr lang="en-US" sz="1800" dirty="0" err="1">
                <a:solidFill>
                  <a:schemeClr val="bg1">
                    <a:lumMod val="10000"/>
                  </a:schemeClr>
                </a:solidFill>
                <a:latin typeface="Arial" panose="020B0604020202020204" pitchFamily="34" charset="0"/>
                <a:cs typeface="Arial" panose="020B0604020202020204" pitchFamily="34" charset="0"/>
                <a:sym typeface="Mulish"/>
              </a:rPr>
              <a:t>khi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nhân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viên</a:t>
            </a:r>
            <a:r>
              <a:rPr lang="en-US" sz="1800" dirty="0">
                <a:solidFill>
                  <a:schemeClr val="bg1">
                    <a:lumMod val="10000"/>
                  </a:schemeClr>
                </a:solidFill>
                <a:latin typeface="Arial" panose="020B0604020202020204" pitchFamily="34" charset="0"/>
                <a:cs typeface="Arial" panose="020B0604020202020204" pitchFamily="34" charset="0"/>
                <a:sym typeface="Mulish"/>
              </a:rPr>
              <a:t> y </a:t>
            </a:r>
            <a:r>
              <a:rPr lang="en-US" sz="1800" dirty="0" err="1">
                <a:solidFill>
                  <a:schemeClr val="bg1">
                    <a:lumMod val="10000"/>
                  </a:schemeClr>
                </a:solidFill>
                <a:latin typeface="Arial" panose="020B0604020202020204" pitchFamily="34" charset="0"/>
                <a:cs typeface="Arial" panose="020B0604020202020204" pitchFamily="34" charset="0"/>
                <a:sym typeface="Mulish"/>
              </a:rPr>
              <a:t>tế</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đang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điều</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trị</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khi</a:t>
            </a:r>
            <a:r>
              <a:rPr lang="en-US" sz="1800" dirty="0">
                <a:solidFill>
                  <a:schemeClr val="bg1">
                    <a:lumMod val="10000"/>
                  </a:schemeClr>
                </a:solidFill>
                <a:latin typeface="Arial" panose="020B0604020202020204" pitchFamily="34" charset="0"/>
                <a:cs typeface="Arial" panose="020B0604020202020204" pitchFamily="34" charset="0"/>
                <a:sym typeface="Mulish"/>
              </a:rPr>
              <a:t> NB </a:t>
            </a:r>
            <a:r>
              <a:rPr lang="en-US" sz="1800" dirty="0" err="1">
                <a:solidFill>
                  <a:schemeClr val="bg1">
                    <a:lumMod val="10000"/>
                  </a:schemeClr>
                </a:solidFill>
                <a:latin typeface="Arial" panose="020B0604020202020204" pitchFamily="34" charset="0"/>
                <a:cs typeface="Arial" panose="020B0604020202020204" pitchFamily="34" charset="0"/>
                <a:sym typeface="Mulish"/>
              </a:rPr>
              <a:t>không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đảm</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bảo</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về</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sức</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khỏe</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có</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thể</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giao</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tiếp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với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người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nhà</a:t>
            </a:r>
            <a:r>
              <a:rPr lang="en-US" sz="1800" dirty="0">
                <a:solidFill>
                  <a:schemeClr val="bg1">
                    <a:lumMod val="10000"/>
                  </a:schemeClr>
                </a:solidFill>
                <a:latin typeface="Arial" panose="020B0604020202020204" pitchFamily="34" charset="0"/>
                <a:cs typeface="Arial" panose="020B0604020202020204" pitchFamily="34" charset="0"/>
                <a:sym typeface="Mulish"/>
              </a:rPr>
              <a:t> NB).</a:t>
            </a:r>
          </a:p>
          <a:p>
            <a:endParaRPr lang="en-US" sz="1800" dirty="0">
              <a:solidFill>
                <a:schemeClr val="bg1">
                  <a:lumMod val="10000"/>
                </a:schemeClr>
              </a:solidFill>
              <a:latin typeface="Arial" panose="020B0604020202020204" pitchFamily="34" charset="0"/>
              <a:cs typeface="Arial" panose="020B0604020202020204" pitchFamily="34" charset="0"/>
              <a:sym typeface="Mulish"/>
            </a:endParaRPr>
          </a:p>
          <a:p>
            <a:pPr marL="285750" indent="-285750">
              <a:buFont typeface="Arial" panose="020B0604020202020204" pitchFamily="34" charset="0"/>
              <a:buChar char="•"/>
            </a:pPr>
            <a:r>
              <a:rPr lang="en-US" sz="1800" dirty="0" err="1">
                <a:solidFill>
                  <a:schemeClr val="bg1">
                    <a:lumMod val="10000"/>
                  </a:schemeClr>
                </a:solidFill>
                <a:latin typeface="Arial" panose="020B0604020202020204" pitchFamily="34" charset="0"/>
                <a:cs typeface="Arial" panose="020B0604020202020204" pitchFamily="34" charset="0"/>
                <a:sym typeface="Mulish"/>
              </a:rPr>
              <a:t>Lựa</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chọn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phương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thức</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giao</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tiếp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phù</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hợp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với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đặc</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điểm</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tình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hình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bệnh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tật</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của</a:t>
            </a:r>
            <a:r>
              <a:rPr lang="en-US" sz="1800" dirty="0">
                <a:solidFill>
                  <a:schemeClr val="bg1">
                    <a:lumMod val="10000"/>
                  </a:schemeClr>
                </a:solidFill>
                <a:latin typeface="Arial" panose="020B0604020202020204" pitchFamily="34" charset="0"/>
                <a:cs typeface="Arial" panose="020B0604020202020204" pitchFamily="34" charset="0"/>
                <a:sym typeface="Mulish"/>
              </a:rPr>
              <a:t> NB</a:t>
            </a:r>
          </a:p>
          <a:p>
            <a:endParaRPr lang="en-US" sz="1800" dirty="0">
              <a:solidFill>
                <a:schemeClr val="bg1">
                  <a:lumMod val="10000"/>
                </a:schemeClr>
              </a:solidFill>
              <a:latin typeface="Arial" panose="020B0604020202020204" pitchFamily="34" charset="0"/>
              <a:cs typeface="Arial" panose="020B0604020202020204" pitchFamily="34" charset="0"/>
              <a:sym typeface="Mulish"/>
            </a:endParaRPr>
          </a:p>
          <a:p>
            <a:pPr marL="285750" indent="-285750">
              <a:buFont typeface="Arial" panose="020B0604020202020204" pitchFamily="34" charset="0"/>
              <a:buChar char="•"/>
            </a:pPr>
            <a:r>
              <a:rPr lang="en-US" sz="1800" dirty="0" err="1">
                <a:solidFill>
                  <a:schemeClr val="bg1">
                    <a:lumMod val="10000"/>
                  </a:schemeClr>
                </a:solidFill>
                <a:latin typeface="Arial" panose="020B0604020202020204" pitchFamily="34" charset="0"/>
                <a:cs typeface="Arial" panose="020B0604020202020204" pitchFamily="34" charset="0"/>
                <a:sym typeface="Mulish"/>
              </a:rPr>
              <a:t>Thông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điệp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nên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rõ</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ràng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ngắn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gọn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dễ</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hiểu</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phù</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hợp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với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trình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độ</a:t>
            </a:r>
            <a:r>
              <a:rPr lang="en-US" sz="1800" dirty="0">
                <a:solidFill>
                  <a:schemeClr val="bg1">
                    <a:lumMod val="10000"/>
                  </a:schemeClr>
                </a:solidFill>
                <a:latin typeface="Arial" panose="020B0604020202020204" pitchFamily="34" charset="0"/>
                <a:cs typeface="Arial" panose="020B0604020202020204" pitchFamily="34" charset="0"/>
                <a:sym typeface="Mulish"/>
              </a:rPr>
              <a:t> NB.</a:t>
            </a:r>
          </a:p>
          <a:p>
            <a:pPr marL="285750" indent="-285750">
              <a:buFont typeface="Arial" panose="020B0604020202020204" pitchFamily="34" charset="0"/>
              <a:buChar char="•"/>
            </a:pPr>
            <a:endParaRPr lang="en-US" sz="1800" dirty="0">
              <a:solidFill>
                <a:schemeClr val="bg1">
                  <a:lumMod val="10000"/>
                </a:schemeClr>
              </a:solidFill>
              <a:latin typeface="Arial" panose="020B0604020202020204" pitchFamily="34" charset="0"/>
              <a:cs typeface="Arial" panose="020B0604020202020204" pitchFamily="34" charset="0"/>
              <a:sym typeface="Mulish"/>
            </a:endParaRPr>
          </a:p>
          <a:p>
            <a:pPr marL="285750" indent="-285750">
              <a:buFont typeface="Arial" panose="020B0604020202020204" pitchFamily="34" charset="0"/>
              <a:buChar char="•"/>
            </a:pPr>
            <a:r>
              <a:rPr lang="en-US" sz="1800" dirty="0" err="1">
                <a:solidFill>
                  <a:schemeClr val="bg1">
                    <a:lumMod val="10000"/>
                  </a:schemeClr>
                </a:solidFill>
                <a:latin typeface="Arial" panose="020B0604020202020204" pitchFamily="34" charset="0"/>
                <a:cs typeface="Arial" panose="020B0604020202020204" pitchFamily="34" charset="0"/>
                <a:sym typeface="Mulish"/>
              </a:rPr>
              <a:t>Là</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người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kết</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nối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đồng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hành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với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đội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ngũ</a:t>
            </a:r>
            <a:r>
              <a:rPr lang="en-US" sz="1800" dirty="0">
                <a:solidFill>
                  <a:schemeClr val="bg1">
                    <a:lumMod val="10000"/>
                  </a:schemeClr>
                </a:solidFill>
                <a:latin typeface="Arial" panose="020B0604020202020204" pitchFamily="34" charset="0"/>
                <a:cs typeface="Arial" panose="020B0604020202020204" pitchFamily="34" charset="0"/>
                <a:sym typeface="Mulish"/>
              </a:rPr>
              <a:t> y </a:t>
            </a:r>
            <a:r>
              <a:rPr lang="en-US" sz="1800" dirty="0" err="1">
                <a:solidFill>
                  <a:schemeClr val="bg1">
                    <a:lumMod val="10000"/>
                  </a:schemeClr>
                </a:solidFill>
                <a:latin typeface="Arial" panose="020B0604020202020204" pitchFamily="34" charset="0"/>
                <a:cs typeface="Arial" panose="020B0604020202020204" pitchFamily="34" charset="0"/>
                <a:sym typeface="Mulish"/>
              </a:rPr>
              <a:t>bác</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sĩ</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và</a:t>
            </a:r>
            <a:r>
              <a:rPr lang="en-US" sz="1800" dirty="0">
                <a:solidFill>
                  <a:schemeClr val="bg1">
                    <a:lumMod val="10000"/>
                  </a:schemeClr>
                </a:solidFill>
                <a:latin typeface="Arial" panose="020B0604020202020204" pitchFamily="34" charset="0"/>
                <a:cs typeface="Arial" panose="020B0604020202020204" pitchFamily="34" charset="0"/>
                <a:sym typeface="Mulish"/>
              </a:rPr>
              <a:t> NB </a:t>
            </a:r>
            <a:r>
              <a:rPr lang="en-US" sz="1800" dirty="0" err="1">
                <a:solidFill>
                  <a:schemeClr val="bg1">
                    <a:lumMod val="10000"/>
                  </a:schemeClr>
                </a:solidFill>
                <a:latin typeface="Arial" panose="020B0604020202020204" pitchFamily="34" charset="0"/>
                <a:cs typeface="Arial" panose="020B0604020202020204" pitchFamily="34" charset="0"/>
                <a:sym typeface="Mulish"/>
              </a:rPr>
              <a:t>nên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việc</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hiểu</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rõ</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vấn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đề</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của</a:t>
            </a:r>
            <a:r>
              <a:rPr lang="en-US" sz="1800" dirty="0">
                <a:solidFill>
                  <a:schemeClr val="bg1">
                    <a:lumMod val="10000"/>
                  </a:schemeClr>
                </a:solidFill>
                <a:latin typeface="Arial" panose="020B0604020202020204" pitchFamily="34" charset="0"/>
                <a:cs typeface="Arial" panose="020B0604020202020204" pitchFamily="34" charset="0"/>
                <a:sym typeface="Mulish"/>
              </a:rPr>
              <a:t> NB, </a:t>
            </a:r>
            <a:r>
              <a:rPr lang="en-US" sz="1800" dirty="0" err="1">
                <a:solidFill>
                  <a:schemeClr val="bg1">
                    <a:lumMod val="10000"/>
                  </a:schemeClr>
                </a:solidFill>
                <a:latin typeface="Arial" panose="020B0604020202020204" pitchFamily="34" charset="0"/>
                <a:cs typeface="Arial" panose="020B0604020202020204" pitchFamily="34" charset="0"/>
                <a:sym typeface="Mulish"/>
              </a:rPr>
              <a:t>thấu</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hiểu</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các</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khó</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khăncủa</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mỗi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cá</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nhân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gặp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phải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trong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quá</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trình</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giao</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tiếp</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trong</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là</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cần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thiết</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đối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với</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cán</a:t>
            </a:r>
            <a:r>
              <a:rPr lang="en-US" sz="1800" dirty="0">
                <a:solidFill>
                  <a:schemeClr val="bg1">
                    <a:lumMod val="10000"/>
                  </a:schemeClr>
                </a:solidFill>
                <a:latin typeface="Arial" panose="020B0604020202020204" pitchFamily="34" charset="0"/>
                <a:cs typeface="Arial" panose="020B0604020202020204" pitchFamily="34" charset="0"/>
                <a:sym typeface="Mulish"/>
              </a:rPr>
              <a:t> </a:t>
            </a:r>
            <a:r>
              <a:rPr lang="en-US" sz="1800" dirty="0" err="1">
                <a:solidFill>
                  <a:schemeClr val="bg1">
                    <a:lumMod val="10000"/>
                  </a:schemeClr>
                </a:solidFill>
                <a:latin typeface="Arial" panose="020B0604020202020204" pitchFamily="34" charset="0"/>
                <a:cs typeface="Arial" panose="020B0604020202020204" pitchFamily="34" charset="0"/>
                <a:sym typeface="Mulish"/>
              </a:rPr>
              <a:t>bộ</a:t>
            </a:r>
            <a:r>
              <a:rPr lang="en-US" sz="1800" dirty="0">
                <a:solidFill>
                  <a:schemeClr val="bg1">
                    <a:lumMod val="10000"/>
                  </a:schemeClr>
                </a:solidFill>
                <a:latin typeface="Arial" panose="020B0604020202020204" pitchFamily="34" charset="0"/>
                <a:cs typeface="Arial" panose="020B0604020202020204" pitchFamily="34" charset="0"/>
                <a:sym typeface="Mulish"/>
              </a:rPr>
              <a:t> QLTH.</a:t>
            </a:r>
            <a:endParaRPr lang="en-VN" sz="1800" dirty="0">
              <a:solidFill>
                <a:schemeClr val="bg1">
                  <a:lumMod val="10000"/>
                </a:schemeClr>
              </a:solidFill>
              <a:latin typeface="Arial" panose="020B0604020202020204" pitchFamily="34" charset="0"/>
              <a:cs typeface="Arial" panose="020B0604020202020204" pitchFamily="34" charset="0"/>
              <a:sym typeface="Mulish"/>
            </a:endParaRPr>
          </a:p>
        </p:txBody>
      </p:sp>
    </p:spTree>
    <p:extLst>
      <p:ext uri="{BB962C8B-B14F-4D97-AF65-F5344CB8AC3E}">
        <p14:creationId xmlns:p14="http://schemas.microsoft.com/office/powerpoint/2010/main" val="3229430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a:xfrm>
            <a:off x="568110" y="360203"/>
            <a:ext cx="7113595" cy="572700"/>
          </a:xfrm>
        </p:spPr>
        <p:txBody>
          <a:bodyPr/>
          <a:lstStyle/>
          <a:p>
            <a:r>
              <a:rPr lang="en-VN" sz="2400" dirty="0">
                <a:solidFill>
                  <a:schemeClr val="bg1">
                    <a:lumMod val="10000"/>
                  </a:schemeClr>
                </a:solidFill>
                <a:latin typeface="+mn-lt"/>
              </a:rPr>
              <a:t>Cách thực hiện Giao tiếp ngôn ngữ</a:t>
            </a:r>
          </a:p>
        </p:txBody>
      </p:sp>
      <p:graphicFrame>
        <p:nvGraphicFramePr>
          <p:cNvPr id="8" name="Diagram 7">
            <a:extLst>
              <a:ext uri="{FF2B5EF4-FFF2-40B4-BE49-F238E27FC236}">
                <a16:creationId xmlns:a16="http://schemas.microsoft.com/office/drawing/2014/main" id="{31B542B0-9A8E-FDE5-7036-617D19417B71}"/>
              </a:ext>
            </a:extLst>
          </p:cNvPr>
          <p:cNvGraphicFramePr/>
          <p:nvPr>
            <p:extLst>
              <p:ext uri="{D42A27DB-BD31-4B8C-83A1-F6EECF244321}">
                <p14:modId xmlns:p14="http://schemas.microsoft.com/office/powerpoint/2010/main" val="3942524921"/>
              </p:ext>
            </p:extLst>
          </p:nvPr>
        </p:nvGraphicFramePr>
        <p:xfrm>
          <a:off x="568110" y="1017725"/>
          <a:ext cx="2854519" cy="24569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A1D7B95A-3DAD-9F93-AD73-5B33F0BE1D34}"/>
              </a:ext>
            </a:extLst>
          </p:cNvPr>
          <p:cNvSpPr txBox="1"/>
          <p:nvPr/>
        </p:nvSpPr>
        <p:spPr>
          <a:xfrm>
            <a:off x="3172969" y="1181601"/>
            <a:ext cx="5581444" cy="3293209"/>
          </a:xfrm>
          <a:prstGeom prst="rect">
            <a:avLst/>
          </a:prstGeom>
          <a:noFill/>
        </p:spPr>
        <p:txBody>
          <a:bodyPr wrap="square" rtlCol="0">
            <a:spAutoFit/>
          </a:bodyPr>
          <a:lstStyle/>
          <a:p>
            <a:r>
              <a:rPr lang="en-VN" sz="1600" dirty="0">
                <a:solidFill>
                  <a:schemeClr val="bg1">
                    <a:lumMod val="10000"/>
                  </a:schemeClr>
                </a:solidFill>
                <a:latin typeface="+mn-lt"/>
                <a:sym typeface="Mulish"/>
              </a:rPr>
              <a:t>Ngôn ngữ nói là tiếng nói của con người là hình thức được sử dụng chủ yếu tại bệnh viện.</a:t>
            </a:r>
          </a:p>
          <a:p>
            <a:r>
              <a:rPr lang="en-US" sz="1600" dirty="0">
                <a:solidFill>
                  <a:schemeClr val="bg1">
                    <a:lumMod val="10000"/>
                  </a:schemeClr>
                </a:solidFill>
                <a:latin typeface="+mn-lt"/>
                <a:sym typeface="Mulish"/>
              </a:rPr>
              <a:t>C</a:t>
            </a:r>
            <a:r>
              <a:rPr lang="en-VN" sz="1600" dirty="0">
                <a:solidFill>
                  <a:schemeClr val="bg1">
                    <a:lumMod val="10000"/>
                  </a:schemeClr>
                </a:solidFill>
                <a:latin typeface="+mn-lt"/>
                <a:sym typeface="Mulish"/>
              </a:rPr>
              <a:t>án bộ QLTH sử dụng để thu thập thông tin, trao đổi, chia sẻ, thảo luận với người bệnh/ gia đình người bệnh về tình trạng sức khỏe bệnh tật, khó khăn tâm lý, suy nghĩ, nguyện vọng…trong quá trình thăm khám và điều trị tại bệnh viện.</a:t>
            </a:r>
          </a:p>
          <a:p>
            <a:endParaRPr lang="en-VN" sz="1600" dirty="0">
              <a:solidFill>
                <a:schemeClr val="bg1">
                  <a:lumMod val="10000"/>
                </a:schemeClr>
              </a:solidFill>
              <a:latin typeface="+mn-lt"/>
            </a:endParaRPr>
          </a:p>
          <a:p>
            <a:r>
              <a:rPr lang="en-VN" sz="1600" dirty="0">
                <a:solidFill>
                  <a:schemeClr val="bg1">
                    <a:lumMod val="10000"/>
                  </a:schemeClr>
                </a:solidFill>
                <a:latin typeface="+mn-lt"/>
              </a:rPr>
              <a:t>Ngôn ngữ viết là hình thức mà cán bộ QLTH thể hiện bằng ký hiệu chữ viết để trao đổi thông tin với người bệnh/ người nhà người bệnh về sức khỏe, bệnh tật, khó khăn tâm lý, suy nghĩ, nguyện vọng…trong quá trình thăm khám và điều trị tại bệnh viện.</a:t>
            </a:r>
          </a:p>
          <a:p>
            <a:endParaRPr lang="en-VN" sz="1600" dirty="0">
              <a:solidFill>
                <a:schemeClr val="bg1">
                  <a:lumMod val="10000"/>
                </a:schemeClr>
              </a:solidFill>
              <a:latin typeface="+mn-lt"/>
            </a:endParaRPr>
          </a:p>
        </p:txBody>
      </p:sp>
    </p:spTree>
    <p:extLst>
      <p:ext uri="{BB962C8B-B14F-4D97-AF65-F5344CB8AC3E}">
        <p14:creationId xmlns:p14="http://schemas.microsoft.com/office/powerpoint/2010/main" val="1348863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10</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a:xfrm>
            <a:off x="720000" y="362702"/>
            <a:ext cx="4297273" cy="572700"/>
          </a:xfrm>
        </p:spPr>
        <p:txBody>
          <a:bodyPr/>
          <a:lstStyle/>
          <a:p>
            <a:r>
              <a:rPr lang="en-VN" sz="2800" dirty="0">
                <a:solidFill>
                  <a:schemeClr val="bg1">
                    <a:lumMod val="10000"/>
                  </a:schemeClr>
                </a:solidFill>
                <a:latin typeface="Arial" panose="020B0604020202020204" pitchFamily="34" charset="0"/>
                <a:cs typeface="Arial" panose="020B0604020202020204" pitchFamily="34" charset="0"/>
              </a:rPr>
              <a:t>Giao tiếp ngôn ngữ</a:t>
            </a:r>
          </a:p>
        </p:txBody>
      </p:sp>
      <p:sp>
        <p:nvSpPr>
          <p:cNvPr id="9" name="TextBox 8">
            <a:extLst>
              <a:ext uri="{FF2B5EF4-FFF2-40B4-BE49-F238E27FC236}">
                <a16:creationId xmlns:a16="http://schemas.microsoft.com/office/drawing/2014/main" id="{A1D7B95A-3DAD-9F93-AD73-5B33F0BE1D34}"/>
              </a:ext>
            </a:extLst>
          </p:cNvPr>
          <p:cNvSpPr txBox="1"/>
          <p:nvPr/>
        </p:nvSpPr>
        <p:spPr>
          <a:xfrm>
            <a:off x="720000" y="1143000"/>
            <a:ext cx="7934587" cy="2554545"/>
          </a:xfrm>
          <a:prstGeom prst="rect">
            <a:avLst/>
          </a:prstGeom>
          <a:noFill/>
        </p:spPr>
        <p:txBody>
          <a:bodyPr wrap="square" rtlCol="0">
            <a:spAutoFit/>
          </a:bodyPr>
          <a:lstStyle/>
          <a:p>
            <a:r>
              <a:rPr lang="en-VN" sz="2000" dirty="0">
                <a:solidFill>
                  <a:schemeClr val="bg1">
                    <a:lumMod val="10000"/>
                  </a:schemeClr>
                </a:solidFill>
                <a:latin typeface="Arial" panose="020B0604020202020204" pitchFamily="34" charset="0"/>
                <a:cs typeface="Arial" panose="020B0604020202020204" pitchFamily="34" charset="0"/>
              </a:rPr>
              <a:t>Cán bộ QLTH cần chú ý, xem xét các khía cạnh sau khi sử dụng ngôn ngữ nói:</a:t>
            </a:r>
          </a:p>
          <a:p>
            <a:pPr marL="285750" indent="-285750">
              <a:buFont typeface="Arial"/>
              <a:buChar char="-"/>
            </a:pPr>
            <a:r>
              <a:rPr lang="en-VN" sz="2000" dirty="0">
                <a:solidFill>
                  <a:schemeClr val="bg1">
                    <a:lumMod val="10000"/>
                  </a:schemeClr>
                </a:solidFill>
                <a:latin typeface="Arial" panose="020B0604020202020204" pitchFamily="34" charset="0"/>
                <a:cs typeface="Arial" panose="020B0604020202020204" pitchFamily="34" charset="0"/>
              </a:rPr>
              <a:t>Tính phù hợp: sử dụng ngôn ngữ phù hợp với đặc điểm cá nhân NB/ người nhà NB (tuổi, giới tính, trình độ văn hóa, nghề nghiệp…)</a:t>
            </a:r>
          </a:p>
          <a:p>
            <a:pPr marL="285750" indent="-285750">
              <a:buFont typeface="Arial"/>
              <a:buChar char="-"/>
            </a:pPr>
            <a:r>
              <a:rPr lang="en-VN" sz="2000" dirty="0">
                <a:solidFill>
                  <a:schemeClr val="bg1">
                    <a:lumMod val="10000"/>
                  </a:schemeClr>
                </a:solidFill>
                <a:latin typeface="Arial" panose="020B0604020202020204" pitchFamily="34" charset="0"/>
                <a:cs typeface="Arial" panose="020B0604020202020204" pitchFamily="34" charset="0"/>
              </a:rPr>
              <a:t>Tính phong phú: cân nhắc sử dụng số lượng từ ngữ, hình ảnh, biểu mẫu dễ gây ấn tượng, cảm xúc trong quá trình giao tiếp với NB và người nhà NB.</a:t>
            </a:r>
          </a:p>
        </p:txBody>
      </p:sp>
    </p:spTree>
    <p:extLst>
      <p:ext uri="{BB962C8B-B14F-4D97-AF65-F5344CB8AC3E}">
        <p14:creationId xmlns:p14="http://schemas.microsoft.com/office/powerpoint/2010/main" val="4145988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6769E-02C5-F062-2F3A-6C1A12ABE2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EF6949-EBF1-5D34-EE80-FBB37312BB6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11</a:t>
            </a:fld>
            <a:endParaRPr lang="en"/>
          </a:p>
        </p:txBody>
      </p:sp>
      <p:sp>
        <p:nvSpPr>
          <p:cNvPr id="3" name="Title 2">
            <a:extLst>
              <a:ext uri="{FF2B5EF4-FFF2-40B4-BE49-F238E27FC236}">
                <a16:creationId xmlns:a16="http://schemas.microsoft.com/office/drawing/2014/main" id="{5DBAF91A-A0AC-C80D-964F-E0C6A5D21EF6}"/>
              </a:ext>
            </a:extLst>
          </p:cNvPr>
          <p:cNvSpPr>
            <a:spLocks noGrp="1"/>
          </p:cNvSpPr>
          <p:nvPr>
            <p:ph type="title"/>
          </p:nvPr>
        </p:nvSpPr>
        <p:spPr>
          <a:xfrm>
            <a:off x="720000" y="362702"/>
            <a:ext cx="4297273" cy="572700"/>
          </a:xfrm>
        </p:spPr>
        <p:txBody>
          <a:bodyPr/>
          <a:lstStyle/>
          <a:p>
            <a:r>
              <a:rPr lang="en-VN" sz="2800" dirty="0">
                <a:solidFill>
                  <a:schemeClr val="bg1">
                    <a:lumMod val="10000"/>
                  </a:schemeClr>
                </a:solidFill>
                <a:latin typeface="Arial" panose="020B0604020202020204" pitchFamily="34" charset="0"/>
                <a:cs typeface="Arial" panose="020B0604020202020204" pitchFamily="34" charset="0"/>
              </a:rPr>
              <a:t>Giao tiếp ngôn ngữ</a:t>
            </a:r>
          </a:p>
        </p:txBody>
      </p:sp>
      <p:sp>
        <p:nvSpPr>
          <p:cNvPr id="9" name="TextBox 8">
            <a:extLst>
              <a:ext uri="{FF2B5EF4-FFF2-40B4-BE49-F238E27FC236}">
                <a16:creationId xmlns:a16="http://schemas.microsoft.com/office/drawing/2014/main" id="{9D554D96-95BC-0874-C52D-FFDF08D3EAAC}"/>
              </a:ext>
            </a:extLst>
          </p:cNvPr>
          <p:cNvSpPr txBox="1"/>
          <p:nvPr/>
        </p:nvSpPr>
        <p:spPr>
          <a:xfrm>
            <a:off x="720000" y="1143000"/>
            <a:ext cx="7934587" cy="2554545"/>
          </a:xfrm>
          <a:prstGeom prst="rect">
            <a:avLst/>
          </a:prstGeom>
          <a:noFill/>
        </p:spPr>
        <p:txBody>
          <a:bodyPr wrap="square" rtlCol="0">
            <a:spAutoFit/>
          </a:bodyPr>
          <a:lstStyle/>
          <a:p>
            <a:r>
              <a:rPr lang="en-VN" sz="2000" dirty="0">
                <a:solidFill>
                  <a:schemeClr val="bg1">
                    <a:lumMod val="10000"/>
                  </a:schemeClr>
                </a:solidFill>
                <a:latin typeface="Arial" panose="020B0604020202020204" pitchFamily="34" charset="0"/>
                <a:cs typeface="Arial" panose="020B0604020202020204" pitchFamily="34" charset="0"/>
              </a:rPr>
              <a:t>Cán bộ QLTH cần chú ý, xem xét các khía cạnh sau khi sử dụng ngôn ngữ nói:</a:t>
            </a:r>
          </a:p>
          <a:p>
            <a:pPr marL="285750" indent="-285750">
              <a:buFont typeface="Arial"/>
              <a:buChar char="-"/>
            </a:pPr>
            <a:r>
              <a:rPr lang="en-VN" sz="2000" dirty="0">
                <a:solidFill>
                  <a:schemeClr val="bg1">
                    <a:lumMod val="10000"/>
                  </a:schemeClr>
                </a:solidFill>
                <a:latin typeface="Arial" panose="020B0604020202020204" pitchFamily="34" charset="0"/>
                <a:cs typeface="Arial" panose="020B0604020202020204" pitchFamily="34" charset="0"/>
              </a:rPr>
              <a:t>Tính dễ hiểu: Không nên sử dụng ngôn ngữ phức tạp, quá hoa mỹ. Ngôn từ cần đơn giản dễ hiểu, trành sử dụng thuật ngữ chuyên môn với NB và nguời nhà NB.</a:t>
            </a:r>
          </a:p>
          <a:p>
            <a:pPr marL="285750" indent="-285750">
              <a:buFont typeface="Arial"/>
              <a:buChar char="-"/>
            </a:pPr>
            <a:r>
              <a:rPr lang="en-VN" sz="2000" dirty="0">
                <a:solidFill>
                  <a:schemeClr val="bg1">
                    <a:lumMod val="10000"/>
                  </a:schemeClr>
                </a:solidFill>
                <a:latin typeface="Arial" panose="020B0604020202020204" pitchFamily="34" charset="0"/>
                <a:cs typeface="Arial" panose="020B0604020202020204" pitchFamily="34" charset="0"/>
              </a:rPr>
              <a:t>Tính trong sáng: Ngôn ngữ sử dụng rõ ràng, không tối nghĩa. Điều này giúp ích cho NB và người nhà NB trong quá trình tiếp nhận thông tin.</a:t>
            </a:r>
          </a:p>
        </p:txBody>
      </p:sp>
    </p:spTree>
    <p:extLst>
      <p:ext uri="{BB962C8B-B14F-4D97-AF65-F5344CB8AC3E}">
        <p14:creationId xmlns:p14="http://schemas.microsoft.com/office/powerpoint/2010/main" val="2651931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12</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a:xfrm>
            <a:off x="720000" y="362702"/>
            <a:ext cx="5132160" cy="572700"/>
          </a:xfrm>
        </p:spPr>
        <p:txBody>
          <a:bodyPr/>
          <a:lstStyle/>
          <a:p>
            <a:r>
              <a:rPr lang="en-VN" dirty="0">
                <a:solidFill>
                  <a:schemeClr val="bg1">
                    <a:lumMod val="10000"/>
                  </a:schemeClr>
                </a:solidFill>
                <a:latin typeface="+mn-lt"/>
              </a:rPr>
              <a:t>Giao tiếp phi ngôn ngữ </a:t>
            </a:r>
          </a:p>
        </p:txBody>
      </p:sp>
      <p:sp>
        <p:nvSpPr>
          <p:cNvPr id="9" name="TextBox 8">
            <a:extLst>
              <a:ext uri="{FF2B5EF4-FFF2-40B4-BE49-F238E27FC236}">
                <a16:creationId xmlns:a16="http://schemas.microsoft.com/office/drawing/2014/main" id="{A1D7B95A-3DAD-9F93-AD73-5B33F0BE1D34}"/>
              </a:ext>
            </a:extLst>
          </p:cNvPr>
          <p:cNvSpPr txBox="1"/>
          <p:nvPr/>
        </p:nvSpPr>
        <p:spPr>
          <a:xfrm>
            <a:off x="557784" y="1202192"/>
            <a:ext cx="3922776" cy="2862322"/>
          </a:xfrm>
          <a:prstGeom prst="rect">
            <a:avLst/>
          </a:prstGeom>
          <a:noFill/>
        </p:spPr>
        <p:txBody>
          <a:bodyPr wrap="square" rtlCol="0">
            <a:spAutoFit/>
          </a:bodyPr>
          <a:lstStyle/>
          <a:p>
            <a:r>
              <a:rPr lang="en-VN" sz="1800" dirty="0">
                <a:solidFill>
                  <a:schemeClr val="bg1">
                    <a:lumMod val="10000"/>
                  </a:schemeClr>
                </a:solidFill>
                <a:latin typeface="Arial" panose="020B0604020202020204" pitchFamily="34" charset="0"/>
                <a:cs typeface="Arial" panose="020B0604020202020204" pitchFamily="34" charset="0"/>
              </a:rPr>
              <a:t>Giao tiếp phi ngôn ngữ là việc cán bộ QLTH sử dụng tín hiệu trực quan như ngôn ngữ cơ thể (cử chỉ, điệu bộ, tư thế ngồi, sự vận động của cơ thể, nụ cười, nét mặt…), </a:t>
            </a:r>
            <a:r>
              <a:rPr lang="en-US" sz="1800" dirty="0">
                <a:solidFill>
                  <a:schemeClr val="bg1">
                    <a:lumMod val="10000"/>
                  </a:schemeClr>
                </a:solidFill>
                <a:latin typeface="Arial" panose="020B0604020202020204" pitchFamily="34" charset="0"/>
                <a:cs typeface="Arial" panose="020B0604020202020204" pitchFamily="34" charset="0"/>
              </a:rPr>
              <a:t>k</a:t>
            </a:r>
            <a:r>
              <a:rPr lang="en-VN" sz="1800" dirty="0">
                <a:solidFill>
                  <a:schemeClr val="bg1">
                    <a:lumMod val="10000"/>
                  </a:schemeClr>
                </a:solidFill>
                <a:latin typeface="Arial" panose="020B0604020202020204" pitchFamily="34" charset="0"/>
                <a:cs typeface="Arial" panose="020B0604020202020204" pitchFamily="34" charset="0"/>
              </a:rPr>
              <a:t>hoảng cách, thời gian, giọng nói (sự hoạt ngôn), và </a:t>
            </a:r>
            <a:r>
              <a:rPr lang="en-US" sz="1800" dirty="0">
                <a:solidFill>
                  <a:schemeClr val="bg1">
                    <a:lumMod val="10000"/>
                  </a:schemeClr>
                </a:solidFill>
                <a:latin typeface="Arial" panose="020B0604020202020204" pitchFamily="34" charset="0"/>
                <a:cs typeface="Arial" panose="020B0604020202020204" pitchFamily="34" charset="0"/>
              </a:rPr>
              <a:t>t</a:t>
            </a:r>
            <a:r>
              <a:rPr lang="en-VN" sz="1800" dirty="0">
                <a:solidFill>
                  <a:schemeClr val="bg1">
                    <a:lumMod val="10000"/>
                  </a:schemeClr>
                </a:solidFill>
                <a:latin typeface="Arial" panose="020B0604020202020204" pitchFamily="34" charset="0"/>
                <a:cs typeface="Arial" panose="020B0604020202020204" pitchFamily="34" charset="0"/>
              </a:rPr>
              <a:t>rực quan (ánh mắt khi nói và lắng nghe)…</a:t>
            </a:r>
          </a:p>
          <a:p>
            <a:r>
              <a:rPr lang="en-US" sz="1800" dirty="0">
                <a:solidFill>
                  <a:schemeClr val="bg1">
                    <a:lumMod val="10000"/>
                  </a:schemeClr>
                </a:solidFill>
                <a:latin typeface="Arial" panose="020B0604020202020204" pitchFamily="34" charset="0"/>
                <a:cs typeface="Arial" panose="020B0604020202020204" pitchFamily="34" charset="0"/>
              </a:rPr>
              <a:t>K</a:t>
            </a:r>
            <a:r>
              <a:rPr lang="en-VN" sz="1800" dirty="0">
                <a:solidFill>
                  <a:schemeClr val="bg1">
                    <a:lumMod val="10000"/>
                  </a:schemeClr>
                </a:solidFill>
                <a:latin typeface="Arial" panose="020B0604020202020204" pitchFamily="34" charset="0"/>
                <a:cs typeface="Arial" panose="020B0604020202020204" pitchFamily="34" charset="0"/>
              </a:rPr>
              <a:t>hi giao tiếp với NB và người nhà NB.</a:t>
            </a:r>
          </a:p>
        </p:txBody>
      </p:sp>
      <p:graphicFrame>
        <p:nvGraphicFramePr>
          <p:cNvPr id="5" name="Diagram 4">
            <a:extLst>
              <a:ext uri="{FF2B5EF4-FFF2-40B4-BE49-F238E27FC236}">
                <a16:creationId xmlns:a16="http://schemas.microsoft.com/office/drawing/2014/main" id="{2D1FBD9D-B3CB-FF7C-826D-D647D72B7427}"/>
              </a:ext>
            </a:extLst>
          </p:cNvPr>
          <p:cNvGraphicFramePr/>
          <p:nvPr>
            <p:extLst>
              <p:ext uri="{D42A27DB-BD31-4B8C-83A1-F6EECF244321}">
                <p14:modId xmlns:p14="http://schemas.microsoft.com/office/powerpoint/2010/main" val="1847079852"/>
              </p:ext>
            </p:extLst>
          </p:nvPr>
        </p:nvGraphicFramePr>
        <p:xfrm>
          <a:off x="4663441" y="1289304"/>
          <a:ext cx="3399182" cy="2734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D58185C-DEBC-0C73-3720-DD6631FB303B}"/>
              </a:ext>
            </a:extLst>
          </p:cNvPr>
          <p:cNvSpPr txBox="1"/>
          <p:nvPr/>
        </p:nvSpPr>
        <p:spPr>
          <a:xfrm>
            <a:off x="5772646" y="2110085"/>
            <a:ext cx="1256307" cy="923330"/>
          </a:xfrm>
          <a:prstGeom prst="rect">
            <a:avLst/>
          </a:prstGeom>
          <a:noFill/>
        </p:spPr>
        <p:txBody>
          <a:bodyPr wrap="square" rtlCol="0">
            <a:spAutoFit/>
          </a:bodyPr>
          <a:lstStyle/>
          <a:p>
            <a:pPr algn="ctr"/>
            <a:r>
              <a:rPr lang="en-VN" sz="1800" dirty="0"/>
              <a:t>Giao tiếp phi </a:t>
            </a:r>
          </a:p>
          <a:p>
            <a:pPr algn="ctr"/>
            <a:r>
              <a:rPr lang="en-VN" sz="1800" dirty="0"/>
              <a:t>ngôn ngữ</a:t>
            </a:r>
          </a:p>
        </p:txBody>
      </p:sp>
    </p:spTree>
    <p:extLst>
      <p:ext uri="{BB962C8B-B14F-4D97-AF65-F5344CB8AC3E}">
        <p14:creationId xmlns:p14="http://schemas.microsoft.com/office/powerpoint/2010/main" val="444412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13</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a:xfrm>
            <a:off x="1618488" y="243105"/>
            <a:ext cx="5814407" cy="456282"/>
          </a:xfrm>
        </p:spPr>
        <p:txBody>
          <a:bodyPr/>
          <a:lstStyle/>
          <a:p>
            <a:r>
              <a:rPr lang="en-VN" sz="2000" dirty="0">
                <a:latin typeface="+mn-lt"/>
              </a:rPr>
              <a:t>Lắng nghe tích cực để giao tiếp hiệu qủa: 10 điều để lắng nghe tốt</a:t>
            </a:r>
          </a:p>
        </p:txBody>
      </p:sp>
      <p:sp>
        <p:nvSpPr>
          <p:cNvPr id="9" name="TextBox 8">
            <a:extLst>
              <a:ext uri="{FF2B5EF4-FFF2-40B4-BE49-F238E27FC236}">
                <a16:creationId xmlns:a16="http://schemas.microsoft.com/office/drawing/2014/main" id="{A1D7B95A-3DAD-9F93-AD73-5B33F0BE1D34}"/>
              </a:ext>
            </a:extLst>
          </p:cNvPr>
          <p:cNvSpPr txBox="1"/>
          <p:nvPr/>
        </p:nvSpPr>
        <p:spPr>
          <a:xfrm>
            <a:off x="714408" y="1078109"/>
            <a:ext cx="8018112" cy="2862322"/>
          </a:xfrm>
          <a:prstGeom prst="rect">
            <a:avLst/>
          </a:prstGeom>
          <a:noFill/>
        </p:spPr>
        <p:txBody>
          <a:bodyPr wrap="square" rtlCol="0">
            <a:spAutoFit/>
          </a:bodyPr>
          <a:lstStyle/>
          <a:p>
            <a:pPr algn="just"/>
            <a:r>
              <a:rPr lang="en-VN" sz="1800" b="1" dirty="0">
                <a:solidFill>
                  <a:schemeClr val="bg1">
                    <a:lumMod val="10000"/>
                  </a:schemeClr>
                </a:solidFill>
                <a:latin typeface="+mn-lt"/>
              </a:rPr>
              <a:t>1</a:t>
            </a:r>
            <a:r>
              <a:rPr lang="en-VN" sz="1800" dirty="0">
                <a:solidFill>
                  <a:schemeClr val="bg1">
                    <a:lumMod val="10000"/>
                  </a:schemeClr>
                </a:solidFill>
                <a:latin typeface="+mn-lt"/>
              </a:rPr>
              <a:t>. </a:t>
            </a:r>
            <a:r>
              <a:rPr lang="en-VN" sz="1800" b="1" dirty="0">
                <a:solidFill>
                  <a:schemeClr val="bg1">
                    <a:lumMod val="10000"/>
                  </a:schemeClr>
                </a:solidFill>
                <a:latin typeface="+mn-lt"/>
              </a:rPr>
              <a:t>Ngừng nói</a:t>
            </a:r>
            <a:r>
              <a:rPr lang="en-VN" sz="1800" dirty="0">
                <a:solidFill>
                  <a:schemeClr val="bg1">
                    <a:lumMod val="10000"/>
                  </a:schemeClr>
                </a:solidFill>
                <a:latin typeface="+mn-lt"/>
              </a:rPr>
              <a:t>: Bạn không thể lắng nghe nếu bạn đang nói. </a:t>
            </a:r>
          </a:p>
          <a:p>
            <a:pPr algn="just"/>
            <a:r>
              <a:rPr lang="en-VN" sz="1800" b="1" dirty="0">
                <a:solidFill>
                  <a:schemeClr val="bg1">
                    <a:lumMod val="10000"/>
                  </a:schemeClr>
                </a:solidFill>
                <a:latin typeface="+mn-lt"/>
              </a:rPr>
              <a:t>2</a:t>
            </a:r>
            <a:r>
              <a:rPr lang="en-VN" sz="1800" dirty="0">
                <a:solidFill>
                  <a:schemeClr val="bg1">
                    <a:lumMod val="10000"/>
                  </a:schemeClr>
                </a:solidFill>
                <a:latin typeface="+mn-lt"/>
              </a:rPr>
              <a:t>. </a:t>
            </a:r>
            <a:r>
              <a:rPr lang="en-VN" sz="1800" b="1" dirty="0">
                <a:solidFill>
                  <a:schemeClr val="bg1">
                    <a:lumMod val="10000"/>
                  </a:schemeClr>
                </a:solidFill>
                <a:latin typeface="+mn-lt"/>
              </a:rPr>
              <a:t>Để NB nói thoải mái</a:t>
            </a:r>
            <a:r>
              <a:rPr lang="en-VN" sz="1800" dirty="0">
                <a:solidFill>
                  <a:schemeClr val="bg1">
                    <a:lumMod val="10000"/>
                  </a:schemeClr>
                </a:solidFill>
                <a:latin typeface="+mn-lt"/>
              </a:rPr>
              <a:t>: Giúp họ cảm thấy rằng họ được tự do nói chuyện. Điều này thường được gọi là “môi trường cho phép”. </a:t>
            </a:r>
          </a:p>
          <a:p>
            <a:pPr algn="just"/>
            <a:r>
              <a:rPr lang="en-VN" sz="1800" b="1" dirty="0">
                <a:solidFill>
                  <a:schemeClr val="bg1">
                    <a:lumMod val="10000"/>
                  </a:schemeClr>
                </a:solidFill>
                <a:latin typeface="+mn-lt"/>
              </a:rPr>
              <a:t>3.</a:t>
            </a:r>
            <a:r>
              <a:rPr lang="en-VN" sz="1800" dirty="0">
                <a:solidFill>
                  <a:schemeClr val="bg1">
                    <a:lumMod val="10000"/>
                  </a:schemeClr>
                </a:solidFill>
                <a:latin typeface="+mn-lt"/>
              </a:rPr>
              <a:t> </a:t>
            </a:r>
            <a:r>
              <a:rPr lang="en-VN" sz="1800" b="1" dirty="0">
                <a:solidFill>
                  <a:schemeClr val="bg1">
                    <a:lumMod val="10000"/>
                  </a:schemeClr>
                </a:solidFill>
                <a:latin typeface="+mn-lt"/>
              </a:rPr>
              <a:t>Thể hiện rằng bạn muốn lắng nghe</a:t>
            </a:r>
            <a:r>
              <a:rPr lang="en-VN" sz="1800" dirty="0">
                <a:solidFill>
                  <a:schemeClr val="bg1">
                    <a:lumMod val="10000"/>
                  </a:schemeClr>
                </a:solidFill>
                <a:latin typeface="+mn-lt"/>
              </a:rPr>
              <a:t>: Hãy nhìn và hành động một cách hứng thú. Đừng đọc tin nhắn của bạn trong khi họ nói chuyện. Lắng nghe để hiểu hơn là để trả lời. </a:t>
            </a:r>
          </a:p>
          <a:p>
            <a:pPr algn="just"/>
            <a:r>
              <a:rPr lang="en-VN" sz="1800" b="1" dirty="0">
                <a:solidFill>
                  <a:schemeClr val="bg1">
                    <a:lumMod val="10000"/>
                  </a:schemeClr>
                </a:solidFill>
                <a:latin typeface="+mn-lt"/>
              </a:rPr>
              <a:t>4.</a:t>
            </a:r>
            <a:r>
              <a:rPr lang="en-VN" sz="1800" dirty="0">
                <a:solidFill>
                  <a:schemeClr val="bg1">
                    <a:lumMod val="10000"/>
                  </a:schemeClr>
                </a:solidFill>
                <a:latin typeface="+mn-lt"/>
              </a:rPr>
              <a:t> </a:t>
            </a:r>
            <a:r>
              <a:rPr lang="en-VN" sz="1800" b="1" dirty="0">
                <a:solidFill>
                  <a:schemeClr val="bg1">
                    <a:lumMod val="10000"/>
                  </a:schemeClr>
                </a:solidFill>
                <a:latin typeface="+mn-lt"/>
              </a:rPr>
              <a:t>Loại bỏ sự phân tâm: </a:t>
            </a:r>
            <a:r>
              <a:rPr lang="en-VN" sz="1800" dirty="0">
                <a:solidFill>
                  <a:schemeClr val="bg1">
                    <a:lumMod val="10000"/>
                  </a:schemeClr>
                </a:solidFill>
                <a:latin typeface="+mn-lt"/>
              </a:rPr>
              <a:t>Không vẽ nguệch ngoạc, chạm hoặc xáo trộn giấy tờ. Sẽ yên tĩnh hơn nếu bạn đóng cửa lại. </a:t>
            </a:r>
          </a:p>
          <a:p>
            <a:pPr algn="just"/>
            <a:r>
              <a:rPr lang="en-VN" sz="1800" b="1" dirty="0">
                <a:solidFill>
                  <a:schemeClr val="bg1">
                    <a:lumMod val="10000"/>
                  </a:schemeClr>
                </a:solidFill>
                <a:latin typeface="+mn-lt"/>
              </a:rPr>
              <a:t>5</a:t>
            </a:r>
            <a:r>
              <a:rPr lang="en-VN" sz="1800" dirty="0">
                <a:solidFill>
                  <a:schemeClr val="bg1">
                    <a:lumMod val="10000"/>
                  </a:schemeClr>
                </a:solidFill>
                <a:latin typeface="+mn-lt"/>
              </a:rPr>
              <a:t>. </a:t>
            </a:r>
            <a:r>
              <a:rPr lang="en-VN" sz="1800" b="1" dirty="0">
                <a:solidFill>
                  <a:schemeClr val="bg1">
                    <a:lumMod val="10000"/>
                  </a:schemeClr>
                </a:solidFill>
                <a:latin typeface="+mn-lt"/>
              </a:rPr>
              <a:t>Thấu cảm với NB</a:t>
            </a:r>
            <a:r>
              <a:rPr lang="en-VN" sz="1800" dirty="0">
                <a:solidFill>
                  <a:schemeClr val="bg1">
                    <a:lumMod val="10000"/>
                  </a:schemeClr>
                </a:solidFill>
                <a:latin typeface="+mn-lt"/>
              </a:rPr>
              <a:t>: Hãy thử đặt mình vào vị trí của họ để có thể nhìn thấy quan điểm của họ. </a:t>
            </a:r>
          </a:p>
        </p:txBody>
      </p:sp>
    </p:spTree>
    <p:extLst>
      <p:ext uri="{BB962C8B-B14F-4D97-AF65-F5344CB8AC3E}">
        <p14:creationId xmlns:p14="http://schemas.microsoft.com/office/powerpoint/2010/main" val="593272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8C972-9638-E1B4-6CC9-310842B427E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34F28E-876B-DE77-9925-CB25D00A7D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14</a:t>
            </a:fld>
            <a:endParaRPr lang="en"/>
          </a:p>
        </p:txBody>
      </p:sp>
      <p:sp>
        <p:nvSpPr>
          <p:cNvPr id="3" name="Title 2">
            <a:extLst>
              <a:ext uri="{FF2B5EF4-FFF2-40B4-BE49-F238E27FC236}">
                <a16:creationId xmlns:a16="http://schemas.microsoft.com/office/drawing/2014/main" id="{160FCA0D-2FDD-BB1C-343F-4DF1F2D9F3BD}"/>
              </a:ext>
            </a:extLst>
          </p:cNvPr>
          <p:cNvSpPr>
            <a:spLocks noGrp="1"/>
          </p:cNvSpPr>
          <p:nvPr>
            <p:ph type="title"/>
          </p:nvPr>
        </p:nvSpPr>
        <p:spPr>
          <a:xfrm>
            <a:off x="1618488" y="243105"/>
            <a:ext cx="5814407" cy="456282"/>
          </a:xfrm>
        </p:spPr>
        <p:txBody>
          <a:bodyPr/>
          <a:lstStyle/>
          <a:p>
            <a:r>
              <a:rPr lang="en-VN" sz="2000" dirty="0">
                <a:solidFill>
                  <a:schemeClr val="bg1">
                    <a:lumMod val="10000"/>
                  </a:schemeClr>
                </a:solidFill>
                <a:latin typeface="+mn-lt"/>
              </a:rPr>
              <a:t>Lắng nghe tích cực để giao tiếp hiệu qủa: 10 điều để lắng nghe tốt</a:t>
            </a:r>
          </a:p>
        </p:txBody>
      </p:sp>
      <p:sp>
        <p:nvSpPr>
          <p:cNvPr id="7" name="TextBox 6">
            <a:extLst>
              <a:ext uri="{FF2B5EF4-FFF2-40B4-BE49-F238E27FC236}">
                <a16:creationId xmlns:a16="http://schemas.microsoft.com/office/drawing/2014/main" id="{5805AFE7-48CB-BBB7-C130-C75FB34C9359}"/>
              </a:ext>
            </a:extLst>
          </p:cNvPr>
          <p:cNvSpPr txBox="1"/>
          <p:nvPr/>
        </p:nvSpPr>
        <p:spPr>
          <a:xfrm>
            <a:off x="914401" y="1078992"/>
            <a:ext cx="7277430" cy="3293209"/>
          </a:xfrm>
          <a:prstGeom prst="rect">
            <a:avLst/>
          </a:prstGeom>
          <a:noFill/>
        </p:spPr>
        <p:txBody>
          <a:bodyPr wrap="square">
            <a:spAutoFit/>
          </a:bodyPr>
          <a:lstStyle/>
          <a:p>
            <a:pPr algn="just"/>
            <a:r>
              <a:rPr lang="en-VN" sz="1600" b="1" dirty="0">
                <a:solidFill>
                  <a:schemeClr val="bg1">
                    <a:lumMod val="10000"/>
                  </a:schemeClr>
                </a:solidFill>
                <a:latin typeface="+mn-lt"/>
              </a:rPr>
              <a:t>6. Hãy kiên nhẫn</a:t>
            </a:r>
            <a:r>
              <a:rPr lang="en-VN" sz="1600" dirty="0">
                <a:solidFill>
                  <a:schemeClr val="bg1">
                    <a:lumMod val="10000"/>
                  </a:schemeClr>
                </a:solidFill>
                <a:latin typeface="+mn-lt"/>
              </a:rPr>
              <a:t>: Dành nhiều thời gian. Đừng ngắt lời. Đừng bắt đầu đi ra cửa hoặc bỏ đi. </a:t>
            </a:r>
          </a:p>
          <a:p>
            <a:pPr algn="just"/>
            <a:r>
              <a:rPr lang="en-VN" sz="1600" dirty="0">
                <a:solidFill>
                  <a:schemeClr val="bg1">
                    <a:lumMod val="10000"/>
                  </a:schemeClr>
                </a:solidFill>
                <a:latin typeface="+mn-lt"/>
              </a:rPr>
              <a:t> </a:t>
            </a:r>
          </a:p>
          <a:p>
            <a:pPr algn="just"/>
            <a:r>
              <a:rPr lang="en-VN" sz="1600" b="1" dirty="0">
                <a:solidFill>
                  <a:schemeClr val="bg1">
                    <a:lumMod val="10000"/>
                  </a:schemeClr>
                </a:solidFill>
                <a:latin typeface="+mn-lt"/>
              </a:rPr>
              <a:t>7. Giữ bình tĩnh</a:t>
            </a:r>
            <a:r>
              <a:rPr lang="en-VN" sz="1600" dirty="0">
                <a:solidFill>
                  <a:schemeClr val="bg1">
                    <a:lumMod val="10000"/>
                  </a:schemeClr>
                </a:solidFill>
                <a:latin typeface="+mn-lt"/>
              </a:rPr>
              <a:t>: Một người tức giận hiểu sai ý nghĩa của lời nói. </a:t>
            </a:r>
          </a:p>
          <a:p>
            <a:pPr algn="just"/>
            <a:r>
              <a:rPr lang="en-VN" sz="1600" b="1" dirty="0">
                <a:solidFill>
                  <a:schemeClr val="bg1">
                    <a:lumMod val="10000"/>
                  </a:schemeClr>
                </a:solidFill>
                <a:latin typeface="+mn-lt"/>
              </a:rPr>
              <a:t>8. Dễ dàng tranh luận và chỉ trích: </a:t>
            </a:r>
            <a:r>
              <a:rPr lang="en-VN" sz="1600" dirty="0">
                <a:solidFill>
                  <a:schemeClr val="bg1">
                    <a:lumMod val="10000"/>
                  </a:schemeClr>
                </a:solidFill>
                <a:latin typeface="+mn-lt"/>
              </a:rPr>
              <a:t>Tranh luận và chỉ trích khiến NB rơi vào thế phòng thủ. Họ có thể ngao ngán hoặc tức giận. Khi bạn tranh luận, ngay cả khi bạn thắng, bạn cũng thua. </a:t>
            </a:r>
          </a:p>
          <a:p>
            <a:pPr algn="just"/>
            <a:r>
              <a:rPr lang="en-VN" sz="1600" dirty="0">
                <a:solidFill>
                  <a:schemeClr val="bg1">
                    <a:lumMod val="10000"/>
                  </a:schemeClr>
                </a:solidFill>
                <a:latin typeface="+mn-lt"/>
              </a:rPr>
              <a:t> </a:t>
            </a:r>
          </a:p>
          <a:p>
            <a:pPr algn="just"/>
            <a:r>
              <a:rPr lang="en-VN" sz="1600" b="1" dirty="0">
                <a:solidFill>
                  <a:schemeClr val="bg1">
                    <a:lumMod val="10000"/>
                  </a:schemeClr>
                </a:solidFill>
                <a:latin typeface="+mn-lt"/>
              </a:rPr>
              <a:t>9. Hỏi câu hỏi mở</a:t>
            </a:r>
            <a:r>
              <a:rPr lang="en-VN" sz="1600" dirty="0">
                <a:solidFill>
                  <a:schemeClr val="bg1">
                    <a:lumMod val="10000"/>
                  </a:schemeClr>
                </a:solidFill>
                <a:latin typeface="+mn-lt"/>
              </a:rPr>
              <a:t>: Điều này khuyến khích NB và cho họ thấy rằng bạn đang lắng nghe. </a:t>
            </a:r>
          </a:p>
          <a:p>
            <a:pPr algn="just"/>
            <a:r>
              <a:rPr lang="en-VN" sz="1600" dirty="0">
                <a:solidFill>
                  <a:schemeClr val="bg1">
                    <a:lumMod val="10000"/>
                  </a:schemeClr>
                </a:solidFill>
                <a:latin typeface="+mn-lt"/>
              </a:rPr>
              <a:t> </a:t>
            </a:r>
          </a:p>
          <a:p>
            <a:pPr algn="just"/>
            <a:r>
              <a:rPr lang="en-VN" sz="1600" b="1" dirty="0">
                <a:solidFill>
                  <a:schemeClr val="bg1">
                    <a:lumMod val="10000"/>
                  </a:schemeClr>
                </a:solidFill>
                <a:latin typeface="+mn-lt"/>
              </a:rPr>
              <a:t>10. Đừng nói</a:t>
            </a:r>
            <a:r>
              <a:rPr lang="en-VN" sz="1600" dirty="0">
                <a:solidFill>
                  <a:schemeClr val="bg1">
                    <a:lumMod val="10000"/>
                  </a:schemeClr>
                </a:solidFill>
                <a:latin typeface="+mn-lt"/>
              </a:rPr>
              <a:t>: Đây là điều đầu tiên và cuối cùng, bởi vì tất cả những điều khác đều phụ thuộc vào nó. Bạn không thể làm tốt việc lắng nghe khi đang nói.</a:t>
            </a:r>
          </a:p>
        </p:txBody>
      </p:sp>
    </p:spTree>
    <p:extLst>
      <p:ext uri="{BB962C8B-B14F-4D97-AF65-F5344CB8AC3E}">
        <p14:creationId xmlns:p14="http://schemas.microsoft.com/office/powerpoint/2010/main" val="3946888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23F65-C681-A628-ADB9-59DCCCA5F6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F4690F-9A46-C798-2310-157E3CFE3F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15</a:t>
            </a:fld>
            <a:endParaRPr lang="en"/>
          </a:p>
        </p:txBody>
      </p:sp>
      <p:sp>
        <p:nvSpPr>
          <p:cNvPr id="3" name="Title 2">
            <a:extLst>
              <a:ext uri="{FF2B5EF4-FFF2-40B4-BE49-F238E27FC236}">
                <a16:creationId xmlns:a16="http://schemas.microsoft.com/office/drawing/2014/main" id="{66E165CE-E579-8C9B-43C8-C5D39069FE4C}"/>
              </a:ext>
            </a:extLst>
          </p:cNvPr>
          <p:cNvSpPr>
            <a:spLocks noGrp="1"/>
          </p:cNvSpPr>
          <p:nvPr>
            <p:ph type="title"/>
          </p:nvPr>
        </p:nvSpPr>
        <p:spPr/>
        <p:txBody>
          <a:bodyPr/>
          <a:lstStyle/>
          <a:p>
            <a:r>
              <a:rPr lang="en-VN" sz="2400" dirty="0">
                <a:latin typeface="Arial" panose="020B0604020202020204" pitchFamily="34" charset="0"/>
                <a:cs typeface="Arial" panose="020B0604020202020204" pitchFamily="34" charset="0"/>
              </a:rPr>
              <a:t>Thảo luận nhóm</a:t>
            </a:r>
          </a:p>
        </p:txBody>
      </p:sp>
      <p:sp>
        <p:nvSpPr>
          <p:cNvPr id="4" name="Text Placeholder 3">
            <a:extLst>
              <a:ext uri="{FF2B5EF4-FFF2-40B4-BE49-F238E27FC236}">
                <a16:creationId xmlns:a16="http://schemas.microsoft.com/office/drawing/2014/main" id="{E771C786-4B26-CBB8-590D-8FDFCD3F21F5}"/>
              </a:ext>
            </a:extLst>
          </p:cNvPr>
          <p:cNvSpPr>
            <a:spLocks noGrp="1"/>
          </p:cNvSpPr>
          <p:nvPr>
            <p:ph type="body" idx="1"/>
          </p:nvPr>
        </p:nvSpPr>
        <p:spPr>
          <a:xfrm>
            <a:off x="621792" y="1017725"/>
            <a:ext cx="7802208" cy="3431125"/>
          </a:xfrm>
        </p:spPr>
        <p:txBody>
          <a:bodyPr/>
          <a:lstStyle/>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Chia nhóm lớp 4-5 nhóm, mỗi nhóm 4-5 học viên thảo luận ca (8 giờ tự học)</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Một bé gái 14 tuổi được giải cứu từ biên giới. Em cho biết gia đình nghèo khổ, có 4 người con cha mẹ lại bệnh tật, quanh năm lam lũ không đủ ăn mặc.  Được hàng xóm giới thiệu công việc sẽ kiếm được tiền, nên em và cha mẹ đồng ý sẽ đi làm trong 2 năm, kiếm tiền về trang trải và nuôi sống gia đình. Được biết em bị một nhóm người đưa qua biên giới để kiếm việc làm, tuy nhiên em và những người trong nhóm đã bị đưa vào làm trong một nhà hàng và bị ép phục vụ khách… Sau hơn 1 năm, em được một tổ chức Quốc tế – kết hợp với bộ đội biên phòng giải cứu. </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Anh/chị với vai trò nhân viên CTXH tiếp nhận trường hợp này, giả định thông tin giao tiếp ngôn ngữ và phi ngôn ngữ với trường hợp bé gái trong tình huống nêu trên để làm quen, tạo lập mối quan hệ và thu thập thông tin liên quan vấn đề bé gái đang gặp phải?</a:t>
            </a:r>
          </a:p>
        </p:txBody>
      </p:sp>
    </p:spTree>
    <p:extLst>
      <p:ext uri="{BB962C8B-B14F-4D97-AF65-F5344CB8AC3E}">
        <p14:creationId xmlns:p14="http://schemas.microsoft.com/office/powerpoint/2010/main" val="1953531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2886635" y="1854500"/>
            <a:ext cx="4823012"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err="1"/>
              <a:t>Kỹ</a:t>
            </a:r>
            <a:r>
              <a:rPr lang="en" sz="3200" dirty="0"/>
              <a:t> </a:t>
            </a:r>
            <a:r>
              <a:rPr lang="en" sz="3200" dirty="0" err="1"/>
              <a:t>năng</a:t>
            </a:r>
            <a:r>
              <a:rPr lang="en" sz="3200" dirty="0"/>
              <a:t> </a:t>
            </a:r>
            <a:r>
              <a:rPr lang="en" sz="3200" dirty="0" err="1"/>
              <a:t>đánh</a:t>
            </a:r>
            <a:r>
              <a:rPr lang="en" sz="3200" dirty="0"/>
              <a:t> </a:t>
            </a:r>
            <a:r>
              <a:rPr lang="en" sz="3200" dirty="0" err="1"/>
              <a:t>giá</a:t>
            </a:r>
            <a:endParaRPr sz="3200" dirty="0"/>
          </a:p>
        </p:txBody>
      </p:sp>
      <p:sp>
        <p:nvSpPr>
          <p:cNvPr id="330" name="Google Shape;330;p32"/>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describe the topic of the section here</a:t>
            </a:r>
            <a:endParaRPr/>
          </a:p>
        </p:txBody>
      </p:sp>
      <p:sp>
        <p:nvSpPr>
          <p:cNvPr id="331" name="Google Shape;331;p32"/>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16</a:t>
            </a:fld>
            <a:endParaRPr/>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1019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17</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p:txBody>
          <a:bodyPr/>
          <a:lstStyle/>
          <a:p>
            <a:r>
              <a:rPr lang="en-VN" dirty="0">
                <a:latin typeface="+mn-lt"/>
              </a:rPr>
              <a:t>Khái niệm</a:t>
            </a:r>
          </a:p>
        </p:txBody>
      </p:sp>
      <p:sp>
        <p:nvSpPr>
          <p:cNvPr id="4" name="Text Placeholder 3">
            <a:extLst>
              <a:ext uri="{FF2B5EF4-FFF2-40B4-BE49-F238E27FC236}">
                <a16:creationId xmlns:a16="http://schemas.microsoft.com/office/drawing/2014/main" id="{49031695-2FCD-E0C8-039A-C7C350690DDA}"/>
              </a:ext>
            </a:extLst>
          </p:cNvPr>
          <p:cNvSpPr>
            <a:spLocks noGrp="1"/>
          </p:cNvSpPr>
          <p:nvPr>
            <p:ph type="body" idx="1"/>
          </p:nvPr>
        </p:nvSpPr>
        <p:spPr/>
        <p:txBody>
          <a:bodyPr/>
          <a:lstStyle/>
          <a:p>
            <a:r>
              <a:rPr lang="en-VN" sz="1600" dirty="0">
                <a:solidFill>
                  <a:schemeClr val="bg1">
                    <a:lumMod val="10000"/>
                  </a:schemeClr>
                </a:solidFill>
                <a:latin typeface="Arial" panose="020B0604020202020204" pitchFamily="34" charset="0"/>
                <a:cs typeface="Arial" panose="020B0604020202020204" pitchFamily="34" charset="0"/>
              </a:rPr>
              <a:t>Đánh giá (Asessment) là một quá trình thu thập và phân tích thông tin để đưa ra đánh giá chuyên môn về tình trạng của NB. Trong quá trình đánh giá, cán bộ QLTH  không chỉ xem xét những rủi ro trước mắt mà NB phải đối mặt mà còn xem xét nguồn lực và điểm mạnh của NB và gia đình NB. (Katy Barnett, 2014)</a:t>
            </a:r>
          </a:p>
          <a:p>
            <a:pPr marL="177800" indent="0">
              <a:buNone/>
            </a:pPr>
            <a:endParaRPr lang="en-VN" sz="1600" dirty="0">
              <a:solidFill>
                <a:schemeClr val="bg1">
                  <a:lumMod val="10000"/>
                </a:schemeClr>
              </a:solidFill>
              <a:latin typeface="Arial" panose="020B0604020202020204" pitchFamily="34" charset="0"/>
              <a:cs typeface="Arial" panose="020B0604020202020204" pitchFamily="34" charset="0"/>
            </a:endParaRPr>
          </a:p>
          <a:p>
            <a:r>
              <a:rPr lang="en-VN" sz="1600" dirty="0">
                <a:solidFill>
                  <a:schemeClr val="bg1">
                    <a:lumMod val="10000"/>
                  </a:schemeClr>
                </a:solidFill>
                <a:latin typeface="Arial" panose="020B0604020202020204" pitchFamily="34" charset="0"/>
                <a:cs typeface="Arial" panose="020B0604020202020204" pitchFamily="34" charset="0"/>
              </a:rPr>
              <a:t>Kỹ năng thu thập thông tin và đánh giá trong quy trình QLTH tại cơ sở y tế là khả năng cán bộ QLTH tiếp cận hay tập hợp các nguồn thông tin theo thứ tự ưu tiên; phân loại và sắp xếp thông tin của NB sao cho có thể thu thập. </a:t>
            </a:r>
            <a:r>
              <a:rPr lang="en-US" sz="1600" dirty="0" err="1">
                <a:solidFill>
                  <a:schemeClr val="bg1">
                    <a:lumMod val="10000"/>
                  </a:schemeClr>
                </a:solidFill>
                <a:latin typeface="Arial" panose="020B0604020202020204" pitchFamily="34" charset="0"/>
                <a:cs typeface="Arial" panose="020B0604020202020204" pitchFamily="34" charset="0"/>
              </a:rPr>
              <a:t>Đ</a:t>
            </a:r>
            <a:r>
              <a:rPr lang="en-VN" sz="1600" dirty="0">
                <a:solidFill>
                  <a:schemeClr val="bg1">
                    <a:lumMod val="10000"/>
                  </a:schemeClr>
                </a:solidFill>
                <a:latin typeface="Arial" panose="020B0604020202020204" pitchFamily="34" charset="0"/>
                <a:cs typeface="Arial" panose="020B0604020202020204" pitchFamily="34" charset="0"/>
              </a:rPr>
              <a:t>ánh giá nhu cầu, năng lực giải quyết các vấn đề của NB và các nguồn lực hỗ trợ trong và ngoài cơ sở y tế. (PGS.TS. Phạm Tiến Nam, PGS.TS. Nguyễn Tuấn Hưng, TS. Nguyễn Hồng Sơn, 2022)</a:t>
            </a:r>
          </a:p>
        </p:txBody>
      </p:sp>
    </p:spTree>
    <p:extLst>
      <p:ext uri="{BB962C8B-B14F-4D97-AF65-F5344CB8AC3E}">
        <p14:creationId xmlns:p14="http://schemas.microsoft.com/office/powerpoint/2010/main" val="506750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18</a:t>
            </a:fld>
            <a:endParaRPr lang="en"/>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dirty="0">
                <a:solidFill>
                  <a:schemeClr val="bg1">
                    <a:lumMod val="10000"/>
                  </a:schemeClr>
                </a:solidFill>
                <a:latin typeface="Arial" panose="020B0604020202020204" pitchFamily="34" charset="0"/>
                <a:cs typeface="Arial" panose="020B0604020202020204" pitchFamily="34" charset="0"/>
              </a:rPr>
              <a:t>Ý nghĩa và nguyên tắc thực hiện </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1213164" y="1233856"/>
            <a:ext cx="7210836" cy="3233100"/>
          </a:xfrm>
        </p:spPr>
        <p:txBody>
          <a:bodyPr/>
          <a:lstStyle/>
          <a:p>
            <a:pPr marL="177800" indent="0">
              <a:buNone/>
            </a:pPr>
            <a:r>
              <a:rPr lang="en-VN" sz="1600" b="1" dirty="0">
                <a:solidFill>
                  <a:schemeClr val="bg1">
                    <a:lumMod val="10000"/>
                  </a:schemeClr>
                </a:solidFill>
                <a:latin typeface="Arial" panose="020B0604020202020204" pitchFamily="34" charset="0"/>
                <a:cs typeface="Arial" panose="020B0604020202020204" pitchFamily="34" charset="0"/>
              </a:rPr>
              <a:t>Ý nghĩa</a:t>
            </a:r>
          </a:p>
          <a:p>
            <a:r>
              <a:rPr lang="en-VN" sz="1600" dirty="0">
                <a:solidFill>
                  <a:schemeClr val="bg1">
                    <a:lumMod val="10000"/>
                  </a:schemeClr>
                </a:solidFill>
                <a:latin typeface="Arial" panose="020B0604020202020204" pitchFamily="34" charset="0"/>
                <a:cs typeface="Arial" panose="020B0604020202020204" pitchFamily="34" charset="0"/>
              </a:rPr>
              <a:t>Có ý nghĩa quan trọng trong việc thiết lập cơ sở nhu cầu của NB</a:t>
            </a:r>
          </a:p>
          <a:p>
            <a:r>
              <a:rPr lang="en-VN" sz="1600" dirty="0">
                <a:solidFill>
                  <a:schemeClr val="bg1">
                    <a:lumMod val="10000"/>
                  </a:schemeClr>
                </a:solidFill>
                <a:latin typeface="Arial" panose="020B0604020202020204" pitchFamily="34" charset="0"/>
                <a:cs typeface="Arial" panose="020B0604020202020204" pitchFamily="34" charset="0"/>
              </a:rPr>
              <a:t>Cơ sở khoa học cần thiết cho quá trình lập kế hoạch, ra quyết định và lựa chọn các phương án, kỹ thuật chuyên môn, cũng như những liệu pháp chuyên nghiệp khi hỗ trợ NB.</a:t>
            </a:r>
          </a:p>
          <a:p>
            <a:r>
              <a:rPr lang="en-VN" sz="1600" dirty="0">
                <a:solidFill>
                  <a:schemeClr val="bg1">
                    <a:lumMod val="10000"/>
                  </a:schemeClr>
                </a:solidFill>
                <a:latin typeface="Arial" panose="020B0604020202020204" pitchFamily="34" charset="0"/>
                <a:cs typeface="Arial" panose="020B0604020202020204" pitchFamily="34" charset="0"/>
              </a:rPr>
              <a:t>Khuyến khích và tạo cơ hội tham gia phối hợp giữa cán bộ QLTH với NB và các bên liên quan trong quá trình giải quyết vấn đề của NB trong bệnh viện.</a:t>
            </a:r>
          </a:p>
          <a:p>
            <a:r>
              <a:rPr lang="en-VN" sz="1600" dirty="0">
                <a:solidFill>
                  <a:schemeClr val="bg1">
                    <a:lumMod val="10000"/>
                  </a:schemeClr>
                </a:solidFill>
                <a:latin typeface="Arial" panose="020B0604020202020204" pitchFamily="34" charset="0"/>
                <a:cs typeface="Arial" panose="020B0604020202020204" pitchFamily="34" charset="0"/>
              </a:rPr>
              <a:t>Thông tin thu thập và đánh giá từ NB và các bên liên quan giúp cán bộ QLTh xác định được các nguồn lực sẽ ca62 phải huy động để có thể giải quyết được vấn đề của NB</a:t>
            </a:r>
          </a:p>
        </p:txBody>
      </p:sp>
    </p:spTree>
    <p:extLst>
      <p:ext uri="{BB962C8B-B14F-4D97-AF65-F5344CB8AC3E}">
        <p14:creationId xmlns:p14="http://schemas.microsoft.com/office/powerpoint/2010/main" val="1984652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19</a:t>
            </a:fld>
            <a:endParaRPr lang="en"/>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dirty="0">
                <a:solidFill>
                  <a:schemeClr val="bg1">
                    <a:lumMod val="10000"/>
                  </a:schemeClr>
                </a:solidFill>
              </a:rPr>
              <a:t>Ý nghĩa và nguyên tắc thực hiện </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720000" y="1017725"/>
            <a:ext cx="7835525" cy="3497137"/>
          </a:xfrm>
        </p:spPr>
        <p:txBody>
          <a:bodyPr/>
          <a:lstStyle/>
          <a:p>
            <a:pPr marL="177800" indent="0">
              <a:buNone/>
            </a:pPr>
            <a:r>
              <a:rPr lang="en-VN" sz="1600" b="1" dirty="0">
                <a:solidFill>
                  <a:schemeClr val="bg1">
                    <a:lumMod val="10000"/>
                  </a:schemeClr>
                </a:solidFill>
                <a:latin typeface="Arial" panose="020B0604020202020204" pitchFamily="34" charset="0"/>
                <a:cs typeface="Arial" panose="020B0604020202020204" pitchFamily="34" charset="0"/>
              </a:rPr>
              <a:t>Nguyên tắc</a:t>
            </a:r>
          </a:p>
          <a:p>
            <a:pPr marL="177800" indent="0">
              <a:buNone/>
            </a:pPr>
            <a:r>
              <a:rPr lang="en-VN" sz="1600" i="1" dirty="0">
                <a:solidFill>
                  <a:schemeClr val="bg1">
                    <a:lumMod val="10000"/>
                  </a:schemeClr>
                </a:solidFill>
                <a:latin typeface="Arial" panose="020B0604020202020204" pitchFamily="34" charset="0"/>
                <a:cs typeface="Arial" panose="020B0604020202020204" pitchFamily="34" charset="0"/>
              </a:rPr>
              <a:t>Hiểu và biết chính xác thông tin liên quan đến nhu cầu của NB và nguồn lực hỗ trợ</a:t>
            </a:r>
            <a:r>
              <a:rPr lang="en-VN" sz="1600" dirty="0">
                <a:solidFill>
                  <a:schemeClr val="bg1">
                    <a:lumMod val="10000"/>
                  </a:schemeClr>
                </a:solidFill>
                <a:latin typeface="Arial" panose="020B0604020202020204" pitchFamily="34" charset="0"/>
                <a:cs typeface="Arial" panose="020B0604020202020204" pitchFamily="34" charset="0"/>
              </a:rPr>
              <a:t>.</a:t>
            </a:r>
          </a:p>
          <a:p>
            <a:r>
              <a:rPr lang="en-VN" sz="1600" dirty="0">
                <a:solidFill>
                  <a:schemeClr val="bg1">
                    <a:lumMod val="10000"/>
                  </a:schemeClr>
                </a:solidFill>
                <a:latin typeface="Arial" panose="020B0604020202020204" pitchFamily="34" charset="0"/>
                <a:cs typeface="Arial" panose="020B0604020202020204" pitchFamily="34" charset="0"/>
              </a:rPr>
              <a:t>Hiểu rõ nhu cầu cần được hỗ trợ của NB ( NB có những nhu cầu khác nhau)</a:t>
            </a:r>
          </a:p>
          <a:p>
            <a:r>
              <a:rPr lang="en-VN" sz="1600" dirty="0">
                <a:solidFill>
                  <a:schemeClr val="bg1">
                    <a:lumMod val="10000"/>
                  </a:schemeClr>
                </a:solidFill>
                <a:latin typeface="Arial" panose="020B0604020202020204" pitchFamily="34" charset="0"/>
                <a:cs typeface="Arial" panose="020B0604020202020204" pitchFamily="34" charset="0"/>
              </a:rPr>
              <a:t>Xác định mục đích và các bên liên quan (người nhà NB, nhân viên Y tế, lãnh đạo cơ quan, tổ chức, đoàn thể trong &amp; ngoài bệnh viện…)</a:t>
            </a:r>
          </a:p>
          <a:p>
            <a:r>
              <a:rPr lang="en-VN" sz="1600" dirty="0">
                <a:solidFill>
                  <a:schemeClr val="bg1">
                    <a:lumMod val="10000"/>
                  </a:schemeClr>
                </a:solidFill>
                <a:latin typeface="Arial" panose="020B0604020202020204" pitchFamily="34" charset="0"/>
                <a:cs typeface="Arial" panose="020B0604020202020204" pitchFamily="34" charset="0"/>
              </a:rPr>
              <a:t>Biết rõ các nguồn lực hộ trợ chính thức và không chính thức</a:t>
            </a:r>
          </a:p>
          <a:p>
            <a:endParaRPr lang="en-VN" sz="1600" dirty="0">
              <a:solidFill>
                <a:schemeClr val="bg1">
                  <a:lumMod val="10000"/>
                </a:schemeClr>
              </a:solidFill>
              <a:latin typeface="Arial" panose="020B0604020202020204" pitchFamily="34" charset="0"/>
              <a:cs typeface="Arial" panose="020B0604020202020204" pitchFamily="34" charset="0"/>
            </a:endParaRPr>
          </a:p>
          <a:p>
            <a:pPr marL="177800" indent="0">
              <a:buNone/>
            </a:pPr>
            <a:r>
              <a:rPr lang="en-VN" sz="1600" i="1" dirty="0">
                <a:solidFill>
                  <a:schemeClr val="bg1">
                    <a:lumMod val="10000"/>
                  </a:schemeClr>
                </a:solidFill>
                <a:latin typeface="Arial" panose="020B0604020202020204" pitchFamily="34" charset="0"/>
                <a:cs typeface="Arial" panose="020B0604020202020204" pitchFamily="34" charset="0"/>
              </a:rPr>
              <a:t>Nắm bắt ý nghĩa của thông tin được thu thập và đánh giá </a:t>
            </a:r>
          </a:p>
          <a:p>
            <a:r>
              <a:rPr lang="en-VN" sz="1600" dirty="0">
                <a:solidFill>
                  <a:schemeClr val="bg1">
                    <a:lumMod val="10000"/>
                  </a:schemeClr>
                </a:solidFill>
                <a:latin typeface="Arial" panose="020B0604020202020204" pitchFamily="34" charset="0"/>
                <a:cs typeface="Arial" panose="020B0604020202020204" pitchFamily="34" charset="0"/>
              </a:rPr>
              <a:t>Nắm được lượng thông tin, giá trị, và chất lượng thông tin do NB và các bên liên quan cung cấp.</a:t>
            </a:r>
          </a:p>
          <a:p>
            <a:r>
              <a:rPr lang="en-VN" sz="1600" dirty="0">
                <a:solidFill>
                  <a:schemeClr val="bg1">
                    <a:lumMod val="10000"/>
                  </a:schemeClr>
                </a:solidFill>
                <a:latin typeface="Arial" panose="020B0604020202020204" pitchFamily="34" charset="0"/>
                <a:cs typeface="Arial" panose="020B0604020202020204" pitchFamily="34" charset="0"/>
              </a:rPr>
              <a:t>So sánh, phân tích các thông tin liên quan từ nhiều nguồn khác nhau.</a:t>
            </a:r>
          </a:p>
          <a:p>
            <a:pPr marL="177800" indent="0">
              <a:buNone/>
            </a:pPr>
            <a:endParaRPr lang="en-VN" sz="16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5473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20</a:t>
            </a:fld>
            <a:endParaRPr lang="en"/>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dirty="0">
                <a:solidFill>
                  <a:schemeClr val="bg1">
                    <a:lumMod val="10000"/>
                  </a:schemeClr>
                </a:solidFill>
                <a:latin typeface="Arial" panose="020B0604020202020204" pitchFamily="34" charset="0"/>
                <a:cs typeface="Arial" panose="020B0604020202020204" pitchFamily="34" charset="0"/>
              </a:rPr>
              <a:t>Ý nghĩa và nguyên tắc thực hiện </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375968" y="1193749"/>
            <a:ext cx="8219392" cy="3409125"/>
          </a:xfrm>
        </p:spPr>
        <p:txBody>
          <a:bodyPr/>
          <a:lstStyle/>
          <a:p>
            <a:pPr marL="177800" indent="0">
              <a:buNone/>
            </a:pPr>
            <a:r>
              <a:rPr lang="en-VN" sz="1600" b="1" dirty="0">
                <a:solidFill>
                  <a:schemeClr val="bg1">
                    <a:lumMod val="10000"/>
                  </a:schemeClr>
                </a:solidFill>
                <a:latin typeface="Arial" panose="020B0604020202020204" pitchFamily="34" charset="0"/>
                <a:cs typeface="Arial" panose="020B0604020202020204" pitchFamily="34" charset="0"/>
              </a:rPr>
              <a:t>Nguyên tắc</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Có khả năng thu thập thông tin và đánh giá cần thiết</a:t>
            </a:r>
          </a:p>
          <a:p>
            <a:r>
              <a:rPr lang="en-VN" sz="1600" dirty="0">
                <a:solidFill>
                  <a:schemeClr val="bg1">
                    <a:lumMod val="10000"/>
                  </a:schemeClr>
                </a:solidFill>
                <a:latin typeface="Arial" panose="020B0604020202020204" pitchFamily="34" charset="0"/>
                <a:cs typeface="Arial" panose="020B0604020202020204" pitchFamily="34" charset="0"/>
              </a:rPr>
              <a:t>Nắm vững các phương pháp để tìm tòi, phát hiện, đánh giá thông tin </a:t>
            </a:r>
          </a:p>
          <a:p>
            <a:r>
              <a:rPr lang="en-VN" sz="1600" dirty="0">
                <a:solidFill>
                  <a:schemeClr val="bg1">
                    <a:lumMod val="10000"/>
                  </a:schemeClr>
                </a:solidFill>
                <a:latin typeface="Arial" panose="020B0604020202020204" pitchFamily="34" charset="0"/>
                <a:cs typeface="Arial" panose="020B0604020202020204" pitchFamily="34" charset="0"/>
              </a:rPr>
              <a:t>Có khả năng sử dụng các phương pháp điều tra, khảo sát thực tế (Phương pháp quan sát, phỏng vấn, PP thống kê XHH, trắc nghiệm, đối chiếu…)</a:t>
            </a:r>
          </a:p>
          <a:p>
            <a:r>
              <a:rPr lang="en-VN" sz="1600" dirty="0">
                <a:solidFill>
                  <a:schemeClr val="bg1">
                    <a:lumMod val="10000"/>
                  </a:schemeClr>
                </a:solidFill>
                <a:latin typeface="Arial" panose="020B0604020202020204" pitchFamily="34" charset="0"/>
                <a:cs typeface="Arial" panose="020B0604020202020204" pitchFamily="34" charset="0"/>
              </a:rPr>
              <a:t>Nắm bắt chính xác nguồn thông tin và hình thức cung cấp thông tin để thu thập đánh giá</a:t>
            </a:r>
          </a:p>
          <a:p>
            <a:r>
              <a:rPr lang="en-VN" sz="1600" dirty="0">
                <a:solidFill>
                  <a:schemeClr val="bg1">
                    <a:lumMod val="10000"/>
                  </a:schemeClr>
                </a:solidFill>
                <a:latin typeface="Arial" panose="020B0604020202020204" pitchFamily="34" charset="0"/>
                <a:cs typeface="Arial" panose="020B0604020202020204" pitchFamily="34" charset="0"/>
              </a:rPr>
              <a:t>Hệ thống các nguồn gốc thông tin (nguồn thông tin sơ cấp, thứ cấp, nguồn thông tin bên trong/ngoài, thông tin chính thức/ không chính thức…)</a:t>
            </a:r>
          </a:p>
          <a:p>
            <a:r>
              <a:rPr lang="en-VN" sz="1600" dirty="0">
                <a:solidFill>
                  <a:schemeClr val="bg1">
                    <a:lumMod val="10000"/>
                  </a:schemeClr>
                </a:solidFill>
                <a:latin typeface="Arial" panose="020B0604020202020204" pitchFamily="34" charset="0"/>
                <a:cs typeface="Arial" panose="020B0604020202020204" pitchFamily="34" charset="0"/>
              </a:rPr>
              <a:t>Tổng hợp các hình thức cung cấp thông tin bằng văn bản (bản sao văn bản, báo cáo tổng hợp..), bằng lời nói ( trao đổi qua điện thoại, trao đổi trực tiếp…)</a:t>
            </a:r>
          </a:p>
        </p:txBody>
      </p:sp>
    </p:spTree>
    <p:extLst>
      <p:ext uri="{BB962C8B-B14F-4D97-AF65-F5344CB8AC3E}">
        <p14:creationId xmlns:p14="http://schemas.microsoft.com/office/powerpoint/2010/main" val="504299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D0346-1410-D046-E218-AB67687CF8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1ED8DD-A09C-B075-5D7F-6E07B3C5739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21</a:t>
            </a:fld>
            <a:endParaRPr lang="en"/>
          </a:p>
        </p:txBody>
      </p:sp>
      <p:sp>
        <p:nvSpPr>
          <p:cNvPr id="3" name="Title 2">
            <a:extLst>
              <a:ext uri="{FF2B5EF4-FFF2-40B4-BE49-F238E27FC236}">
                <a16:creationId xmlns:a16="http://schemas.microsoft.com/office/drawing/2014/main" id="{2D248666-5FB7-3861-09AE-F84E8ADF5C85}"/>
              </a:ext>
            </a:extLst>
          </p:cNvPr>
          <p:cNvSpPr>
            <a:spLocks noGrp="1"/>
          </p:cNvSpPr>
          <p:nvPr>
            <p:ph type="title"/>
          </p:nvPr>
        </p:nvSpPr>
        <p:spPr/>
        <p:txBody>
          <a:bodyPr/>
          <a:lstStyle/>
          <a:p>
            <a:r>
              <a:rPr lang="en-VN" dirty="0"/>
              <a:t>Một số sai lệch khi đánh giá cần chú ý</a:t>
            </a:r>
          </a:p>
        </p:txBody>
      </p:sp>
      <p:pic>
        <p:nvPicPr>
          <p:cNvPr id="7" name="Picture 6">
            <a:extLst>
              <a:ext uri="{FF2B5EF4-FFF2-40B4-BE49-F238E27FC236}">
                <a16:creationId xmlns:a16="http://schemas.microsoft.com/office/drawing/2014/main" id="{5407DAD7-F2D1-77F3-C576-A0BB093EE299}"/>
              </a:ext>
            </a:extLst>
          </p:cNvPr>
          <p:cNvPicPr>
            <a:picLocks noChangeAspect="1"/>
          </p:cNvPicPr>
          <p:nvPr/>
        </p:nvPicPr>
        <p:blipFill>
          <a:blip r:embed="rId2"/>
          <a:srcRect b="43289"/>
          <a:stretch>
            <a:fillRect/>
          </a:stretch>
        </p:blipFill>
        <p:spPr>
          <a:xfrm>
            <a:off x="146304" y="-1"/>
            <a:ext cx="8906256" cy="4698475"/>
          </a:xfrm>
          <a:prstGeom prst="rect">
            <a:avLst/>
          </a:prstGeom>
        </p:spPr>
      </p:pic>
    </p:spTree>
    <p:extLst>
      <p:ext uri="{BB962C8B-B14F-4D97-AF65-F5344CB8AC3E}">
        <p14:creationId xmlns:p14="http://schemas.microsoft.com/office/powerpoint/2010/main" val="1102243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D35332-844A-D802-401B-81CAFB1DCE1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22</a:t>
            </a:fld>
            <a:endParaRPr lang="en"/>
          </a:p>
        </p:txBody>
      </p:sp>
      <p:sp>
        <p:nvSpPr>
          <p:cNvPr id="3" name="Title 2">
            <a:extLst>
              <a:ext uri="{FF2B5EF4-FFF2-40B4-BE49-F238E27FC236}">
                <a16:creationId xmlns:a16="http://schemas.microsoft.com/office/drawing/2014/main" id="{CC386E4B-7604-9AF0-E8D0-480E63685976}"/>
              </a:ext>
            </a:extLst>
          </p:cNvPr>
          <p:cNvSpPr>
            <a:spLocks noGrp="1"/>
          </p:cNvSpPr>
          <p:nvPr>
            <p:ph type="title"/>
          </p:nvPr>
        </p:nvSpPr>
        <p:spPr/>
        <p:txBody>
          <a:bodyPr/>
          <a:lstStyle/>
          <a:p>
            <a:r>
              <a:rPr lang="en-VN" dirty="0"/>
              <a:t>Một số sai lệch khi đánh giá cần chú ý</a:t>
            </a:r>
          </a:p>
        </p:txBody>
      </p:sp>
      <p:pic>
        <p:nvPicPr>
          <p:cNvPr id="7" name="Picture 6">
            <a:extLst>
              <a:ext uri="{FF2B5EF4-FFF2-40B4-BE49-F238E27FC236}">
                <a16:creationId xmlns:a16="http://schemas.microsoft.com/office/drawing/2014/main" id="{AF0EF0D1-1C97-D5C1-7053-C09F88D01F87}"/>
              </a:ext>
            </a:extLst>
          </p:cNvPr>
          <p:cNvPicPr>
            <a:picLocks noChangeAspect="1"/>
          </p:cNvPicPr>
          <p:nvPr/>
        </p:nvPicPr>
        <p:blipFill>
          <a:blip r:embed="rId2"/>
          <a:srcRect t="56533"/>
          <a:stretch>
            <a:fillRect/>
          </a:stretch>
        </p:blipFill>
        <p:spPr>
          <a:xfrm>
            <a:off x="146304" y="207025"/>
            <a:ext cx="8906256" cy="4936475"/>
          </a:xfrm>
          <a:prstGeom prst="rect">
            <a:avLst/>
          </a:prstGeom>
        </p:spPr>
      </p:pic>
    </p:spTree>
    <p:extLst>
      <p:ext uri="{BB962C8B-B14F-4D97-AF65-F5344CB8AC3E}">
        <p14:creationId xmlns:p14="http://schemas.microsoft.com/office/powerpoint/2010/main" val="367213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D9221-007E-CD16-7E50-57A027B63C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23</a:t>
            </a:fld>
            <a:endParaRPr lang="en"/>
          </a:p>
        </p:txBody>
      </p:sp>
      <p:sp>
        <p:nvSpPr>
          <p:cNvPr id="3" name="Title 2">
            <a:extLst>
              <a:ext uri="{FF2B5EF4-FFF2-40B4-BE49-F238E27FC236}">
                <a16:creationId xmlns:a16="http://schemas.microsoft.com/office/drawing/2014/main" id="{C7E48FF0-5EEE-5E3E-A291-A9C6FF17AC52}"/>
              </a:ext>
            </a:extLst>
          </p:cNvPr>
          <p:cNvSpPr>
            <a:spLocks noGrp="1"/>
          </p:cNvSpPr>
          <p:nvPr>
            <p:ph type="title"/>
          </p:nvPr>
        </p:nvSpPr>
        <p:spPr>
          <a:xfrm>
            <a:off x="611358" y="248507"/>
            <a:ext cx="3852000" cy="572700"/>
          </a:xfrm>
        </p:spPr>
        <p:txBody>
          <a:bodyPr/>
          <a:lstStyle/>
          <a:p>
            <a:r>
              <a:rPr lang="en-VN" sz="2400" dirty="0">
                <a:latin typeface="+mn-lt"/>
              </a:rPr>
              <a:t>Cách thức thực hiện</a:t>
            </a:r>
          </a:p>
        </p:txBody>
      </p:sp>
      <p:sp>
        <p:nvSpPr>
          <p:cNvPr id="4" name="Text Placeholder 3">
            <a:extLst>
              <a:ext uri="{FF2B5EF4-FFF2-40B4-BE49-F238E27FC236}">
                <a16:creationId xmlns:a16="http://schemas.microsoft.com/office/drawing/2014/main" id="{D6FD586A-382C-C3FD-65CA-D7DC92B91946}"/>
              </a:ext>
            </a:extLst>
          </p:cNvPr>
          <p:cNvSpPr>
            <a:spLocks noGrp="1"/>
          </p:cNvSpPr>
          <p:nvPr>
            <p:ph type="body" idx="1"/>
          </p:nvPr>
        </p:nvSpPr>
        <p:spPr>
          <a:xfrm>
            <a:off x="294486" y="1017725"/>
            <a:ext cx="8520330" cy="3508555"/>
          </a:xfrm>
        </p:spPr>
        <p:txBody>
          <a:bodyPr/>
          <a:lstStyle/>
          <a:p>
            <a:pPr marL="177800" indent="0">
              <a:buNone/>
            </a:pPr>
            <a:r>
              <a:rPr lang="en-VN" sz="1800" dirty="0">
                <a:solidFill>
                  <a:schemeClr val="bg1">
                    <a:lumMod val="10000"/>
                  </a:schemeClr>
                </a:solidFill>
                <a:latin typeface="Arial" panose="020B0604020202020204" pitchFamily="34" charset="0"/>
                <a:cs typeface="Arial" panose="020B0604020202020204" pitchFamily="34" charset="0"/>
              </a:rPr>
              <a:t>Bước 1: Xác định sơ bộ thông tin cần thu thập và đánh giá</a:t>
            </a:r>
          </a:p>
          <a:p>
            <a:r>
              <a:rPr lang="en-VN" sz="1800" dirty="0">
                <a:solidFill>
                  <a:schemeClr val="bg1">
                    <a:lumMod val="10000"/>
                  </a:schemeClr>
                </a:solidFill>
                <a:latin typeface="Arial" panose="020B0604020202020204" pitchFamily="34" charset="0"/>
                <a:cs typeface="Arial" panose="020B0604020202020204" pitchFamily="34" charset="0"/>
              </a:rPr>
              <a:t>Ai cung cấp thông tin?</a:t>
            </a:r>
          </a:p>
          <a:p>
            <a:r>
              <a:rPr lang="en-VN" sz="1800" dirty="0">
                <a:solidFill>
                  <a:schemeClr val="bg1">
                    <a:lumMod val="10000"/>
                  </a:schemeClr>
                </a:solidFill>
                <a:latin typeface="Arial" panose="020B0604020202020204" pitchFamily="34" charset="0"/>
                <a:cs typeface="Arial" panose="020B0604020202020204" pitchFamily="34" charset="0"/>
              </a:rPr>
              <a:t>Thu thập thông tin &amp; đánh giá từ nguồn nào?</a:t>
            </a:r>
          </a:p>
          <a:p>
            <a:r>
              <a:rPr lang="en-VN" sz="1800" dirty="0">
                <a:solidFill>
                  <a:schemeClr val="bg1">
                    <a:lumMod val="10000"/>
                  </a:schemeClr>
                </a:solidFill>
                <a:latin typeface="Arial" panose="020B0604020202020204" pitchFamily="34" charset="0"/>
                <a:cs typeface="Arial" panose="020B0604020202020204" pitchFamily="34" charset="0"/>
              </a:rPr>
              <a:t>Thu thập &amp; đánh giá cái gì?</a:t>
            </a:r>
          </a:p>
          <a:p>
            <a:r>
              <a:rPr lang="en-VN" sz="1800" dirty="0">
                <a:solidFill>
                  <a:schemeClr val="bg1">
                    <a:lumMod val="10000"/>
                  </a:schemeClr>
                </a:solidFill>
                <a:latin typeface="Arial" panose="020B0604020202020204" pitchFamily="34" charset="0"/>
                <a:cs typeface="Arial" panose="020B0604020202020204" pitchFamily="34" charset="0"/>
              </a:rPr>
              <a:t>Thu thập &amp; đánh giá nhằm mục đích gì?</a:t>
            </a:r>
          </a:p>
          <a:p>
            <a:pPr marL="177800" indent="0">
              <a:buNone/>
            </a:pPr>
            <a:r>
              <a:rPr lang="en-VN" sz="1800" dirty="0">
                <a:solidFill>
                  <a:schemeClr val="bg1">
                    <a:lumMod val="10000"/>
                  </a:schemeClr>
                </a:solidFill>
                <a:latin typeface="Arial" panose="020B0604020202020204" pitchFamily="34" charset="0"/>
                <a:cs typeface="Arial" panose="020B0604020202020204" pitchFamily="34" charset="0"/>
              </a:rPr>
              <a:t>Bước 2: Xác định thời gian &amp; địa điểm thực hiện</a:t>
            </a:r>
          </a:p>
          <a:p>
            <a:r>
              <a:rPr lang="en-VN" sz="1800" dirty="0">
                <a:solidFill>
                  <a:schemeClr val="bg1">
                    <a:lumMod val="10000"/>
                  </a:schemeClr>
                </a:solidFill>
                <a:latin typeface="Arial" panose="020B0604020202020204" pitchFamily="34" charset="0"/>
                <a:cs typeface="Arial" panose="020B0604020202020204" pitchFamily="34" charset="0"/>
              </a:rPr>
              <a:t>Tùy theo vấn đề và tình trạng (thể chất, tâm lý) của NB để quyết định thực hiện đánh giá hay không.</a:t>
            </a:r>
          </a:p>
          <a:p>
            <a:r>
              <a:rPr lang="en-VN" sz="1800" dirty="0">
                <a:solidFill>
                  <a:schemeClr val="bg1">
                    <a:lumMod val="10000"/>
                  </a:schemeClr>
                </a:solidFill>
                <a:latin typeface="Arial" panose="020B0604020202020204" pitchFamily="34" charset="0"/>
                <a:cs typeface="Arial" panose="020B0604020202020204" pitchFamily="34" charset="0"/>
              </a:rPr>
              <a:t>Xác định cụ thể thời gian &amp;địa điểm để thực hiện đánh giá một cách hiệu quả nhất.</a:t>
            </a:r>
          </a:p>
        </p:txBody>
      </p:sp>
    </p:spTree>
    <p:extLst>
      <p:ext uri="{BB962C8B-B14F-4D97-AF65-F5344CB8AC3E}">
        <p14:creationId xmlns:p14="http://schemas.microsoft.com/office/powerpoint/2010/main" val="86995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E6D3C-7320-6514-1083-5F975D788E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99BFE7-5DB9-F024-61A7-4D5711FEF88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24</a:t>
            </a:fld>
            <a:endParaRPr lang="en"/>
          </a:p>
        </p:txBody>
      </p:sp>
      <p:sp>
        <p:nvSpPr>
          <p:cNvPr id="3" name="Title 2">
            <a:extLst>
              <a:ext uri="{FF2B5EF4-FFF2-40B4-BE49-F238E27FC236}">
                <a16:creationId xmlns:a16="http://schemas.microsoft.com/office/drawing/2014/main" id="{785D14B8-53B5-1B4D-4278-34DF5018470C}"/>
              </a:ext>
            </a:extLst>
          </p:cNvPr>
          <p:cNvSpPr>
            <a:spLocks noGrp="1"/>
          </p:cNvSpPr>
          <p:nvPr>
            <p:ph type="title"/>
          </p:nvPr>
        </p:nvSpPr>
        <p:spPr>
          <a:xfrm>
            <a:off x="611358" y="248507"/>
            <a:ext cx="3852000" cy="572700"/>
          </a:xfrm>
        </p:spPr>
        <p:txBody>
          <a:bodyPr/>
          <a:lstStyle/>
          <a:p>
            <a:r>
              <a:rPr lang="en-VN" sz="2400" dirty="0">
                <a:latin typeface="+mn-lt"/>
              </a:rPr>
              <a:t>Cách thức thực hiện</a:t>
            </a:r>
          </a:p>
        </p:txBody>
      </p:sp>
      <p:sp>
        <p:nvSpPr>
          <p:cNvPr id="5" name="Text Placeholder 3">
            <a:extLst>
              <a:ext uri="{FF2B5EF4-FFF2-40B4-BE49-F238E27FC236}">
                <a16:creationId xmlns:a16="http://schemas.microsoft.com/office/drawing/2014/main" id="{CD3A0CC1-8556-6EB3-0D8B-841E921EDF4A}"/>
              </a:ext>
            </a:extLst>
          </p:cNvPr>
          <p:cNvSpPr txBox="1">
            <a:spLocks/>
          </p:cNvSpPr>
          <p:nvPr/>
        </p:nvSpPr>
        <p:spPr>
          <a:xfrm>
            <a:off x="611359" y="821207"/>
            <a:ext cx="8152396" cy="40737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None/>
            </a:pPr>
            <a:r>
              <a:rPr lang="en-VN" sz="1800" dirty="0">
                <a:solidFill>
                  <a:schemeClr val="bg1">
                    <a:lumMod val="10000"/>
                  </a:schemeClr>
                </a:solidFill>
                <a:latin typeface="Arial" panose="020B0604020202020204" pitchFamily="34" charset="0"/>
                <a:cs typeface="Arial" panose="020B0604020202020204" pitchFamily="34" charset="0"/>
              </a:rPr>
              <a:t>Bước 3:Tiến hành thu thập thông tin &amp; đánh giá</a:t>
            </a:r>
          </a:p>
          <a:p>
            <a:r>
              <a:rPr lang="en-VN" sz="1800" dirty="0">
                <a:solidFill>
                  <a:schemeClr val="bg1">
                    <a:lumMod val="10000"/>
                  </a:schemeClr>
                </a:solidFill>
                <a:latin typeface="Arial" panose="020B0604020202020204" pitchFamily="34" charset="0"/>
                <a:cs typeface="Arial" panose="020B0604020202020204" pitchFamily="34" charset="0"/>
              </a:rPr>
              <a:t>Quan sát môi trường( bối cảnh) xung quanh NB Và các mối quan hệ của họ</a:t>
            </a:r>
          </a:p>
          <a:p>
            <a:r>
              <a:rPr lang="en-VN" sz="1800" dirty="0">
                <a:solidFill>
                  <a:schemeClr val="bg1">
                    <a:lumMod val="10000"/>
                  </a:schemeClr>
                </a:solidFill>
                <a:latin typeface="Arial" panose="020B0604020202020204" pitchFamily="34" charset="0"/>
                <a:cs typeface="Arial" panose="020B0604020202020204" pitchFamily="34" charset="0"/>
              </a:rPr>
              <a:t>Sử dụng nhiều câu hỏi để thu thập thông tin và đánh giá, giúp NB bày tỏ suy nghĩ, cảm xúc, vấn đề, trải nghiệm…của bản thân.</a:t>
            </a:r>
          </a:p>
          <a:p>
            <a:r>
              <a:rPr lang="en-VN" sz="1800" dirty="0">
                <a:solidFill>
                  <a:schemeClr val="bg1">
                    <a:lumMod val="10000"/>
                  </a:schemeClr>
                </a:solidFill>
                <a:latin typeface="Arial" panose="020B0604020202020204" pitchFamily="34" charset="0"/>
                <a:cs typeface="Arial" panose="020B0604020202020204" pitchFamily="34" charset="0"/>
              </a:rPr>
              <a:t>Tiến hành quan sát và ghi nhận những hành vi, biểu hiện của NB.</a:t>
            </a:r>
          </a:p>
          <a:p>
            <a:pPr marL="177800" indent="0">
              <a:buNone/>
            </a:pPr>
            <a:r>
              <a:rPr lang="en-VN" sz="1800" dirty="0">
                <a:solidFill>
                  <a:schemeClr val="bg1">
                    <a:lumMod val="10000"/>
                  </a:schemeClr>
                </a:solidFill>
                <a:latin typeface="Arial" panose="020B0604020202020204" pitchFamily="34" charset="0"/>
                <a:cs typeface="Arial" panose="020B0604020202020204" pitchFamily="34" charset="0"/>
              </a:rPr>
              <a:t>Bước 4: Ghi chép và đánh giá</a:t>
            </a:r>
          </a:p>
          <a:p>
            <a:r>
              <a:rPr lang="en-VN" sz="1800" dirty="0">
                <a:solidFill>
                  <a:schemeClr val="bg1">
                    <a:lumMod val="10000"/>
                  </a:schemeClr>
                </a:solidFill>
                <a:latin typeface="Arial" panose="020B0604020202020204" pitchFamily="34" charset="0"/>
                <a:cs typeface="Arial" panose="020B0604020202020204" pitchFamily="34" charset="0"/>
              </a:rPr>
              <a:t>Ghi chép ( biểu mẫu, phúc trình/ nhật ký ca), quay phim, ghi âm ( nếu được sự đồng ý của NB).</a:t>
            </a:r>
          </a:p>
          <a:p>
            <a:r>
              <a:rPr lang="en-VN" sz="1800" dirty="0">
                <a:solidFill>
                  <a:schemeClr val="bg1">
                    <a:lumMod val="10000"/>
                  </a:schemeClr>
                </a:solidFill>
                <a:latin typeface="Arial" panose="020B0604020202020204" pitchFamily="34" charset="0"/>
                <a:cs typeface="Arial" panose="020B0604020202020204" pitchFamily="34" charset="0"/>
              </a:rPr>
              <a:t>Đánh giá: Phân tích và hiểu được thông tin liên quan đến vấn đề, rủi ro, và nhu cầu NB. Đánh giá bởi cán bộ QLTH có nghiệp vụ chuyên môn.</a:t>
            </a:r>
          </a:p>
        </p:txBody>
      </p:sp>
    </p:spTree>
    <p:extLst>
      <p:ext uri="{BB962C8B-B14F-4D97-AF65-F5344CB8AC3E}">
        <p14:creationId xmlns:p14="http://schemas.microsoft.com/office/powerpoint/2010/main" val="1407302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4C50DB-49FE-1DEF-E765-90D22017D3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25</a:t>
            </a:fld>
            <a:endParaRPr lang="en"/>
          </a:p>
        </p:txBody>
      </p:sp>
      <p:sp>
        <p:nvSpPr>
          <p:cNvPr id="3" name="Title 2">
            <a:extLst>
              <a:ext uri="{FF2B5EF4-FFF2-40B4-BE49-F238E27FC236}">
                <a16:creationId xmlns:a16="http://schemas.microsoft.com/office/drawing/2014/main" id="{5B7773DA-50BC-DFFF-BA61-898435E5D0DC}"/>
              </a:ext>
            </a:extLst>
          </p:cNvPr>
          <p:cNvSpPr>
            <a:spLocks noGrp="1"/>
          </p:cNvSpPr>
          <p:nvPr>
            <p:ph type="title"/>
          </p:nvPr>
        </p:nvSpPr>
        <p:spPr/>
        <p:txBody>
          <a:bodyPr/>
          <a:lstStyle/>
          <a:p>
            <a:r>
              <a:rPr lang="en-VN" sz="2400" dirty="0">
                <a:latin typeface="Arial" panose="020B0604020202020204" pitchFamily="34" charset="0"/>
                <a:cs typeface="Arial" panose="020B0604020202020204" pitchFamily="34" charset="0"/>
              </a:rPr>
              <a:t>Thảo luận nhóm</a:t>
            </a:r>
          </a:p>
        </p:txBody>
      </p:sp>
      <p:sp>
        <p:nvSpPr>
          <p:cNvPr id="4" name="Text Placeholder 3">
            <a:extLst>
              <a:ext uri="{FF2B5EF4-FFF2-40B4-BE49-F238E27FC236}">
                <a16:creationId xmlns:a16="http://schemas.microsoft.com/office/drawing/2014/main" id="{A5244F37-4100-54AA-1F9B-C77D2FC467BF}"/>
              </a:ext>
            </a:extLst>
          </p:cNvPr>
          <p:cNvSpPr>
            <a:spLocks noGrp="1"/>
          </p:cNvSpPr>
          <p:nvPr>
            <p:ph type="body" idx="1"/>
          </p:nvPr>
        </p:nvSpPr>
        <p:spPr>
          <a:xfrm>
            <a:off x="621792" y="1017725"/>
            <a:ext cx="7802208" cy="3431125"/>
          </a:xfrm>
        </p:spPr>
        <p:txBody>
          <a:bodyPr/>
          <a:lstStyle/>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Chia nhóm lớp 4-5 nhóm, mỗi nhóm 4-5 học viên thảo luận ca (8 giờ tự học)</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Một bé gái 14 tuổi được giải cứu từ biên giới. Em cho biết gia đình nghèo khổ, có 4 người con cha mẹ lại bệnh tật, quanh năm lam lũ không đủ ăn mặc.  Được hàng xóm giới thiệu công việc sẽ kiếm được tiền, nên em và cha mẹ đồng ý sẽ đi làm trong 2 năm, kiếm tiền về trang trải và nuôi sống gia đình. Được biết em bị một nhóm người đưa qua biên giới để kiếm việc làm, tuy nhiên em và những người trong nhóm đã bị đưa vào làm trong một nhà hàng và bị ép phục vụ khách… Sau hơn 1 năm, em được một tổ chức Quốc tế – kết hợp với bộ đội biên phòng giải cứu. </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Anh/chị với vai trò nhân viên CTXH tiếp nhận trường hợp này, giả định thông tin và đánh giá trường hợp bé gái trong tình huống nêu trên cần hỗ trợ và can thiệp gì?</a:t>
            </a:r>
          </a:p>
        </p:txBody>
      </p:sp>
    </p:spTree>
    <p:extLst>
      <p:ext uri="{BB962C8B-B14F-4D97-AF65-F5344CB8AC3E}">
        <p14:creationId xmlns:p14="http://schemas.microsoft.com/office/powerpoint/2010/main" val="3552052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077CCB-E811-A1E6-622B-EF270DAD59C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26</a:t>
            </a:fld>
            <a:endParaRPr lang="en"/>
          </a:p>
        </p:txBody>
      </p:sp>
      <p:sp>
        <p:nvSpPr>
          <p:cNvPr id="10" name="TextBox 9">
            <a:extLst>
              <a:ext uri="{FF2B5EF4-FFF2-40B4-BE49-F238E27FC236}">
                <a16:creationId xmlns:a16="http://schemas.microsoft.com/office/drawing/2014/main" id="{63EDA46A-DC4A-9FA7-C07D-C822D40DF7CA}"/>
              </a:ext>
            </a:extLst>
          </p:cNvPr>
          <p:cNvSpPr txBox="1"/>
          <p:nvPr/>
        </p:nvSpPr>
        <p:spPr>
          <a:xfrm>
            <a:off x="804672" y="877824"/>
            <a:ext cx="7687479" cy="3108543"/>
          </a:xfrm>
          <a:prstGeom prst="rect">
            <a:avLst/>
          </a:prstGeom>
          <a:noFill/>
        </p:spPr>
        <p:txBody>
          <a:bodyPr wrap="square">
            <a:spAutoFit/>
          </a:bodyPr>
          <a:lstStyle/>
          <a:p>
            <a:pPr algn="r"/>
            <a:r>
              <a:rPr lang="vi-VN" dirty="0">
                <a:solidFill>
                  <a:schemeClr val="bg1">
                    <a:lumMod val="10000"/>
                  </a:schemeClr>
                </a:solidFill>
                <a:latin typeface="Mulish"/>
              </a:rPr>
              <a:t>Biểu mẫu: QLC 7</a:t>
            </a:r>
          </a:p>
          <a:p>
            <a:endParaRPr lang="vi-VN" b="1" dirty="0">
              <a:solidFill>
                <a:schemeClr val="bg1">
                  <a:lumMod val="10000"/>
                </a:schemeClr>
              </a:solidFill>
              <a:latin typeface="Times" pitchFamily="2" charset="0"/>
            </a:endParaRPr>
          </a:p>
          <a:p>
            <a:r>
              <a:rPr lang="vi-VN" b="1" dirty="0">
                <a:solidFill>
                  <a:schemeClr val="bg1">
                    <a:lumMod val="10000"/>
                  </a:schemeClr>
                </a:solidFill>
                <a:latin typeface="Mulish"/>
                <a:sym typeface="Mulish"/>
              </a:rPr>
              <a:t>HỒ SƠ VỀ TÌNH TRẠNG CỦA TRẺ/ CHILD STATUS RECORD</a:t>
            </a:r>
          </a:p>
          <a:p>
            <a:br>
              <a:rPr lang="vi-VN" dirty="0">
                <a:solidFill>
                  <a:schemeClr val="bg1">
                    <a:lumMod val="10000"/>
                  </a:schemeClr>
                </a:solidFill>
                <a:latin typeface="Mulish"/>
                <a:sym typeface="Mulish"/>
              </a:rPr>
            </a:br>
            <a:r>
              <a:rPr lang="vi-VN" dirty="0">
                <a:solidFill>
                  <a:schemeClr val="bg1">
                    <a:lumMod val="10000"/>
                  </a:schemeClr>
                </a:solidFill>
                <a:latin typeface="Mulish"/>
                <a:sym typeface="Mulish"/>
              </a:rPr>
              <a:t>Thời gian đánh giá/Time of assessment: Từ/from:__________đến/to:___________ </a:t>
            </a:r>
          </a:p>
          <a:p>
            <a:r>
              <a:rPr lang="vi-VN" dirty="0">
                <a:solidFill>
                  <a:schemeClr val="bg1">
                    <a:lumMod val="10000"/>
                  </a:schemeClr>
                </a:solidFill>
                <a:latin typeface="Mulish"/>
                <a:sym typeface="Mulish"/>
              </a:rPr>
              <a:t>Tên trẻ/Child’ s name::_________________________Ngày sinh/:Day of birth:____________ Giới/Sex: Nam/Boy </a:t>
            </a:r>
            <a:r>
              <a:rPr lang="en-VN" dirty="0">
                <a:solidFill>
                  <a:schemeClr val="bg1">
                    <a:lumMod val="10000"/>
                  </a:schemeClr>
                </a:solidFill>
                <a:latin typeface="Mulish"/>
                <a:sym typeface="Mulish"/>
              </a:rPr>
              <a:t>􏰁 </a:t>
            </a:r>
            <a:r>
              <a:rPr lang="vi-VN" dirty="0">
                <a:solidFill>
                  <a:schemeClr val="bg1">
                    <a:lumMod val="10000"/>
                  </a:schemeClr>
                </a:solidFill>
                <a:latin typeface="Mulish"/>
                <a:sym typeface="Mulish"/>
              </a:rPr>
              <a:t>Nữ/Girl </a:t>
            </a:r>
            <a:r>
              <a:rPr lang="en-VN" dirty="0">
                <a:solidFill>
                  <a:schemeClr val="bg1">
                    <a:lumMod val="10000"/>
                  </a:schemeClr>
                </a:solidFill>
                <a:latin typeface="Mulish"/>
                <a:sym typeface="Mulish"/>
              </a:rPr>
              <a:t>􏰁 </a:t>
            </a:r>
            <a:r>
              <a:rPr lang="vi-VN" dirty="0">
                <a:solidFill>
                  <a:schemeClr val="bg1">
                    <a:lumMod val="10000"/>
                  </a:schemeClr>
                </a:solidFill>
                <a:latin typeface="Mulish"/>
                <a:sym typeface="Mulish"/>
              </a:rPr>
              <a:t>Mã số trẻ/ Code of child: _______________________ </a:t>
            </a:r>
          </a:p>
          <a:p>
            <a:r>
              <a:rPr lang="vi-VN" dirty="0">
                <a:solidFill>
                  <a:schemeClr val="bg1">
                    <a:lumMod val="10000"/>
                  </a:schemeClr>
                </a:solidFill>
                <a:latin typeface="Mulish"/>
                <a:sym typeface="Mulish"/>
              </a:rPr>
              <a:t>Mã số gia đình/Code of family:_______________________</a:t>
            </a:r>
            <a:br>
              <a:rPr lang="vi-VN" dirty="0">
                <a:solidFill>
                  <a:schemeClr val="bg1">
                    <a:lumMod val="10000"/>
                  </a:schemeClr>
                </a:solidFill>
                <a:latin typeface="Mulish"/>
                <a:sym typeface="Mulish"/>
              </a:rPr>
            </a:br>
            <a:r>
              <a:rPr lang="vi-VN" dirty="0">
                <a:solidFill>
                  <a:schemeClr val="bg1">
                    <a:lumMod val="10000"/>
                  </a:schemeClr>
                </a:solidFill>
                <a:latin typeface="Mulish"/>
                <a:sym typeface="Mulish"/>
              </a:rPr>
              <a:t>Tên người chăm sóc chính/ Name of key caregiver : __________________________________________________</a:t>
            </a:r>
            <a:br>
              <a:rPr lang="vi-VN" dirty="0">
                <a:solidFill>
                  <a:schemeClr val="bg1">
                    <a:lumMod val="10000"/>
                  </a:schemeClr>
                </a:solidFill>
                <a:latin typeface="Mulish"/>
                <a:sym typeface="Mulish"/>
              </a:rPr>
            </a:br>
            <a:r>
              <a:rPr lang="vi-VN" dirty="0">
                <a:solidFill>
                  <a:schemeClr val="bg1">
                    <a:lumMod val="10000"/>
                  </a:schemeClr>
                </a:solidFill>
                <a:latin typeface="Mulish"/>
                <a:sym typeface="Mulish"/>
              </a:rPr>
              <a:t>Địa chỉ/ Address: ______________________________________________________________________________ </a:t>
            </a:r>
          </a:p>
          <a:p>
            <a:r>
              <a:rPr lang="vi-VN" dirty="0">
                <a:solidFill>
                  <a:schemeClr val="bg1">
                    <a:lumMod val="10000"/>
                  </a:schemeClr>
                </a:solidFill>
                <a:latin typeface="Mulish"/>
                <a:sym typeface="Mulish"/>
              </a:rPr>
              <a:t>Tên người đánh giá /Name of assessor:_____________________________________________________________ </a:t>
            </a:r>
          </a:p>
        </p:txBody>
      </p:sp>
      <p:sp>
        <p:nvSpPr>
          <p:cNvPr id="11" name="TextBox 10">
            <a:extLst>
              <a:ext uri="{FF2B5EF4-FFF2-40B4-BE49-F238E27FC236}">
                <a16:creationId xmlns:a16="http://schemas.microsoft.com/office/drawing/2014/main" id="{34DD7E53-D8B7-0626-3056-1DD45EAF87FC}"/>
              </a:ext>
            </a:extLst>
          </p:cNvPr>
          <p:cNvSpPr txBox="1"/>
          <p:nvPr/>
        </p:nvSpPr>
        <p:spPr>
          <a:xfrm>
            <a:off x="561315" y="380246"/>
            <a:ext cx="1186004" cy="307777"/>
          </a:xfrm>
          <a:prstGeom prst="rect">
            <a:avLst/>
          </a:prstGeom>
          <a:noFill/>
        </p:spPr>
        <p:txBody>
          <a:bodyPr wrap="square" rtlCol="0">
            <a:spAutoFit/>
          </a:bodyPr>
          <a:lstStyle/>
          <a:p>
            <a:r>
              <a:rPr lang="en-VN" dirty="0"/>
              <a:t>Tham khảo</a:t>
            </a:r>
          </a:p>
        </p:txBody>
      </p:sp>
    </p:spTree>
    <p:extLst>
      <p:ext uri="{BB962C8B-B14F-4D97-AF65-F5344CB8AC3E}">
        <p14:creationId xmlns:p14="http://schemas.microsoft.com/office/powerpoint/2010/main" val="3806894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E734E1-745A-A84B-0C87-206621F4126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27</a:t>
            </a:fld>
            <a:endParaRPr lang="en"/>
          </a:p>
        </p:txBody>
      </p:sp>
      <p:graphicFrame>
        <p:nvGraphicFramePr>
          <p:cNvPr id="6" name="Table 5">
            <a:extLst>
              <a:ext uri="{FF2B5EF4-FFF2-40B4-BE49-F238E27FC236}">
                <a16:creationId xmlns:a16="http://schemas.microsoft.com/office/drawing/2014/main" id="{3E28285E-99E8-9AD9-4241-A33973F84434}"/>
              </a:ext>
            </a:extLst>
          </p:cNvPr>
          <p:cNvGraphicFramePr>
            <a:graphicFrameLocks noGrp="1"/>
          </p:cNvGraphicFramePr>
          <p:nvPr>
            <p:extLst>
              <p:ext uri="{D42A27DB-BD31-4B8C-83A1-F6EECF244321}">
                <p14:modId xmlns:p14="http://schemas.microsoft.com/office/powerpoint/2010/main" val="4029475451"/>
              </p:ext>
            </p:extLst>
          </p:nvPr>
        </p:nvGraphicFramePr>
        <p:xfrm>
          <a:off x="566928" y="420624"/>
          <a:ext cx="8133449" cy="4316915"/>
        </p:xfrm>
        <a:graphic>
          <a:graphicData uri="http://schemas.openxmlformats.org/drawingml/2006/table">
            <a:tbl>
              <a:tblPr firstRow="1" firstCol="1" lastRow="1" lastCol="1" bandRow="1" bandCol="1">
                <a:tableStyleId>{5765BD47-0766-45DA-83AF-D0E9DCAA76E3}</a:tableStyleId>
              </a:tblPr>
              <a:tblGrid>
                <a:gridCol w="2585050">
                  <a:extLst>
                    <a:ext uri="{9D8B030D-6E8A-4147-A177-3AD203B41FA5}">
                      <a16:colId xmlns:a16="http://schemas.microsoft.com/office/drawing/2014/main" val="4138765632"/>
                    </a:ext>
                  </a:extLst>
                </a:gridCol>
                <a:gridCol w="1324049">
                  <a:extLst>
                    <a:ext uri="{9D8B030D-6E8A-4147-A177-3AD203B41FA5}">
                      <a16:colId xmlns:a16="http://schemas.microsoft.com/office/drawing/2014/main" val="1514261275"/>
                    </a:ext>
                  </a:extLst>
                </a:gridCol>
                <a:gridCol w="1387100">
                  <a:extLst>
                    <a:ext uri="{9D8B030D-6E8A-4147-A177-3AD203B41FA5}">
                      <a16:colId xmlns:a16="http://schemas.microsoft.com/office/drawing/2014/main" val="3062612988"/>
                    </a:ext>
                  </a:extLst>
                </a:gridCol>
                <a:gridCol w="1450150">
                  <a:extLst>
                    <a:ext uri="{9D8B030D-6E8A-4147-A177-3AD203B41FA5}">
                      <a16:colId xmlns:a16="http://schemas.microsoft.com/office/drawing/2014/main" val="2993493691"/>
                    </a:ext>
                  </a:extLst>
                </a:gridCol>
                <a:gridCol w="1387100">
                  <a:extLst>
                    <a:ext uri="{9D8B030D-6E8A-4147-A177-3AD203B41FA5}">
                      <a16:colId xmlns:a16="http://schemas.microsoft.com/office/drawing/2014/main" val="3887244471"/>
                    </a:ext>
                  </a:extLst>
                </a:gridCol>
              </a:tblGrid>
              <a:tr h="288065">
                <a:tc>
                  <a:txBody>
                    <a:bodyPr/>
                    <a:lstStyle/>
                    <a:p>
                      <a:pPr>
                        <a:spcBef>
                          <a:spcPts val="600"/>
                        </a:spcBef>
                      </a:pPr>
                      <a:r>
                        <a:rPr lang="en-US" sz="800" cap="all">
                          <a:effectLst/>
                        </a:rPr>
                        <a:t>PhẠm vi đánh giá/ DOMAIN</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Điểm(khoanh tròn)/ circle one</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Điểm(khoanh tròn)/ circle one</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Điểm(khoanh tròn)/ circle one</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marL="45720" indent="-45720">
                        <a:spcBef>
                          <a:spcPts val="600"/>
                        </a:spcBef>
                        <a:spcAft>
                          <a:spcPts val="0"/>
                        </a:spcAft>
                      </a:pPr>
                      <a:r>
                        <a:rPr lang="en-US" sz="800">
                          <a:effectLst/>
                        </a:rPr>
                        <a:t>Điểm(khoanh tròn)/ circle one</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217948969"/>
                  </a:ext>
                </a:extLst>
              </a:tr>
              <a:tr h="144033">
                <a:tc>
                  <a:txBody>
                    <a:bodyPr/>
                    <a:lstStyle/>
                    <a:p>
                      <a:pPr>
                        <a:spcBef>
                          <a:spcPts val="600"/>
                        </a:spcBef>
                      </a:pPr>
                      <a:r>
                        <a:rPr lang="en-US" sz="800" cap="all">
                          <a:effectLst/>
                        </a:rPr>
                        <a:t>NGÀY ĐÁNH GIÁ</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ĐỢT </a:t>
                      </a:r>
                      <a:r>
                        <a:rPr lang="vi-VN" sz="800">
                          <a:effectLst/>
                        </a:rPr>
                        <a:t> I</a:t>
                      </a:r>
                      <a:r>
                        <a:rPr lang="en-US" sz="800">
                          <a:effectLst/>
                        </a:rPr>
                        <a:t>: ngày</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ĐỢT </a:t>
                      </a:r>
                      <a:r>
                        <a:rPr lang="vi-VN" sz="800">
                          <a:effectLst/>
                        </a:rPr>
                        <a:t> II</a:t>
                      </a:r>
                      <a:r>
                        <a:rPr lang="en-US" sz="800">
                          <a:effectLst/>
                        </a:rPr>
                        <a:t>:ngày</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ĐỢT </a:t>
                      </a:r>
                      <a:r>
                        <a:rPr lang="vi-VN" sz="800">
                          <a:effectLst/>
                        </a:rPr>
                        <a:t> III</a:t>
                      </a:r>
                      <a:r>
                        <a:rPr lang="en-US" sz="800">
                          <a:effectLst/>
                        </a:rPr>
                        <a:t>:ngày</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ĐỢT IV:ngày</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985681349"/>
                  </a:ext>
                </a:extLst>
              </a:tr>
              <a:tr h="144033">
                <a:tc gridSpan="5">
                  <a:txBody>
                    <a:bodyPr/>
                    <a:lstStyle/>
                    <a:p>
                      <a:pPr>
                        <a:spcBef>
                          <a:spcPts val="600"/>
                        </a:spcBef>
                      </a:pPr>
                      <a:r>
                        <a:rPr lang="en-US" sz="800" cap="all">
                          <a:effectLst/>
                        </a:rPr>
                        <a:t>i. ThỨC ăn và dinh dỮơng/ FOOD AND NUTRITION</a:t>
                      </a:r>
                      <a:endParaRPr lang="en-VN" sz="900">
                        <a:effectLst/>
                        <a:latin typeface="Times New Roman" panose="02020603050405020304" pitchFamily="18" charset="0"/>
                        <a:ea typeface="Times New Roman" panose="02020603050405020304" pitchFamily="18" charset="0"/>
                      </a:endParaRPr>
                    </a:p>
                  </a:txBody>
                  <a:tcPr marL="52113" marR="52113" marT="0" marB="0"/>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439495629"/>
                  </a:ext>
                </a:extLst>
              </a:tr>
              <a:tr h="378086">
                <a:tc>
                  <a:txBody>
                    <a:bodyPr/>
                    <a:lstStyle/>
                    <a:p>
                      <a:pPr marL="114300">
                        <a:spcBef>
                          <a:spcPts val="600"/>
                        </a:spcBef>
                        <a:spcAft>
                          <a:spcPts val="0"/>
                        </a:spcAft>
                      </a:pPr>
                      <a:r>
                        <a:rPr lang="en-US" sz="800" dirty="0">
                          <a:effectLst/>
                        </a:rPr>
                        <a:t>1. </a:t>
                      </a:r>
                      <a:r>
                        <a:rPr lang="en-US" sz="800" dirty="0" err="1">
                          <a:effectLst/>
                        </a:rPr>
                        <a:t>Đảm</a:t>
                      </a:r>
                      <a:r>
                        <a:rPr lang="en-US" sz="800" dirty="0">
                          <a:effectLst/>
                        </a:rPr>
                        <a:t> </a:t>
                      </a:r>
                      <a:r>
                        <a:rPr lang="en-US" sz="800" dirty="0" err="1">
                          <a:effectLst/>
                        </a:rPr>
                        <a:t>bảo</a:t>
                      </a:r>
                      <a:r>
                        <a:rPr lang="en-US" sz="800" dirty="0">
                          <a:effectLst/>
                        </a:rPr>
                        <a:t> </a:t>
                      </a:r>
                      <a:r>
                        <a:rPr lang="en-US" sz="800" dirty="0" err="1">
                          <a:effectLst/>
                        </a:rPr>
                        <a:t>về</a:t>
                      </a:r>
                      <a:r>
                        <a:rPr lang="en-US" sz="800" dirty="0">
                          <a:effectLst/>
                        </a:rPr>
                        <a:t> </a:t>
                      </a:r>
                      <a:r>
                        <a:rPr lang="en-US" sz="800" dirty="0" err="1">
                          <a:effectLst/>
                        </a:rPr>
                        <a:t>thực</a:t>
                      </a:r>
                      <a:r>
                        <a:rPr lang="en-US" sz="800" dirty="0">
                          <a:effectLst/>
                        </a:rPr>
                        <a:t> </a:t>
                      </a:r>
                      <a:r>
                        <a:rPr lang="en-US" sz="800" dirty="0" err="1">
                          <a:effectLst/>
                        </a:rPr>
                        <a:t>phẩm</a:t>
                      </a:r>
                      <a:r>
                        <a:rPr lang="en-US" sz="800" dirty="0">
                          <a:effectLst/>
                        </a:rPr>
                        <a:t>/</a:t>
                      </a:r>
                      <a:endParaRPr lang="en-VN" sz="900" dirty="0">
                        <a:effectLst/>
                      </a:endParaRPr>
                    </a:p>
                    <a:p>
                      <a:pPr marL="114300">
                        <a:spcBef>
                          <a:spcPts val="600"/>
                        </a:spcBef>
                        <a:spcAft>
                          <a:spcPts val="0"/>
                        </a:spcAft>
                      </a:pPr>
                      <a:r>
                        <a:rPr lang="en-US" sz="800" dirty="0">
                          <a:effectLst/>
                        </a:rPr>
                        <a:t>Food security </a:t>
                      </a: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607229210"/>
                  </a:ext>
                </a:extLst>
              </a:tr>
              <a:tr h="338011">
                <a:tc>
                  <a:txBody>
                    <a:bodyPr/>
                    <a:lstStyle/>
                    <a:p>
                      <a:pPr marL="114300">
                        <a:spcBef>
                          <a:spcPts val="600"/>
                        </a:spcBef>
                        <a:spcAft>
                          <a:spcPts val="0"/>
                        </a:spcAft>
                      </a:pPr>
                      <a:r>
                        <a:rPr lang="en-US" sz="800">
                          <a:effectLst/>
                        </a:rPr>
                        <a:t>2. Dinh dưỡng và tăng trưởng/. Nutrition and Growth</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p>
                    <a:p>
                      <a:pPr>
                        <a:spcBef>
                          <a:spcPts val="600"/>
                        </a:spcBef>
                      </a:pP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1376843057"/>
                  </a:ext>
                </a:extLst>
              </a:tr>
              <a:tr h="144033">
                <a:tc gridSpan="5">
                  <a:txBody>
                    <a:bodyPr/>
                    <a:lstStyle/>
                    <a:p>
                      <a:pPr>
                        <a:spcBef>
                          <a:spcPts val="600"/>
                        </a:spcBef>
                      </a:pPr>
                      <a:r>
                        <a:rPr lang="en-US" sz="800" cap="all" dirty="0">
                          <a:effectLst/>
                        </a:rPr>
                        <a:t>ii. CHỖ </a:t>
                      </a:r>
                      <a:r>
                        <a:rPr lang="en-US" sz="800" cap="all" dirty="0" err="1">
                          <a:effectLst/>
                        </a:rPr>
                        <a:t>Ở</a:t>
                      </a:r>
                      <a:r>
                        <a:rPr lang="en-US" sz="800" cap="all" dirty="0">
                          <a:effectLst/>
                        </a:rPr>
                        <a:t> </a:t>
                      </a:r>
                      <a:r>
                        <a:rPr lang="en-US" sz="800" cap="all" dirty="0" err="1">
                          <a:effectLst/>
                        </a:rPr>
                        <a:t>và</a:t>
                      </a:r>
                      <a:r>
                        <a:rPr lang="en-US" sz="800" cap="all" dirty="0">
                          <a:effectLst/>
                        </a:rPr>
                        <a:t> </a:t>
                      </a:r>
                      <a:r>
                        <a:rPr lang="en-US" sz="800" cap="all" dirty="0" err="1">
                          <a:effectLst/>
                        </a:rPr>
                        <a:t>chăm</a:t>
                      </a:r>
                      <a:r>
                        <a:rPr lang="en-US" sz="800" cap="all" dirty="0">
                          <a:effectLst/>
                        </a:rPr>
                        <a:t> </a:t>
                      </a:r>
                      <a:r>
                        <a:rPr lang="en-US" sz="800" cap="all" dirty="0" err="1">
                          <a:effectLst/>
                        </a:rPr>
                        <a:t>sóc</a:t>
                      </a:r>
                      <a:r>
                        <a:rPr lang="en-US" sz="800" cap="all" dirty="0">
                          <a:effectLst/>
                        </a:rPr>
                        <a:t>/ SHELTER AND CARE </a:t>
                      </a:r>
                      <a:endParaRPr lang="en-VN" sz="900" dirty="0">
                        <a:effectLst/>
                        <a:latin typeface="Times New Roman" panose="02020603050405020304" pitchFamily="18" charset="0"/>
                        <a:ea typeface="Times New Roman" panose="02020603050405020304" pitchFamily="18" charset="0"/>
                      </a:endParaRPr>
                    </a:p>
                  </a:txBody>
                  <a:tcPr marL="52113" marR="52113" marT="0" marB="0"/>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405137221"/>
                  </a:ext>
                </a:extLst>
              </a:tr>
              <a:tr h="144033">
                <a:tc>
                  <a:txBody>
                    <a:bodyPr/>
                    <a:lstStyle/>
                    <a:p>
                      <a:pPr indent="114300">
                        <a:spcBef>
                          <a:spcPts val="600"/>
                        </a:spcBef>
                      </a:pPr>
                      <a:r>
                        <a:rPr lang="en-US" sz="800">
                          <a:effectLst/>
                        </a:rPr>
                        <a:t>3. Nơi trú ngụ</a:t>
                      </a:r>
                      <a:r>
                        <a:rPr lang="vi-VN" sz="800">
                          <a:effectLst/>
                        </a:rPr>
                        <a:t> an toàn</a:t>
                      </a:r>
                      <a:r>
                        <a:rPr lang="en-US" sz="800">
                          <a:effectLst/>
                        </a:rPr>
                        <a:t>./ Shelter </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3329327356"/>
                  </a:ext>
                </a:extLst>
              </a:tr>
              <a:tr h="144033">
                <a:tc>
                  <a:txBody>
                    <a:bodyPr/>
                    <a:lstStyle/>
                    <a:p>
                      <a:pPr indent="114300">
                        <a:spcBef>
                          <a:spcPts val="600"/>
                        </a:spcBef>
                      </a:pPr>
                      <a:r>
                        <a:rPr lang="en-US" sz="800">
                          <a:effectLst/>
                        </a:rPr>
                        <a:t>4. </a:t>
                      </a:r>
                      <a:r>
                        <a:rPr lang="vi-VN" sz="800">
                          <a:effectLst/>
                        </a:rPr>
                        <a:t>Trẻ được chăm </a:t>
                      </a:r>
                      <a:r>
                        <a:rPr lang="en-US" sz="800">
                          <a:effectLst/>
                        </a:rPr>
                        <a:t>sóc/ Care</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849269514"/>
                  </a:ext>
                </a:extLst>
              </a:tr>
              <a:tr h="144033">
                <a:tc gridSpan="5">
                  <a:txBody>
                    <a:bodyPr/>
                    <a:lstStyle/>
                    <a:p>
                      <a:pPr>
                        <a:spcBef>
                          <a:spcPts val="600"/>
                        </a:spcBef>
                      </a:pPr>
                      <a:r>
                        <a:rPr lang="en-US" sz="800" cap="all" dirty="0">
                          <a:effectLst/>
                        </a:rPr>
                        <a:t>iii. </a:t>
                      </a:r>
                      <a:r>
                        <a:rPr lang="en-US" sz="800" cap="all" dirty="0" err="1">
                          <a:effectLst/>
                        </a:rPr>
                        <a:t>BẢo</a:t>
                      </a:r>
                      <a:r>
                        <a:rPr lang="en-US" sz="800" cap="all" dirty="0">
                          <a:effectLst/>
                        </a:rPr>
                        <a:t> </a:t>
                      </a:r>
                      <a:r>
                        <a:rPr lang="en-US" sz="800" cap="all" dirty="0" err="1">
                          <a:effectLst/>
                        </a:rPr>
                        <a:t>vỆ</a:t>
                      </a:r>
                      <a:r>
                        <a:rPr lang="en-US" sz="800" cap="all" dirty="0">
                          <a:effectLst/>
                        </a:rPr>
                        <a:t>/ PROTECTION</a:t>
                      </a:r>
                      <a:endParaRPr lang="en-VN" sz="900" dirty="0">
                        <a:effectLst/>
                        <a:latin typeface="Times New Roman" panose="02020603050405020304" pitchFamily="18" charset="0"/>
                        <a:ea typeface="Times New Roman" panose="02020603050405020304" pitchFamily="18" charset="0"/>
                      </a:endParaRPr>
                    </a:p>
                  </a:txBody>
                  <a:tcPr marL="52113" marR="52113" marT="0" marB="0"/>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3765082230"/>
                  </a:ext>
                </a:extLst>
              </a:tr>
              <a:tr h="288065">
                <a:tc>
                  <a:txBody>
                    <a:bodyPr/>
                    <a:lstStyle/>
                    <a:p>
                      <a:pPr marL="114300">
                        <a:spcBef>
                          <a:spcPts val="600"/>
                        </a:spcBef>
                        <a:spcAft>
                          <a:spcPts val="0"/>
                        </a:spcAft>
                      </a:pPr>
                      <a:r>
                        <a:rPr lang="en-US" sz="800">
                          <a:effectLst/>
                        </a:rPr>
                        <a:t>5. Chống ngược đãi và bóc lột/ Abuse and exploitation</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3697616490"/>
                  </a:ext>
                </a:extLst>
              </a:tr>
              <a:tr h="144033">
                <a:tc>
                  <a:txBody>
                    <a:bodyPr/>
                    <a:lstStyle/>
                    <a:p>
                      <a:pPr indent="114300">
                        <a:spcBef>
                          <a:spcPts val="600"/>
                        </a:spcBef>
                      </a:pPr>
                      <a:r>
                        <a:rPr lang="en-US" sz="800">
                          <a:effectLst/>
                        </a:rPr>
                        <a:t>6. Bảo vệ pháp lý /Legal protection </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endParaRPr lang="en-VN" sz="900" dirty="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1066460327"/>
                  </a:ext>
                </a:extLst>
              </a:tr>
              <a:tr h="144033">
                <a:tc gridSpan="5">
                  <a:txBody>
                    <a:bodyPr/>
                    <a:lstStyle/>
                    <a:p>
                      <a:pPr>
                        <a:spcBef>
                          <a:spcPts val="600"/>
                        </a:spcBef>
                      </a:pPr>
                      <a:r>
                        <a:rPr lang="en-US" sz="800">
                          <a:effectLst/>
                        </a:rPr>
                        <a:t>IV. SỨC KHOẺ/ HEALTH</a:t>
                      </a:r>
                      <a:endParaRPr lang="en-VN" sz="900">
                        <a:effectLst/>
                        <a:latin typeface="Times New Roman" panose="02020603050405020304" pitchFamily="18" charset="0"/>
                        <a:ea typeface="Times New Roman" panose="02020603050405020304" pitchFamily="18" charset="0"/>
                      </a:endParaRPr>
                    </a:p>
                  </a:txBody>
                  <a:tcPr marL="52113" marR="52113" marT="0" marB="0"/>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300262990"/>
                  </a:ext>
                </a:extLst>
              </a:tr>
              <a:tr h="288065">
                <a:tc>
                  <a:txBody>
                    <a:bodyPr/>
                    <a:lstStyle/>
                    <a:p>
                      <a:pPr indent="114300">
                        <a:spcBef>
                          <a:spcPts val="600"/>
                        </a:spcBef>
                      </a:pPr>
                      <a:r>
                        <a:rPr lang="en-US" sz="800">
                          <a:effectLst/>
                        </a:rPr>
                        <a:t>7. Tình trạng sức khoẻ</a:t>
                      </a:r>
                      <a:r>
                        <a:rPr lang="vi-VN" sz="800">
                          <a:effectLst/>
                        </a:rPr>
                        <a:t> phù hợp</a:t>
                      </a:r>
                      <a:r>
                        <a:rPr lang="en-US" sz="800">
                          <a:effectLst/>
                        </a:rPr>
                        <a:t>. Health status/Wellness </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304608833"/>
                  </a:ext>
                </a:extLst>
              </a:tr>
              <a:tr h="288065">
                <a:tc>
                  <a:txBody>
                    <a:bodyPr/>
                    <a:lstStyle/>
                    <a:p>
                      <a:pPr indent="114300">
                        <a:spcBef>
                          <a:spcPts val="600"/>
                        </a:spcBef>
                      </a:pPr>
                      <a:r>
                        <a:rPr lang="en-US" sz="800">
                          <a:effectLst/>
                        </a:rPr>
                        <a:t>8. </a:t>
                      </a:r>
                      <a:r>
                        <a:rPr lang="vi-VN" sz="800">
                          <a:effectLst/>
                        </a:rPr>
                        <a:t>Tiếp cận d</a:t>
                      </a:r>
                      <a:r>
                        <a:rPr lang="en-US" sz="800">
                          <a:effectLst/>
                        </a:rPr>
                        <a:t>ịch vụ chăm sóc y tế/ Health care services</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117802424"/>
                  </a:ext>
                </a:extLst>
              </a:tr>
              <a:tr h="144033">
                <a:tc gridSpan="5">
                  <a:txBody>
                    <a:bodyPr/>
                    <a:lstStyle/>
                    <a:p>
                      <a:pPr>
                        <a:spcBef>
                          <a:spcPts val="600"/>
                        </a:spcBef>
                      </a:pPr>
                      <a:r>
                        <a:rPr lang="en-US" sz="800">
                          <a:effectLst/>
                        </a:rPr>
                        <a:t>V. TÂM LÝ XÃ HỘI/ PSYCHOSOCIAL</a:t>
                      </a:r>
                      <a:endParaRPr lang="en-VN" sz="900">
                        <a:effectLst/>
                        <a:latin typeface="Times New Roman" panose="02020603050405020304" pitchFamily="18" charset="0"/>
                        <a:ea typeface="Times New Roman" panose="02020603050405020304" pitchFamily="18" charset="0"/>
                      </a:endParaRPr>
                    </a:p>
                  </a:txBody>
                  <a:tcPr marL="52113" marR="52113" marT="0" marB="0"/>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2474264289"/>
                  </a:ext>
                </a:extLst>
              </a:tr>
              <a:tr h="288065">
                <a:tc>
                  <a:txBody>
                    <a:bodyPr/>
                    <a:lstStyle/>
                    <a:p>
                      <a:pPr indent="114300">
                        <a:spcBef>
                          <a:spcPts val="600"/>
                        </a:spcBef>
                      </a:pPr>
                      <a:r>
                        <a:rPr lang="en-US" sz="800">
                          <a:effectLst/>
                        </a:rPr>
                        <a:t>9. Tâm lý, sức khỏe tâm thần/ Emotional health</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2232320232"/>
                  </a:ext>
                </a:extLst>
              </a:tr>
              <a:tr h="288065">
                <a:tc>
                  <a:txBody>
                    <a:bodyPr/>
                    <a:lstStyle/>
                    <a:p>
                      <a:pPr indent="114300">
                        <a:spcBef>
                          <a:spcPts val="600"/>
                        </a:spcBef>
                      </a:pPr>
                      <a:r>
                        <a:rPr lang="en-US" sz="800">
                          <a:effectLst/>
                        </a:rPr>
                        <a:t>10. </a:t>
                      </a:r>
                      <a:r>
                        <a:rPr lang="vi-VN" sz="800">
                          <a:effectLst/>
                        </a:rPr>
                        <a:t>Trẻ được tham gia các h</a:t>
                      </a:r>
                      <a:r>
                        <a:rPr lang="en-US" sz="800">
                          <a:effectLst/>
                        </a:rPr>
                        <a:t>oạt động xã hội/ Social behavior</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2976245721"/>
                  </a:ext>
                </a:extLst>
              </a:tr>
              <a:tr h="144033">
                <a:tc gridSpan="5">
                  <a:txBody>
                    <a:bodyPr/>
                    <a:lstStyle/>
                    <a:p>
                      <a:pPr>
                        <a:spcBef>
                          <a:spcPts val="600"/>
                        </a:spcBef>
                      </a:pPr>
                      <a:r>
                        <a:rPr lang="en-US" sz="800">
                          <a:effectLst/>
                        </a:rPr>
                        <a:t>VI. GIÁO DỤC VÀ KỸ NĂNG/ EDUCATION AND SKILLS TRAINING</a:t>
                      </a:r>
                      <a:endParaRPr lang="en-VN" sz="900">
                        <a:effectLst/>
                        <a:latin typeface="Times New Roman" panose="02020603050405020304" pitchFamily="18" charset="0"/>
                        <a:ea typeface="Times New Roman" panose="02020603050405020304" pitchFamily="18" charset="0"/>
                      </a:endParaRPr>
                    </a:p>
                  </a:txBody>
                  <a:tcPr marL="52113" marR="52113" marT="0" marB="0"/>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3303563070"/>
                  </a:ext>
                </a:extLst>
              </a:tr>
              <a:tr h="288065">
                <a:tc>
                  <a:txBody>
                    <a:bodyPr/>
                    <a:lstStyle/>
                    <a:p>
                      <a:pPr indent="114300">
                        <a:spcBef>
                          <a:spcPts val="600"/>
                        </a:spcBef>
                      </a:pPr>
                      <a:r>
                        <a:rPr lang="en-US" sz="800">
                          <a:effectLst/>
                        </a:rPr>
                        <a:t>11. </a:t>
                      </a:r>
                      <a:r>
                        <a:rPr lang="vi-VN" sz="800">
                          <a:effectLst/>
                        </a:rPr>
                        <a:t>Trẻ phát triển phù hợp với lứa tuổi</a:t>
                      </a:r>
                      <a:r>
                        <a:rPr lang="en-US" sz="800">
                          <a:effectLst/>
                        </a:rPr>
                        <a:t>/Skills performance</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1802501193"/>
                  </a:ext>
                </a:extLst>
              </a:tr>
              <a:tr h="144033">
                <a:tc>
                  <a:txBody>
                    <a:bodyPr/>
                    <a:lstStyle/>
                    <a:p>
                      <a:pPr indent="114300">
                        <a:spcBef>
                          <a:spcPts val="600"/>
                        </a:spcBef>
                      </a:pPr>
                      <a:r>
                        <a:rPr lang="en-US" sz="800">
                          <a:effectLst/>
                        </a:rPr>
                        <a:t>12. </a:t>
                      </a:r>
                      <a:r>
                        <a:rPr lang="vi-VN" sz="800">
                          <a:effectLst/>
                        </a:rPr>
                        <a:t>Trẻ được đi học </a:t>
                      </a:r>
                      <a:r>
                        <a:rPr lang="en-US" sz="800">
                          <a:effectLst/>
                        </a:rPr>
                        <a:t>/ Education/work</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a:effectLst/>
                        </a:rPr>
                        <a:t>0     1      2      3</a:t>
                      </a:r>
                      <a:endParaRPr lang="en-VN" sz="900">
                        <a:effectLst/>
                        <a:latin typeface="Times New Roman" panose="02020603050405020304" pitchFamily="18" charset="0"/>
                        <a:ea typeface="Times New Roman" panose="02020603050405020304" pitchFamily="18" charset="0"/>
                      </a:endParaRPr>
                    </a:p>
                  </a:txBody>
                  <a:tcPr marL="52113" marR="52113" marT="0" marB="0"/>
                </a:tc>
                <a:tc>
                  <a:txBody>
                    <a:bodyPr/>
                    <a:lstStyle/>
                    <a:p>
                      <a:pPr>
                        <a:spcBef>
                          <a:spcPts val="600"/>
                        </a:spcBef>
                      </a:pPr>
                      <a:r>
                        <a:rPr lang="en-US" sz="800" dirty="0">
                          <a:effectLst/>
                        </a:rPr>
                        <a:t>0     1      2      3</a:t>
                      </a:r>
                      <a:endParaRPr lang="en-VN" sz="900" dirty="0">
                        <a:effectLst/>
                        <a:latin typeface="Times New Roman" panose="02020603050405020304" pitchFamily="18" charset="0"/>
                        <a:ea typeface="Times New Roman" panose="02020603050405020304" pitchFamily="18" charset="0"/>
                      </a:endParaRPr>
                    </a:p>
                  </a:txBody>
                  <a:tcPr marL="52113" marR="52113" marT="0" marB="0"/>
                </a:tc>
                <a:extLst>
                  <a:ext uri="{0D108BD9-81ED-4DB2-BD59-A6C34878D82A}">
                    <a16:rowId xmlns:a16="http://schemas.microsoft.com/office/drawing/2014/main" val="2203523669"/>
                  </a:ext>
                </a:extLst>
              </a:tr>
            </a:tbl>
          </a:graphicData>
        </a:graphic>
      </p:graphicFrame>
    </p:spTree>
    <p:extLst>
      <p:ext uri="{BB962C8B-B14F-4D97-AF65-F5344CB8AC3E}">
        <p14:creationId xmlns:p14="http://schemas.microsoft.com/office/powerpoint/2010/main" val="3276082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1039F2-9F29-1B4F-FC1D-9C5A2C1B18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28</a:t>
            </a:fld>
            <a:endParaRPr lang="en"/>
          </a:p>
        </p:txBody>
      </p:sp>
      <p:graphicFrame>
        <p:nvGraphicFramePr>
          <p:cNvPr id="6" name="Table 5">
            <a:extLst>
              <a:ext uri="{FF2B5EF4-FFF2-40B4-BE49-F238E27FC236}">
                <a16:creationId xmlns:a16="http://schemas.microsoft.com/office/drawing/2014/main" id="{E1D66242-960F-99E9-41CC-84EFCF14944F}"/>
              </a:ext>
            </a:extLst>
          </p:cNvPr>
          <p:cNvGraphicFramePr>
            <a:graphicFrameLocks noGrp="1"/>
          </p:cNvGraphicFramePr>
          <p:nvPr>
            <p:extLst>
              <p:ext uri="{D42A27DB-BD31-4B8C-83A1-F6EECF244321}">
                <p14:modId xmlns:p14="http://schemas.microsoft.com/office/powerpoint/2010/main" val="1648827719"/>
              </p:ext>
            </p:extLst>
          </p:nvPr>
        </p:nvGraphicFramePr>
        <p:xfrm>
          <a:off x="712788" y="606589"/>
          <a:ext cx="7987593" cy="4300354"/>
        </p:xfrm>
        <a:graphic>
          <a:graphicData uri="http://schemas.openxmlformats.org/drawingml/2006/table">
            <a:tbl>
              <a:tblPr firstRow="1" firstCol="1" lastRow="1" lastCol="1" bandRow="1" bandCol="1">
                <a:tableStyleId>{5765BD47-0766-45DA-83AF-D0E9DCAA76E3}</a:tableStyleId>
              </a:tblPr>
              <a:tblGrid>
                <a:gridCol w="1351402">
                  <a:extLst>
                    <a:ext uri="{9D8B030D-6E8A-4147-A177-3AD203B41FA5}">
                      <a16:colId xmlns:a16="http://schemas.microsoft.com/office/drawing/2014/main" val="1441240830"/>
                    </a:ext>
                  </a:extLst>
                </a:gridCol>
                <a:gridCol w="3286408">
                  <a:extLst>
                    <a:ext uri="{9D8B030D-6E8A-4147-A177-3AD203B41FA5}">
                      <a16:colId xmlns:a16="http://schemas.microsoft.com/office/drawing/2014/main" val="3039089701"/>
                    </a:ext>
                  </a:extLst>
                </a:gridCol>
                <a:gridCol w="3349783">
                  <a:extLst>
                    <a:ext uri="{9D8B030D-6E8A-4147-A177-3AD203B41FA5}">
                      <a16:colId xmlns:a16="http://schemas.microsoft.com/office/drawing/2014/main" val="690640699"/>
                    </a:ext>
                  </a:extLst>
                </a:gridCol>
              </a:tblGrid>
              <a:tr h="583427">
                <a:tc>
                  <a:txBody>
                    <a:bodyPr/>
                    <a:lstStyle/>
                    <a:p>
                      <a:pPr algn="ctr">
                        <a:spcBef>
                          <a:spcPts val="600"/>
                        </a:spcBef>
                      </a:pPr>
                      <a:r>
                        <a:rPr lang="en-US" sz="1100" dirty="0">
                          <a:effectLst/>
                        </a:rPr>
                        <a:t>PHẠM VI/ DOMAIN</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gridSpan="2">
                  <a:txBody>
                    <a:bodyPr/>
                    <a:lstStyle/>
                    <a:p>
                      <a:pPr algn="ctr">
                        <a:spcBef>
                          <a:spcPts val="600"/>
                        </a:spcBef>
                      </a:pPr>
                      <a:r>
                        <a:rPr lang="en-US" sz="1100" dirty="0">
                          <a:effectLst/>
                        </a:rPr>
                        <a:t>THỰC PHẨM VÀ DINH DƯỠNG/</a:t>
                      </a:r>
                      <a:endParaRPr lang="en-VN" sz="1100" dirty="0">
                        <a:effectLst/>
                      </a:endParaRPr>
                    </a:p>
                    <a:p>
                      <a:pPr algn="ctr">
                        <a:spcBef>
                          <a:spcPts val="600"/>
                        </a:spcBef>
                      </a:pPr>
                      <a:r>
                        <a:rPr lang="en-US" sz="1100" dirty="0">
                          <a:effectLst/>
                        </a:rPr>
                        <a:t> FOOD AND NUTRITION</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hMerge="1">
                  <a:txBody>
                    <a:bodyPr/>
                    <a:lstStyle/>
                    <a:p>
                      <a:endParaRPr lang="en-VN"/>
                    </a:p>
                  </a:txBody>
                  <a:tcPr/>
                </a:tc>
                <a:extLst>
                  <a:ext uri="{0D108BD9-81ED-4DB2-BD59-A6C34878D82A}">
                    <a16:rowId xmlns:a16="http://schemas.microsoft.com/office/drawing/2014/main" val="2599084580"/>
                  </a:ext>
                </a:extLst>
              </a:tr>
              <a:tr h="233371">
                <a:tc>
                  <a:txBody>
                    <a:bodyPr/>
                    <a:lstStyle/>
                    <a:p>
                      <a:pPr algn="ctr">
                        <a:spcBef>
                          <a:spcPts val="600"/>
                        </a:spcBef>
                      </a:pPr>
                      <a:r>
                        <a:rPr lang="en-US" sz="1100">
                          <a:effectLst/>
                        </a:rPr>
                        <a:t> </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lgn="ctr">
                        <a:spcBef>
                          <a:spcPts val="600"/>
                        </a:spcBef>
                      </a:pPr>
                      <a:r>
                        <a:rPr lang="en-US" sz="1100" dirty="0">
                          <a:effectLst/>
                        </a:rPr>
                        <a:t>1. </a:t>
                      </a:r>
                      <a:r>
                        <a:rPr lang="en-US" sz="1100" dirty="0" err="1">
                          <a:effectLst/>
                        </a:rPr>
                        <a:t>Đảm</a:t>
                      </a:r>
                      <a:r>
                        <a:rPr lang="en-US" sz="1100" dirty="0">
                          <a:effectLst/>
                        </a:rPr>
                        <a:t> </a:t>
                      </a:r>
                      <a:r>
                        <a:rPr lang="en-US" sz="1100" dirty="0" err="1">
                          <a:effectLst/>
                        </a:rPr>
                        <a:t>bảo</a:t>
                      </a:r>
                      <a:r>
                        <a:rPr lang="en-US" sz="1100" dirty="0">
                          <a:effectLst/>
                        </a:rPr>
                        <a:t> </a:t>
                      </a:r>
                      <a:r>
                        <a:rPr lang="en-US" sz="1100" dirty="0" err="1">
                          <a:effectLst/>
                        </a:rPr>
                        <a:t>về</a:t>
                      </a:r>
                      <a:r>
                        <a:rPr lang="en-US" sz="1100" dirty="0">
                          <a:effectLst/>
                        </a:rPr>
                        <a:t> </a:t>
                      </a:r>
                      <a:r>
                        <a:rPr lang="en-US" sz="1100" dirty="0" err="1">
                          <a:effectLst/>
                        </a:rPr>
                        <a:t>thực</a:t>
                      </a:r>
                      <a:r>
                        <a:rPr lang="en-US" sz="1100" dirty="0">
                          <a:effectLst/>
                        </a:rPr>
                        <a:t> </a:t>
                      </a:r>
                      <a:r>
                        <a:rPr lang="en-US" sz="1100" dirty="0" err="1">
                          <a:effectLst/>
                        </a:rPr>
                        <a:t>phẩm</a:t>
                      </a:r>
                      <a:r>
                        <a:rPr lang="en-US" sz="1100" dirty="0">
                          <a:effectLst/>
                        </a:rPr>
                        <a:t>/. Food security</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lgn="ctr">
                        <a:spcBef>
                          <a:spcPts val="600"/>
                        </a:spcBef>
                      </a:pPr>
                      <a:r>
                        <a:rPr lang="en-US" sz="1100">
                          <a:effectLst/>
                        </a:rPr>
                        <a:t>2. Dinh dưỡng &amp; tăng trưởng/</a:t>
                      </a:r>
                      <a:r>
                        <a:rPr lang="en-US" sz="1100" baseline="30000">
                          <a:effectLst/>
                          <a:sym typeface="Symbol" pitchFamily="2" charset="2"/>
                          <a:hlinkClick r:id="rId2"/>
                        </a:rPr>
                        <a:t></a:t>
                      </a:r>
                      <a:r>
                        <a:rPr lang="en-US" sz="1100">
                          <a:effectLst/>
                        </a:rPr>
                        <a:t> Nutrition and Growth</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1284759860"/>
                  </a:ext>
                </a:extLst>
              </a:tr>
              <a:tr h="466743">
                <a:tc>
                  <a:txBody>
                    <a:bodyPr/>
                    <a:lstStyle/>
                    <a:p>
                      <a:pPr>
                        <a:spcBef>
                          <a:spcPts val="600"/>
                        </a:spcBef>
                      </a:pPr>
                      <a:r>
                        <a:rPr lang="en-US" sz="1100">
                          <a:effectLst/>
                        </a:rPr>
                        <a:t>MỤC TIÊU/ GOAL</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có</a:t>
                      </a:r>
                      <a:r>
                        <a:rPr lang="en-US" sz="1100" dirty="0">
                          <a:effectLst/>
                        </a:rPr>
                        <a:t> </a:t>
                      </a:r>
                      <a:r>
                        <a:rPr lang="en-US" sz="1100" dirty="0" err="1">
                          <a:effectLst/>
                        </a:rPr>
                        <a:t>đủ</a:t>
                      </a:r>
                      <a:r>
                        <a:rPr lang="en-US" sz="1100" dirty="0">
                          <a:effectLst/>
                        </a:rPr>
                        <a:t> </a:t>
                      </a:r>
                      <a:r>
                        <a:rPr lang="en-US" sz="1100" dirty="0" err="1">
                          <a:effectLst/>
                        </a:rPr>
                        <a:t>thức</a:t>
                      </a:r>
                      <a:r>
                        <a:rPr lang="en-US" sz="1100" dirty="0">
                          <a:effectLst/>
                        </a:rPr>
                        <a:t> </a:t>
                      </a:r>
                      <a:r>
                        <a:rPr lang="en-US" sz="1100" dirty="0" err="1">
                          <a:effectLst/>
                        </a:rPr>
                        <a:t>ăn</a:t>
                      </a:r>
                      <a:r>
                        <a:rPr lang="vi-VN" sz="1100" dirty="0">
                          <a:effectLst/>
                        </a:rPr>
                        <a:t> thường xuyên</a:t>
                      </a:r>
                      <a:r>
                        <a:rPr lang="en-US" sz="1100" dirty="0">
                          <a:effectLst/>
                        </a:rPr>
                        <a:t>/ Child has sufficient food to eat at all times of the year</a:t>
                      </a:r>
                      <a:endParaRPr lang="en-VN" sz="1100" dirty="0">
                        <a:effectLst/>
                        <a:latin typeface="Times New Roman" panose="02020603050405020304" pitchFamily="18" charset="0"/>
                        <a:ea typeface="Times New Roman" panose="02020603050405020304" pitchFamily="18" charset="0"/>
                      </a:endParaRPr>
                    </a:p>
                  </a:txBody>
                  <a:tcPr marL="58179" marR="58179" marT="0" marB="0">
                    <a:solidFill>
                      <a:srgbClr val="92D050"/>
                    </a:solidFill>
                  </a:tcPr>
                </a:tc>
                <a:tc>
                  <a:txBody>
                    <a:bodyPr/>
                    <a:lstStyle/>
                    <a:p>
                      <a:pPr>
                        <a:spcBef>
                          <a:spcPts val="600"/>
                        </a:spcBef>
                      </a:pPr>
                      <a:r>
                        <a:rPr lang="en-US" sz="1100" dirty="0" err="1">
                          <a:effectLst/>
                        </a:rPr>
                        <a:t>Trẻ</a:t>
                      </a:r>
                      <a:r>
                        <a:rPr lang="en-US" sz="1100" dirty="0">
                          <a:effectLst/>
                        </a:rPr>
                        <a:t> </a:t>
                      </a:r>
                      <a:r>
                        <a:rPr lang="en-US" sz="1100" dirty="0" err="1">
                          <a:effectLst/>
                        </a:rPr>
                        <a:t>tăng</a:t>
                      </a:r>
                      <a:r>
                        <a:rPr lang="en-US" sz="1100" dirty="0">
                          <a:effectLst/>
                        </a:rPr>
                        <a:t> </a:t>
                      </a:r>
                      <a:r>
                        <a:rPr lang="en-US" sz="1100" dirty="0" err="1">
                          <a:effectLst/>
                        </a:rPr>
                        <a:t>trưởng</a:t>
                      </a:r>
                      <a:r>
                        <a:rPr lang="en-US" sz="1100" dirty="0">
                          <a:effectLst/>
                        </a:rPr>
                        <a:t> </a:t>
                      </a:r>
                      <a:r>
                        <a:rPr lang="en-US" sz="1100" dirty="0" err="1">
                          <a:effectLst/>
                        </a:rPr>
                        <a:t>tốt</a:t>
                      </a:r>
                      <a:r>
                        <a:rPr lang="en-US" sz="1100" dirty="0">
                          <a:effectLst/>
                        </a:rPr>
                        <a:t> so </a:t>
                      </a:r>
                      <a:r>
                        <a:rPr lang="en-US" sz="1100" dirty="0" err="1">
                          <a:effectLst/>
                        </a:rPr>
                        <a:t>với</a:t>
                      </a:r>
                      <a:r>
                        <a:rPr lang="en-US" sz="1100" dirty="0">
                          <a:effectLst/>
                        </a:rPr>
                        <a:t> </a:t>
                      </a:r>
                      <a:r>
                        <a:rPr lang="en-US" sz="1100" dirty="0" err="1">
                          <a:effectLst/>
                        </a:rPr>
                        <a:t>các</a:t>
                      </a:r>
                      <a:r>
                        <a:rPr lang="en-US" sz="1100" dirty="0">
                          <a:effectLst/>
                        </a:rPr>
                        <a:t> </a:t>
                      </a:r>
                      <a:r>
                        <a:rPr lang="en-US" sz="1100" dirty="0" err="1">
                          <a:effectLst/>
                        </a:rPr>
                        <a:t>trẻ</a:t>
                      </a:r>
                      <a:r>
                        <a:rPr lang="en-US" sz="1100" dirty="0">
                          <a:effectLst/>
                        </a:rPr>
                        <a:t> </a:t>
                      </a:r>
                      <a:r>
                        <a:rPr lang="en-US" sz="1100" dirty="0" err="1">
                          <a:effectLst/>
                        </a:rPr>
                        <a:t>cùng</a:t>
                      </a:r>
                      <a:r>
                        <a:rPr lang="en-US" sz="1100" dirty="0">
                          <a:effectLst/>
                        </a:rPr>
                        <a:t> </a:t>
                      </a:r>
                      <a:r>
                        <a:rPr lang="en-US" sz="1100" dirty="0" err="1">
                          <a:effectLst/>
                        </a:rPr>
                        <a:t>lứa</a:t>
                      </a:r>
                      <a:r>
                        <a:rPr lang="en-US" sz="1100" dirty="0">
                          <a:effectLst/>
                        </a:rPr>
                        <a:t>/ Child is growing well compared to others of his/her age in the community.</a:t>
                      </a:r>
                      <a:endParaRPr lang="en-VN" sz="1100" dirty="0">
                        <a:effectLst/>
                        <a:latin typeface="Times New Roman" panose="02020603050405020304" pitchFamily="18" charset="0"/>
                        <a:ea typeface="Times New Roman" panose="02020603050405020304" pitchFamily="18" charset="0"/>
                      </a:endParaRPr>
                    </a:p>
                  </a:txBody>
                  <a:tcPr marL="58179" marR="58179" marT="0" marB="0">
                    <a:solidFill>
                      <a:srgbClr val="92D050"/>
                    </a:solidFill>
                  </a:tcPr>
                </a:tc>
                <a:extLst>
                  <a:ext uri="{0D108BD9-81ED-4DB2-BD59-A6C34878D82A}">
                    <a16:rowId xmlns:a16="http://schemas.microsoft.com/office/drawing/2014/main" val="3577872393"/>
                  </a:ext>
                </a:extLst>
              </a:tr>
              <a:tr h="700114">
                <a:tc>
                  <a:txBody>
                    <a:bodyPr/>
                    <a:lstStyle/>
                    <a:p>
                      <a:pPr>
                        <a:spcBef>
                          <a:spcPts val="600"/>
                        </a:spcBef>
                      </a:pPr>
                      <a:r>
                        <a:rPr lang="en-US" sz="1100">
                          <a:effectLst/>
                        </a:rPr>
                        <a:t>Tốt = 0/ Good = 0</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được cho ăn tốt và ăn uống đều đặn/ Child is well fed, eats regularly.</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tăng</a:t>
                      </a:r>
                      <a:r>
                        <a:rPr lang="en-US" sz="1100" dirty="0">
                          <a:effectLst/>
                        </a:rPr>
                        <a:t> </a:t>
                      </a:r>
                      <a:r>
                        <a:rPr lang="en-US" sz="1100" dirty="0" err="1">
                          <a:effectLst/>
                        </a:rPr>
                        <a:t>trưởng</a:t>
                      </a:r>
                      <a:r>
                        <a:rPr lang="en-US" sz="1100" dirty="0">
                          <a:effectLst/>
                        </a:rPr>
                        <a:t> </a:t>
                      </a:r>
                      <a:r>
                        <a:rPr lang="en-US" sz="1100" dirty="0" err="1">
                          <a:effectLst/>
                        </a:rPr>
                        <a:t>tốt</a:t>
                      </a:r>
                      <a:r>
                        <a:rPr lang="en-US" sz="1100" dirty="0">
                          <a:effectLst/>
                        </a:rPr>
                        <a:t> </a:t>
                      </a:r>
                      <a:r>
                        <a:rPr lang="en-US" sz="1100" dirty="0" err="1">
                          <a:effectLst/>
                        </a:rPr>
                        <a:t>về</a:t>
                      </a:r>
                      <a:r>
                        <a:rPr lang="en-US" sz="1100" dirty="0">
                          <a:effectLst/>
                        </a:rPr>
                        <a:t> </a:t>
                      </a:r>
                      <a:r>
                        <a:rPr lang="en-US" sz="1100" dirty="0" err="1">
                          <a:effectLst/>
                        </a:rPr>
                        <a:t>chiều</a:t>
                      </a:r>
                      <a:r>
                        <a:rPr lang="en-US" sz="1100" dirty="0">
                          <a:effectLst/>
                        </a:rPr>
                        <a:t> </a:t>
                      </a:r>
                      <a:r>
                        <a:rPr lang="en-US" sz="1100" dirty="0" err="1">
                          <a:effectLst/>
                        </a:rPr>
                        <a:t>cao</a:t>
                      </a:r>
                      <a:r>
                        <a:rPr lang="en-US" sz="1100" dirty="0">
                          <a:effectLst/>
                        </a:rPr>
                        <a:t>, </a:t>
                      </a:r>
                      <a:r>
                        <a:rPr lang="en-US" sz="1100" dirty="0" err="1">
                          <a:effectLst/>
                        </a:rPr>
                        <a:t>cân</a:t>
                      </a:r>
                      <a:r>
                        <a:rPr lang="en-US" sz="1100" dirty="0">
                          <a:effectLst/>
                        </a:rPr>
                        <a:t> </a:t>
                      </a:r>
                      <a:r>
                        <a:rPr lang="en-US" sz="1100" dirty="0" err="1">
                          <a:effectLst/>
                        </a:rPr>
                        <a:t>nặng</a:t>
                      </a:r>
                      <a:r>
                        <a:rPr lang="en-US" sz="1100" dirty="0">
                          <a:effectLst/>
                        </a:rPr>
                        <a:t> </a:t>
                      </a:r>
                      <a:r>
                        <a:rPr lang="en-US" sz="1100" dirty="0" err="1">
                          <a:effectLst/>
                        </a:rPr>
                        <a:t>và</a:t>
                      </a:r>
                      <a:r>
                        <a:rPr lang="en-US" sz="1100" dirty="0">
                          <a:effectLst/>
                        </a:rPr>
                        <a:t> </a:t>
                      </a:r>
                      <a:r>
                        <a:rPr lang="vi-VN" sz="1100" dirty="0">
                          <a:effectLst/>
                        </a:rPr>
                        <a:t>thể </a:t>
                      </a:r>
                      <a:r>
                        <a:rPr lang="en-US" sz="1100" dirty="0" err="1">
                          <a:effectLst/>
                        </a:rPr>
                        <a:t>lực</a:t>
                      </a:r>
                      <a:r>
                        <a:rPr lang="en-US" sz="1100" dirty="0">
                          <a:effectLst/>
                        </a:rPr>
                        <a:t> so </a:t>
                      </a:r>
                      <a:r>
                        <a:rPr lang="en-US" sz="1100" dirty="0" err="1">
                          <a:effectLst/>
                        </a:rPr>
                        <a:t>với</a:t>
                      </a:r>
                      <a:r>
                        <a:rPr lang="en-US" sz="1100" dirty="0">
                          <a:effectLst/>
                        </a:rPr>
                        <a:t> </a:t>
                      </a:r>
                      <a:r>
                        <a:rPr lang="en-US" sz="1100" dirty="0" err="1">
                          <a:effectLst/>
                        </a:rPr>
                        <a:t>lứa</a:t>
                      </a:r>
                      <a:r>
                        <a:rPr lang="en-US" sz="1100" dirty="0">
                          <a:effectLst/>
                        </a:rPr>
                        <a:t> </a:t>
                      </a:r>
                      <a:r>
                        <a:rPr lang="en-US" sz="1100" dirty="0" err="1">
                          <a:effectLst/>
                        </a:rPr>
                        <a:t>tuổi</a:t>
                      </a:r>
                      <a:r>
                        <a:rPr lang="en-US" sz="1100" dirty="0">
                          <a:effectLst/>
                        </a:rPr>
                        <a:t>/ Child is well grown with good height, weight, and energy level for his/her age.</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2561483775"/>
                  </a:ext>
                </a:extLst>
              </a:tr>
              <a:tr h="700114">
                <a:tc>
                  <a:txBody>
                    <a:bodyPr/>
                    <a:lstStyle/>
                    <a:p>
                      <a:pPr>
                        <a:spcBef>
                          <a:spcPts val="600"/>
                        </a:spcBef>
                      </a:pPr>
                      <a:r>
                        <a:rPr lang="en-US" sz="1100">
                          <a:effectLst/>
                        </a:rPr>
                        <a:t>Khá = 1/ Fair = 1</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có đủ thức ăn một số thời gian, tuỳ thuộc vào mùa trong năm hay nguồn cung cấp thức ăn/ Child has enough to eat some of the time, depending on season or food supply</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trông</a:t>
                      </a:r>
                      <a:r>
                        <a:rPr lang="en-US" sz="1100" dirty="0">
                          <a:effectLst/>
                        </a:rPr>
                        <a:t> </a:t>
                      </a:r>
                      <a:r>
                        <a:rPr lang="en-US" sz="1100" dirty="0" err="1">
                          <a:effectLst/>
                        </a:rPr>
                        <a:t>hơi</a:t>
                      </a:r>
                      <a:r>
                        <a:rPr lang="en-US" sz="1100" dirty="0">
                          <a:effectLst/>
                        </a:rPr>
                        <a:t> </a:t>
                      </a:r>
                      <a:r>
                        <a:rPr lang="en-US" sz="1100" dirty="0" err="1">
                          <a:effectLst/>
                        </a:rPr>
                        <a:t>gầy</a:t>
                      </a:r>
                      <a:r>
                        <a:rPr lang="en-US" sz="1100" dirty="0">
                          <a:effectLst/>
                        </a:rPr>
                        <a:t> </a:t>
                      </a:r>
                      <a:r>
                        <a:rPr lang="en-US" sz="1100" dirty="0" err="1">
                          <a:effectLst/>
                        </a:rPr>
                        <a:t>và</a:t>
                      </a:r>
                      <a:r>
                        <a:rPr lang="en-US" sz="1100" dirty="0">
                          <a:effectLst/>
                        </a:rPr>
                        <a:t> </a:t>
                      </a:r>
                      <a:r>
                        <a:rPr lang="en-US" sz="1100" dirty="0" err="1">
                          <a:effectLst/>
                        </a:rPr>
                        <a:t>ít</a:t>
                      </a:r>
                      <a:r>
                        <a:rPr lang="en-US" sz="1100" dirty="0">
                          <a:effectLst/>
                        </a:rPr>
                        <a:t> sung </a:t>
                      </a:r>
                      <a:r>
                        <a:rPr lang="en-US" sz="1100" dirty="0" err="1">
                          <a:effectLst/>
                        </a:rPr>
                        <a:t>sức</a:t>
                      </a:r>
                      <a:r>
                        <a:rPr lang="en-US" sz="1100" dirty="0">
                          <a:effectLst/>
                        </a:rPr>
                        <a:t> </a:t>
                      </a:r>
                      <a:r>
                        <a:rPr lang="en-US" sz="1100" dirty="0" err="1">
                          <a:effectLst/>
                        </a:rPr>
                        <a:t>hơn</a:t>
                      </a:r>
                      <a:r>
                        <a:rPr lang="en-US" sz="1100" dirty="0">
                          <a:effectLst/>
                        </a:rPr>
                        <a:t> </a:t>
                      </a:r>
                      <a:r>
                        <a:rPr lang="en-US" sz="1100" dirty="0" err="1">
                          <a:effectLst/>
                        </a:rPr>
                        <a:t>những</a:t>
                      </a:r>
                      <a:r>
                        <a:rPr lang="en-US" sz="1100" dirty="0">
                          <a:effectLst/>
                        </a:rPr>
                        <a:t> </a:t>
                      </a:r>
                      <a:r>
                        <a:rPr lang="en-US" sz="1100" dirty="0" err="1">
                          <a:effectLst/>
                        </a:rPr>
                        <a:t>trẻ</a:t>
                      </a:r>
                      <a:r>
                        <a:rPr lang="en-US" sz="1100" dirty="0">
                          <a:effectLst/>
                        </a:rPr>
                        <a:t> </a:t>
                      </a:r>
                      <a:r>
                        <a:rPr lang="en-US" sz="1100" dirty="0" err="1">
                          <a:effectLst/>
                        </a:rPr>
                        <a:t>cùng</a:t>
                      </a:r>
                      <a:r>
                        <a:rPr lang="en-US" sz="1100" dirty="0">
                          <a:effectLst/>
                        </a:rPr>
                        <a:t> </a:t>
                      </a:r>
                      <a:r>
                        <a:rPr lang="en-US" sz="1100" dirty="0" err="1">
                          <a:effectLst/>
                        </a:rPr>
                        <a:t>tuổi</a:t>
                      </a:r>
                      <a:r>
                        <a:rPr lang="en-US" sz="1100" dirty="0">
                          <a:effectLst/>
                        </a:rPr>
                        <a:t>/. Child has enough to eat some of the time, depending on season or food supply.</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1824678342"/>
                  </a:ext>
                </a:extLst>
              </a:tr>
              <a:tr h="700114">
                <a:tc>
                  <a:txBody>
                    <a:bodyPr/>
                    <a:lstStyle/>
                    <a:p>
                      <a:pPr>
                        <a:spcBef>
                          <a:spcPts val="600"/>
                        </a:spcBef>
                      </a:pPr>
                      <a:r>
                        <a:rPr lang="en-US" sz="1100">
                          <a:effectLst/>
                        </a:rPr>
                        <a:t>Tệ = 2/ </a:t>
                      </a:r>
                      <a:endParaRPr lang="en-VN" sz="1100">
                        <a:effectLst/>
                      </a:endParaRPr>
                    </a:p>
                    <a:p>
                      <a:pPr>
                        <a:spcBef>
                          <a:spcPts val="600"/>
                        </a:spcBef>
                      </a:pPr>
                      <a:r>
                        <a:rPr lang="en-US" sz="1100">
                          <a:effectLst/>
                        </a:rPr>
                        <a:t>Bad = 2</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thường xuyên bị thiếu thức ăn, phàn nàn vì bị đói/ Child frequently has less food to eat than needed, complains of hunger</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thiếu</a:t>
                      </a:r>
                      <a:r>
                        <a:rPr lang="en-US" sz="1100" dirty="0">
                          <a:effectLst/>
                        </a:rPr>
                        <a:t> </a:t>
                      </a:r>
                      <a:r>
                        <a:rPr lang="en-US" sz="1100" dirty="0" err="1">
                          <a:effectLst/>
                        </a:rPr>
                        <a:t>cân</a:t>
                      </a:r>
                      <a:r>
                        <a:rPr lang="en-US" sz="1100" dirty="0">
                          <a:effectLst/>
                        </a:rPr>
                        <a:t> </a:t>
                      </a:r>
                      <a:r>
                        <a:rPr lang="en-US" sz="1100" dirty="0" err="1">
                          <a:effectLst/>
                        </a:rPr>
                        <a:t>nặng</a:t>
                      </a:r>
                      <a:r>
                        <a:rPr lang="en-US" sz="1100" dirty="0">
                          <a:effectLst/>
                        </a:rPr>
                        <a:t> </a:t>
                      </a:r>
                      <a:r>
                        <a:rPr lang="en-US" sz="1100" dirty="0" err="1">
                          <a:effectLst/>
                        </a:rPr>
                        <a:t>và</a:t>
                      </a:r>
                      <a:r>
                        <a:rPr lang="en-US" sz="1100" dirty="0">
                          <a:effectLst/>
                        </a:rPr>
                        <a:t> </a:t>
                      </a:r>
                      <a:r>
                        <a:rPr lang="en-US" sz="1100" dirty="0" err="1">
                          <a:effectLst/>
                        </a:rPr>
                        <a:t>chiều</a:t>
                      </a:r>
                      <a:r>
                        <a:rPr lang="en-US" sz="1100" dirty="0">
                          <a:effectLst/>
                        </a:rPr>
                        <a:t> </a:t>
                      </a:r>
                      <a:r>
                        <a:rPr lang="en-US" sz="1100" dirty="0" err="1">
                          <a:effectLst/>
                        </a:rPr>
                        <a:t>cao</a:t>
                      </a:r>
                      <a:r>
                        <a:rPr lang="en-US" sz="1100" dirty="0">
                          <a:effectLst/>
                        </a:rPr>
                        <a:t> so </a:t>
                      </a:r>
                      <a:r>
                        <a:rPr lang="en-US" sz="1100" dirty="0" err="1">
                          <a:effectLst/>
                        </a:rPr>
                        <a:t>với</a:t>
                      </a:r>
                      <a:r>
                        <a:rPr lang="en-US" sz="1100" dirty="0">
                          <a:effectLst/>
                        </a:rPr>
                        <a:t> </a:t>
                      </a:r>
                      <a:r>
                        <a:rPr lang="en-US" sz="1100" dirty="0" err="1">
                          <a:effectLst/>
                        </a:rPr>
                        <a:t>lứa</a:t>
                      </a:r>
                      <a:r>
                        <a:rPr lang="en-US" sz="1100" dirty="0">
                          <a:effectLst/>
                        </a:rPr>
                        <a:t> </a:t>
                      </a:r>
                      <a:r>
                        <a:rPr lang="en-US" sz="1100" dirty="0" err="1">
                          <a:effectLst/>
                        </a:rPr>
                        <a:t>tuổi</a:t>
                      </a:r>
                      <a:r>
                        <a:rPr lang="en-US" sz="1100" dirty="0">
                          <a:effectLst/>
                        </a:rPr>
                        <a:t>/ Child has lower weight, looks shorter and/or is less energetic compared to others of same age in community.</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3953583600"/>
                  </a:ext>
                </a:extLst>
              </a:tr>
              <a:tr h="880294">
                <a:tc>
                  <a:txBody>
                    <a:bodyPr/>
                    <a:lstStyle/>
                    <a:p>
                      <a:pPr>
                        <a:spcBef>
                          <a:spcPts val="600"/>
                        </a:spcBef>
                      </a:pPr>
                      <a:r>
                        <a:rPr lang="en-US" sz="1100">
                          <a:effectLst/>
                        </a:rPr>
                        <a:t>Rất tệ = 3/ Very Bad = 3</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hiếm khi có đủ thức ăn và thường đi ngủ bụng đói/ Child rarely has food to eat and goes to bed hungry most nights.</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bị</a:t>
                      </a:r>
                      <a:r>
                        <a:rPr lang="en-US" sz="1100" dirty="0">
                          <a:effectLst/>
                        </a:rPr>
                        <a:t> </a:t>
                      </a:r>
                      <a:r>
                        <a:rPr lang="en-US" sz="1100" dirty="0" err="1">
                          <a:effectLst/>
                        </a:rPr>
                        <a:t>suy</a:t>
                      </a:r>
                      <a:r>
                        <a:rPr lang="en-US" sz="1100" dirty="0">
                          <a:effectLst/>
                        </a:rPr>
                        <a:t> </a:t>
                      </a:r>
                      <a:r>
                        <a:rPr lang="en-US" sz="1100" dirty="0" err="1">
                          <a:effectLst/>
                        </a:rPr>
                        <a:t>dinh</a:t>
                      </a:r>
                      <a:r>
                        <a:rPr lang="en-US" sz="1100" dirty="0">
                          <a:effectLst/>
                        </a:rPr>
                        <a:t> </a:t>
                      </a:r>
                      <a:r>
                        <a:rPr lang="en-US" sz="1100" dirty="0" err="1">
                          <a:effectLst/>
                        </a:rPr>
                        <a:t>dưỡng</a:t>
                      </a:r>
                      <a:r>
                        <a:rPr lang="en-US" sz="1100" dirty="0">
                          <a:effectLst/>
                        </a:rPr>
                        <a:t>, </a:t>
                      </a:r>
                      <a:r>
                        <a:rPr lang="en-US" sz="1100" dirty="0" err="1">
                          <a:effectLst/>
                        </a:rPr>
                        <a:t>thấp</a:t>
                      </a:r>
                      <a:r>
                        <a:rPr lang="en-US" sz="1100" dirty="0">
                          <a:effectLst/>
                        </a:rPr>
                        <a:t> </a:t>
                      </a:r>
                      <a:r>
                        <a:rPr lang="en-US" sz="1100" dirty="0" err="1">
                          <a:effectLst/>
                        </a:rPr>
                        <a:t>hơn</a:t>
                      </a:r>
                      <a:r>
                        <a:rPr lang="en-US" sz="1100" dirty="0">
                          <a:effectLst/>
                        </a:rPr>
                        <a:t> </a:t>
                      </a:r>
                      <a:r>
                        <a:rPr lang="en-US" sz="1100" dirty="0" err="1">
                          <a:effectLst/>
                        </a:rPr>
                        <a:t>khá</a:t>
                      </a:r>
                      <a:r>
                        <a:rPr lang="en-US" sz="1100" dirty="0">
                          <a:effectLst/>
                        </a:rPr>
                        <a:t> </a:t>
                      </a:r>
                      <a:r>
                        <a:rPr lang="en-US" sz="1100" dirty="0" err="1">
                          <a:effectLst/>
                        </a:rPr>
                        <a:t>nhiều</a:t>
                      </a:r>
                      <a:r>
                        <a:rPr lang="en-US" sz="1100" dirty="0">
                          <a:effectLst/>
                        </a:rPr>
                        <a:t> (</a:t>
                      </a:r>
                      <a:r>
                        <a:rPr lang="en-US" sz="1100" dirty="0" err="1">
                          <a:effectLst/>
                        </a:rPr>
                        <a:t>còi</a:t>
                      </a:r>
                      <a:r>
                        <a:rPr lang="en-US" sz="1100" dirty="0">
                          <a:effectLst/>
                        </a:rPr>
                        <a:t>) hay </a:t>
                      </a:r>
                      <a:r>
                        <a:rPr lang="en-US" sz="1100" dirty="0" err="1">
                          <a:effectLst/>
                        </a:rPr>
                        <a:t>gầy</a:t>
                      </a:r>
                      <a:r>
                        <a:rPr lang="en-US" sz="1100" dirty="0">
                          <a:effectLst/>
                        </a:rPr>
                        <a:t> </a:t>
                      </a:r>
                      <a:r>
                        <a:rPr lang="en-US" sz="1100" dirty="0" err="1">
                          <a:effectLst/>
                        </a:rPr>
                        <a:t>yếu</a:t>
                      </a:r>
                      <a:r>
                        <a:rPr lang="en-US" sz="1100" dirty="0">
                          <a:effectLst/>
                        </a:rPr>
                        <a:t> </a:t>
                      </a:r>
                      <a:r>
                        <a:rPr lang="en-US" sz="1100" dirty="0" err="1">
                          <a:effectLst/>
                        </a:rPr>
                        <a:t>hơn</a:t>
                      </a:r>
                      <a:r>
                        <a:rPr lang="en-US" sz="1100" dirty="0">
                          <a:effectLst/>
                        </a:rPr>
                        <a:t> </a:t>
                      </a:r>
                      <a:r>
                        <a:rPr lang="en-US" sz="1100" dirty="0" err="1">
                          <a:effectLst/>
                        </a:rPr>
                        <a:t>nhiều</a:t>
                      </a:r>
                      <a:r>
                        <a:rPr lang="en-US" sz="1100" dirty="0">
                          <a:effectLst/>
                        </a:rPr>
                        <a:t> so </a:t>
                      </a:r>
                      <a:r>
                        <a:rPr lang="en-US" sz="1100" dirty="0" err="1">
                          <a:effectLst/>
                        </a:rPr>
                        <a:t>với</a:t>
                      </a:r>
                      <a:r>
                        <a:rPr lang="en-US" sz="1100" dirty="0">
                          <a:effectLst/>
                        </a:rPr>
                        <a:t> </a:t>
                      </a:r>
                      <a:r>
                        <a:rPr lang="en-US" sz="1100" dirty="0" err="1">
                          <a:effectLst/>
                        </a:rPr>
                        <a:t>trẻ</a:t>
                      </a:r>
                      <a:r>
                        <a:rPr lang="en-US" sz="1100" dirty="0">
                          <a:effectLst/>
                        </a:rPr>
                        <a:t> </a:t>
                      </a:r>
                      <a:r>
                        <a:rPr lang="en-US" sz="1100" dirty="0" err="1">
                          <a:effectLst/>
                        </a:rPr>
                        <a:t>cùng</a:t>
                      </a:r>
                      <a:r>
                        <a:rPr lang="en-US" sz="1100" dirty="0">
                          <a:effectLst/>
                        </a:rPr>
                        <a:t> </a:t>
                      </a:r>
                      <a:r>
                        <a:rPr lang="en-US" sz="1100" dirty="0" err="1">
                          <a:effectLst/>
                        </a:rPr>
                        <a:t>tuổi</a:t>
                      </a:r>
                      <a:r>
                        <a:rPr lang="en-US" sz="1100" dirty="0">
                          <a:effectLst/>
                        </a:rPr>
                        <a:t>/ Child has very low weight (wasted) or is too short (stunted) for his/her age (malnourished</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1472842907"/>
                  </a:ext>
                </a:extLst>
              </a:tr>
            </a:tbl>
          </a:graphicData>
        </a:graphic>
      </p:graphicFrame>
      <p:sp>
        <p:nvSpPr>
          <p:cNvPr id="7" name="Rectangle 1">
            <a:extLst>
              <a:ext uri="{FF2B5EF4-FFF2-40B4-BE49-F238E27FC236}">
                <a16:creationId xmlns:a16="http://schemas.microsoft.com/office/drawing/2014/main" id="{C35ECFD6-882F-C1B9-CD08-5BD75BE7FCC7}"/>
              </a:ext>
            </a:extLst>
          </p:cNvPr>
          <p:cNvSpPr>
            <a:spLocks noChangeArrowheads="1"/>
          </p:cNvSpPr>
          <p:nvPr/>
        </p:nvSpPr>
        <p:spPr bwMode="auto">
          <a:xfrm>
            <a:off x="712788" y="189175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800" b="0" i="0" u="none" strike="noStrike" cap="none" normalizeH="0" baseline="0">
                <a:ln>
                  <a:noFill/>
                </a:ln>
                <a:solidFill>
                  <a:schemeClr val="tx1"/>
                </a:solidFill>
                <a:effectLst/>
                <a:latin typeface="Arial" panose="020B0604020202020204" pitchFamily="34" charset="0"/>
              </a:rPr>
            </a:br>
            <a:endParaRPr kumimoji="0" lang="en-VN" altLang="en-V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5372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54FA51-25DC-28DA-D932-59C56D5AE1F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29</a:t>
            </a:fld>
            <a:endParaRPr lang="en"/>
          </a:p>
        </p:txBody>
      </p:sp>
      <p:graphicFrame>
        <p:nvGraphicFramePr>
          <p:cNvPr id="5" name="Table 4">
            <a:extLst>
              <a:ext uri="{FF2B5EF4-FFF2-40B4-BE49-F238E27FC236}">
                <a16:creationId xmlns:a16="http://schemas.microsoft.com/office/drawing/2014/main" id="{B0462AC0-DA17-C450-05BD-18AF40C71B9B}"/>
              </a:ext>
            </a:extLst>
          </p:cNvPr>
          <p:cNvGraphicFramePr>
            <a:graphicFrameLocks noGrp="1"/>
          </p:cNvGraphicFramePr>
          <p:nvPr>
            <p:extLst>
              <p:ext uri="{D42A27DB-BD31-4B8C-83A1-F6EECF244321}">
                <p14:modId xmlns:p14="http://schemas.microsoft.com/office/powerpoint/2010/main" val="2187944676"/>
              </p:ext>
            </p:extLst>
          </p:nvPr>
        </p:nvGraphicFramePr>
        <p:xfrm>
          <a:off x="712788" y="411035"/>
          <a:ext cx="7718424" cy="4358640"/>
        </p:xfrm>
        <a:graphic>
          <a:graphicData uri="http://schemas.openxmlformats.org/drawingml/2006/table">
            <a:tbl>
              <a:tblPr firstRow="1" firstCol="1" lastRow="1" lastCol="1" bandRow="1" bandCol="1">
                <a:tableStyleId>{5765BD47-0766-45DA-83AF-D0E9DCAA76E3}</a:tableStyleId>
              </a:tblPr>
              <a:tblGrid>
                <a:gridCol w="1333295">
                  <a:extLst>
                    <a:ext uri="{9D8B030D-6E8A-4147-A177-3AD203B41FA5}">
                      <a16:colId xmlns:a16="http://schemas.microsoft.com/office/drawing/2014/main" val="3393825610"/>
                    </a:ext>
                  </a:extLst>
                </a:gridCol>
                <a:gridCol w="3454082">
                  <a:extLst>
                    <a:ext uri="{9D8B030D-6E8A-4147-A177-3AD203B41FA5}">
                      <a16:colId xmlns:a16="http://schemas.microsoft.com/office/drawing/2014/main" val="1244610464"/>
                    </a:ext>
                  </a:extLst>
                </a:gridCol>
                <a:gridCol w="2931047">
                  <a:extLst>
                    <a:ext uri="{9D8B030D-6E8A-4147-A177-3AD203B41FA5}">
                      <a16:colId xmlns:a16="http://schemas.microsoft.com/office/drawing/2014/main" val="641099579"/>
                    </a:ext>
                  </a:extLst>
                </a:gridCol>
              </a:tblGrid>
              <a:tr h="129287">
                <a:tc>
                  <a:txBody>
                    <a:bodyPr/>
                    <a:lstStyle/>
                    <a:p>
                      <a:pPr algn="ctr">
                        <a:spcBef>
                          <a:spcPts val="600"/>
                        </a:spcBef>
                      </a:pPr>
                      <a:r>
                        <a:rPr lang="en-US" sz="1100" dirty="0">
                          <a:effectLst/>
                        </a:rPr>
                        <a:t>PHẠM VI/ DOMAIN</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gridSpan="2">
                  <a:txBody>
                    <a:bodyPr/>
                    <a:lstStyle/>
                    <a:p>
                      <a:pPr algn="ctr">
                        <a:spcBef>
                          <a:spcPts val="600"/>
                        </a:spcBef>
                      </a:pPr>
                      <a:r>
                        <a:rPr lang="en-US" sz="1100">
                          <a:effectLst/>
                        </a:rPr>
                        <a:t>SỨC KHOẺ/ HEALTH</a:t>
                      </a:r>
                      <a:endParaRPr lang="en-VN" sz="1100">
                        <a:effectLst/>
                        <a:latin typeface="Times New Roman" panose="02020603050405020304" pitchFamily="18" charset="0"/>
                        <a:ea typeface="Times New Roman" panose="02020603050405020304" pitchFamily="18" charset="0"/>
                      </a:endParaRPr>
                    </a:p>
                  </a:txBody>
                  <a:tcPr marL="58179" marR="58179" marT="0" marB="0"/>
                </a:tc>
                <a:tc hMerge="1">
                  <a:txBody>
                    <a:bodyPr/>
                    <a:lstStyle/>
                    <a:p>
                      <a:endParaRPr lang="en-VN"/>
                    </a:p>
                  </a:txBody>
                  <a:tcPr/>
                </a:tc>
                <a:extLst>
                  <a:ext uri="{0D108BD9-81ED-4DB2-BD59-A6C34878D82A}">
                    <a16:rowId xmlns:a16="http://schemas.microsoft.com/office/drawing/2014/main" val="1656642674"/>
                  </a:ext>
                </a:extLst>
              </a:tr>
              <a:tr h="129287">
                <a:tc>
                  <a:txBody>
                    <a:bodyPr/>
                    <a:lstStyle/>
                    <a:p>
                      <a:pPr algn="ctr">
                        <a:spcBef>
                          <a:spcPts val="600"/>
                        </a:spcBef>
                      </a:pPr>
                      <a:r>
                        <a:rPr lang="en-US" sz="1100" dirty="0">
                          <a:effectLst/>
                        </a:rPr>
                        <a:t> </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lgn="ctr">
                        <a:spcBef>
                          <a:spcPts val="600"/>
                        </a:spcBef>
                      </a:pPr>
                      <a:r>
                        <a:rPr lang="en-US" sz="1100">
                          <a:effectLst/>
                        </a:rPr>
                        <a:t>7. Sức khoẻ/ Health/Wellness</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lgn="ctr">
                        <a:spcBef>
                          <a:spcPts val="600"/>
                        </a:spcBef>
                      </a:pPr>
                      <a:r>
                        <a:rPr lang="en-US" sz="1100">
                          <a:effectLst/>
                        </a:rPr>
                        <a:t>8. Dịch vụ chăm sóc y tế/ Health care services</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702737064"/>
                  </a:ext>
                </a:extLst>
              </a:tr>
              <a:tr h="517147">
                <a:tc>
                  <a:txBody>
                    <a:bodyPr/>
                    <a:lstStyle/>
                    <a:p>
                      <a:pPr>
                        <a:spcBef>
                          <a:spcPts val="600"/>
                        </a:spcBef>
                      </a:pPr>
                      <a:r>
                        <a:rPr lang="en-US" sz="1100" dirty="0">
                          <a:effectLst/>
                        </a:rPr>
                        <a:t>MỤC TIÊU/ GOAL</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khoẻ</a:t>
                      </a:r>
                      <a:r>
                        <a:rPr lang="en-US" sz="1100" dirty="0">
                          <a:effectLst/>
                        </a:rPr>
                        <a:t> </a:t>
                      </a:r>
                      <a:r>
                        <a:rPr lang="en-US" sz="1100" dirty="0" err="1">
                          <a:effectLst/>
                        </a:rPr>
                        <a:t>mạnh</a:t>
                      </a:r>
                      <a:r>
                        <a:rPr lang="en-US" sz="1100" dirty="0">
                          <a:effectLst/>
                        </a:rPr>
                        <a:t>./ Child is physically healthy</a:t>
                      </a:r>
                      <a:endParaRPr lang="en-VN" sz="1100" dirty="0">
                        <a:effectLst/>
                        <a:latin typeface="Times New Roman" panose="02020603050405020304" pitchFamily="18" charset="0"/>
                        <a:ea typeface="Times New Roman" panose="02020603050405020304" pitchFamily="18" charset="0"/>
                      </a:endParaRPr>
                    </a:p>
                  </a:txBody>
                  <a:tcPr marL="58179" marR="58179" marT="0" marB="0">
                    <a:solidFill>
                      <a:srgbClr val="92D050"/>
                    </a:solidFill>
                  </a:tcPr>
                </a:tc>
                <a:tc>
                  <a:txBody>
                    <a:bodyPr/>
                    <a:lstStyle/>
                    <a:p>
                      <a:pPr>
                        <a:spcBef>
                          <a:spcPts val="600"/>
                        </a:spcBef>
                      </a:pPr>
                      <a:r>
                        <a:rPr lang="en-US" sz="1100" dirty="0" err="1">
                          <a:effectLst/>
                        </a:rPr>
                        <a:t>Trẻ</a:t>
                      </a:r>
                      <a:r>
                        <a:rPr lang="en-US" sz="1100" dirty="0">
                          <a:effectLst/>
                        </a:rPr>
                        <a:t> </a:t>
                      </a:r>
                      <a:r>
                        <a:rPr lang="en-US" sz="1100" dirty="0" err="1">
                          <a:effectLst/>
                        </a:rPr>
                        <a:t>được</a:t>
                      </a:r>
                      <a:r>
                        <a:rPr lang="en-US" sz="1100" dirty="0">
                          <a:effectLst/>
                        </a:rPr>
                        <a:t> </a:t>
                      </a:r>
                      <a:r>
                        <a:rPr lang="en-US" sz="1100" dirty="0" err="1">
                          <a:effectLst/>
                        </a:rPr>
                        <a:t>chăm</a:t>
                      </a:r>
                      <a:r>
                        <a:rPr lang="en-US" sz="1100" dirty="0">
                          <a:effectLst/>
                        </a:rPr>
                        <a:t> </a:t>
                      </a:r>
                      <a:r>
                        <a:rPr lang="en-US" sz="1100" dirty="0" err="1">
                          <a:effectLst/>
                        </a:rPr>
                        <a:t>sóc</a:t>
                      </a:r>
                      <a:r>
                        <a:rPr lang="en-US" sz="1100" dirty="0">
                          <a:effectLst/>
                        </a:rPr>
                        <a:t> y </a:t>
                      </a:r>
                      <a:r>
                        <a:rPr lang="en-US" sz="1100" dirty="0" err="1">
                          <a:effectLst/>
                        </a:rPr>
                        <a:t>tế</a:t>
                      </a:r>
                      <a:r>
                        <a:rPr lang="en-US" sz="1100" dirty="0">
                          <a:effectLst/>
                        </a:rPr>
                        <a:t>, bao </a:t>
                      </a:r>
                      <a:r>
                        <a:rPr lang="en-US" sz="1100" dirty="0" err="1">
                          <a:effectLst/>
                        </a:rPr>
                        <a:t>gồm</a:t>
                      </a:r>
                      <a:r>
                        <a:rPr lang="en-US" sz="1100" dirty="0">
                          <a:effectLst/>
                        </a:rPr>
                        <a:t> </a:t>
                      </a:r>
                      <a:r>
                        <a:rPr lang="en-US" sz="1100" dirty="0" err="1">
                          <a:effectLst/>
                        </a:rPr>
                        <a:t>điều</a:t>
                      </a:r>
                      <a:r>
                        <a:rPr lang="en-US" sz="1100" dirty="0">
                          <a:effectLst/>
                        </a:rPr>
                        <a:t> </a:t>
                      </a:r>
                      <a:r>
                        <a:rPr lang="en-US" sz="1100" dirty="0" err="1">
                          <a:effectLst/>
                        </a:rPr>
                        <a:t>trị</a:t>
                      </a:r>
                      <a:r>
                        <a:rPr lang="en-US" sz="1100" dirty="0">
                          <a:effectLst/>
                        </a:rPr>
                        <a:t> </a:t>
                      </a:r>
                      <a:r>
                        <a:rPr lang="en-US" sz="1100" dirty="0" err="1">
                          <a:effectLst/>
                        </a:rPr>
                        <a:t>khi</a:t>
                      </a:r>
                      <a:r>
                        <a:rPr lang="en-US" sz="1100" dirty="0">
                          <a:effectLst/>
                        </a:rPr>
                        <a:t> </a:t>
                      </a:r>
                      <a:r>
                        <a:rPr lang="en-US" sz="1100" dirty="0" err="1">
                          <a:effectLst/>
                        </a:rPr>
                        <a:t>ốm</a:t>
                      </a:r>
                      <a:r>
                        <a:rPr lang="en-US" sz="1100" dirty="0">
                          <a:effectLst/>
                        </a:rPr>
                        <a:t> </a:t>
                      </a:r>
                      <a:r>
                        <a:rPr lang="en-US" sz="1100" dirty="0" err="1">
                          <a:effectLst/>
                        </a:rPr>
                        <a:t>bệnh</a:t>
                      </a:r>
                      <a:r>
                        <a:rPr lang="en-US" sz="1100" dirty="0">
                          <a:effectLst/>
                        </a:rPr>
                        <a:t> </a:t>
                      </a:r>
                      <a:r>
                        <a:rPr lang="en-US" sz="1100" dirty="0" err="1">
                          <a:effectLst/>
                        </a:rPr>
                        <a:t>và</a:t>
                      </a:r>
                      <a:r>
                        <a:rPr lang="en-US" sz="1100" dirty="0">
                          <a:effectLst/>
                        </a:rPr>
                        <a:t> </a:t>
                      </a:r>
                      <a:r>
                        <a:rPr lang="en-US" sz="1100" dirty="0" err="1">
                          <a:effectLst/>
                        </a:rPr>
                        <a:t>chăm</a:t>
                      </a:r>
                      <a:r>
                        <a:rPr lang="en-US" sz="1100" dirty="0">
                          <a:effectLst/>
                        </a:rPr>
                        <a:t> </a:t>
                      </a:r>
                      <a:r>
                        <a:rPr lang="en-US" sz="1100" dirty="0" err="1">
                          <a:effectLst/>
                        </a:rPr>
                        <a:t>sóc</a:t>
                      </a:r>
                      <a:r>
                        <a:rPr lang="en-US" sz="1100" dirty="0">
                          <a:effectLst/>
                        </a:rPr>
                        <a:t> </a:t>
                      </a:r>
                      <a:r>
                        <a:rPr lang="en-US" sz="1100" dirty="0" err="1">
                          <a:effectLst/>
                        </a:rPr>
                        <a:t>dự</a:t>
                      </a:r>
                      <a:r>
                        <a:rPr lang="en-US" sz="1100" dirty="0">
                          <a:effectLst/>
                        </a:rPr>
                        <a:t> </a:t>
                      </a:r>
                      <a:r>
                        <a:rPr lang="en-US" sz="1100" dirty="0" err="1">
                          <a:effectLst/>
                        </a:rPr>
                        <a:t>phòng</a:t>
                      </a:r>
                      <a:r>
                        <a:rPr lang="en-US" sz="1100" dirty="0">
                          <a:effectLst/>
                        </a:rPr>
                        <a:t> (</a:t>
                      </a:r>
                      <a:r>
                        <a:rPr lang="en-US" sz="1100" dirty="0" err="1">
                          <a:effectLst/>
                        </a:rPr>
                        <a:t>như</a:t>
                      </a:r>
                      <a:r>
                        <a:rPr lang="en-US" sz="1100" dirty="0">
                          <a:effectLst/>
                        </a:rPr>
                        <a:t> </a:t>
                      </a:r>
                      <a:r>
                        <a:rPr lang="en-US" sz="1100" dirty="0" err="1">
                          <a:effectLst/>
                        </a:rPr>
                        <a:t>giáo</a:t>
                      </a:r>
                      <a:r>
                        <a:rPr lang="en-US" sz="1100" dirty="0">
                          <a:effectLst/>
                        </a:rPr>
                        <a:t> </a:t>
                      </a:r>
                      <a:r>
                        <a:rPr lang="en-US" sz="1100" dirty="0" err="1">
                          <a:effectLst/>
                        </a:rPr>
                        <a:t>dục</a:t>
                      </a:r>
                      <a:r>
                        <a:rPr lang="en-US" sz="1100" dirty="0">
                          <a:effectLst/>
                        </a:rPr>
                        <a:t> </a:t>
                      </a:r>
                      <a:r>
                        <a:rPr lang="en-US" sz="1100" dirty="0" err="1">
                          <a:effectLst/>
                        </a:rPr>
                        <a:t>sức</a:t>
                      </a:r>
                      <a:r>
                        <a:rPr lang="en-US" sz="1100" dirty="0">
                          <a:effectLst/>
                        </a:rPr>
                        <a:t> </a:t>
                      </a:r>
                      <a:r>
                        <a:rPr lang="en-US" sz="1100" dirty="0" err="1">
                          <a:effectLst/>
                        </a:rPr>
                        <a:t>khoẻ</a:t>
                      </a:r>
                      <a:r>
                        <a:rPr lang="en-US" sz="1100" dirty="0">
                          <a:effectLst/>
                        </a:rPr>
                        <a:t>, </a:t>
                      </a:r>
                      <a:r>
                        <a:rPr lang="en-US" sz="1100" dirty="0" err="1">
                          <a:effectLst/>
                        </a:rPr>
                        <a:t>tiêm</a:t>
                      </a:r>
                      <a:r>
                        <a:rPr lang="en-US" sz="1100" dirty="0">
                          <a:effectLst/>
                        </a:rPr>
                        <a:t> </a:t>
                      </a:r>
                      <a:r>
                        <a:rPr lang="en-US" sz="1100" dirty="0" err="1">
                          <a:effectLst/>
                        </a:rPr>
                        <a:t>chủng</a:t>
                      </a:r>
                      <a:r>
                        <a:rPr lang="en-US" sz="1100" dirty="0">
                          <a:effectLst/>
                        </a:rPr>
                        <a:t>)./ Child can access health care services, including medical treatment when ill and preventive care</a:t>
                      </a:r>
                      <a:endParaRPr lang="en-VN" sz="1100" dirty="0">
                        <a:effectLst/>
                        <a:latin typeface="Times New Roman" panose="02020603050405020304" pitchFamily="18" charset="0"/>
                        <a:ea typeface="Times New Roman" panose="02020603050405020304" pitchFamily="18" charset="0"/>
                      </a:endParaRPr>
                    </a:p>
                  </a:txBody>
                  <a:tcPr marL="58179" marR="58179" marT="0" marB="0">
                    <a:solidFill>
                      <a:srgbClr val="92D050"/>
                    </a:solidFill>
                  </a:tcPr>
                </a:tc>
                <a:extLst>
                  <a:ext uri="{0D108BD9-81ED-4DB2-BD59-A6C34878D82A}">
                    <a16:rowId xmlns:a16="http://schemas.microsoft.com/office/drawing/2014/main" val="3568186163"/>
                  </a:ext>
                </a:extLst>
              </a:tr>
              <a:tr h="387861">
                <a:tc>
                  <a:txBody>
                    <a:bodyPr/>
                    <a:lstStyle/>
                    <a:p>
                      <a:pPr>
                        <a:spcBef>
                          <a:spcPts val="600"/>
                        </a:spcBef>
                      </a:pPr>
                      <a:r>
                        <a:rPr lang="en-US" sz="1100">
                          <a:effectLst/>
                        </a:rPr>
                        <a:t>Tốt = 0/ Good = 0</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Trong</a:t>
                      </a:r>
                      <a:r>
                        <a:rPr lang="en-US" sz="1100" dirty="0">
                          <a:effectLst/>
                        </a:rPr>
                        <a:t> </a:t>
                      </a:r>
                      <a:r>
                        <a:rPr lang="en-US" sz="1100" dirty="0" err="1">
                          <a:effectLst/>
                        </a:rPr>
                        <a:t>tháng</a:t>
                      </a:r>
                      <a:r>
                        <a:rPr lang="en-US" sz="1100" dirty="0">
                          <a:effectLst/>
                        </a:rPr>
                        <a:t> </a:t>
                      </a:r>
                      <a:r>
                        <a:rPr lang="en-US" sz="1100" dirty="0" err="1">
                          <a:effectLst/>
                        </a:rPr>
                        <a:t>trước</a:t>
                      </a:r>
                      <a:r>
                        <a:rPr lang="en-US" sz="1100" dirty="0">
                          <a:effectLst/>
                        </a:rPr>
                        <a:t>, </a:t>
                      </a:r>
                      <a:r>
                        <a:rPr lang="en-US" sz="1100" dirty="0" err="1">
                          <a:effectLst/>
                        </a:rPr>
                        <a:t>trẻ</a:t>
                      </a:r>
                      <a:r>
                        <a:rPr lang="en-US" sz="1100" dirty="0">
                          <a:effectLst/>
                        </a:rPr>
                        <a:t> </a:t>
                      </a:r>
                      <a:r>
                        <a:rPr lang="en-US" sz="1100" dirty="0" err="1">
                          <a:effectLst/>
                        </a:rPr>
                        <a:t>khoẻ</a:t>
                      </a:r>
                      <a:r>
                        <a:rPr lang="en-US" sz="1100" dirty="0">
                          <a:effectLst/>
                        </a:rPr>
                        <a:t> </a:t>
                      </a:r>
                      <a:r>
                        <a:rPr lang="en-US" sz="1100" dirty="0" err="1">
                          <a:effectLst/>
                        </a:rPr>
                        <a:t>mạnh</a:t>
                      </a:r>
                      <a:r>
                        <a:rPr lang="en-US" sz="1100" dirty="0">
                          <a:effectLst/>
                        </a:rPr>
                        <a:t> </a:t>
                      </a:r>
                      <a:r>
                        <a:rPr lang="en-US" sz="1100" dirty="0" err="1">
                          <a:effectLst/>
                        </a:rPr>
                        <a:t>và</a:t>
                      </a:r>
                      <a:r>
                        <a:rPr lang="en-US" sz="1100" dirty="0">
                          <a:effectLst/>
                        </a:rPr>
                        <a:t> </a:t>
                      </a:r>
                      <a:r>
                        <a:rPr lang="en-US" sz="1100" dirty="0" err="1">
                          <a:effectLst/>
                        </a:rPr>
                        <a:t>hiếu</a:t>
                      </a:r>
                      <a:r>
                        <a:rPr lang="en-US" sz="1100" dirty="0">
                          <a:effectLst/>
                        </a:rPr>
                        <a:t> </a:t>
                      </a:r>
                      <a:r>
                        <a:rPr lang="en-US" sz="1100" dirty="0" err="1">
                          <a:effectLst/>
                        </a:rPr>
                        <a:t>động</a:t>
                      </a:r>
                      <a:r>
                        <a:rPr lang="en-US" sz="1100" dirty="0">
                          <a:effectLst/>
                        </a:rPr>
                        <a:t>, </a:t>
                      </a:r>
                      <a:r>
                        <a:rPr lang="en-US" sz="1100" dirty="0" err="1">
                          <a:effectLst/>
                        </a:rPr>
                        <a:t>không</a:t>
                      </a:r>
                      <a:r>
                        <a:rPr lang="en-US" sz="1100" dirty="0">
                          <a:effectLst/>
                        </a:rPr>
                        <a:t> </a:t>
                      </a:r>
                      <a:r>
                        <a:rPr lang="en-US" sz="1100" dirty="0" err="1">
                          <a:effectLst/>
                        </a:rPr>
                        <a:t>bị</a:t>
                      </a:r>
                      <a:r>
                        <a:rPr lang="en-US" sz="1100" dirty="0">
                          <a:effectLst/>
                        </a:rPr>
                        <a:t> </a:t>
                      </a:r>
                      <a:r>
                        <a:rPr lang="en-US" sz="1100" dirty="0" err="1">
                          <a:effectLst/>
                        </a:rPr>
                        <a:t>sốt</a:t>
                      </a:r>
                      <a:r>
                        <a:rPr lang="en-US" sz="1100" dirty="0">
                          <a:effectLst/>
                        </a:rPr>
                        <a:t>, </a:t>
                      </a:r>
                      <a:r>
                        <a:rPr lang="en-US" sz="1100" dirty="0" err="1">
                          <a:effectLst/>
                        </a:rPr>
                        <a:t>tiêu</a:t>
                      </a:r>
                      <a:r>
                        <a:rPr lang="en-US" sz="1100" dirty="0">
                          <a:effectLst/>
                        </a:rPr>
                        <a:t> </a:t>
                      </a:r>
                      <a:r>
                        <a:rPr lang="en-US" sz="1100" dirty="0" err="1">
                          <a:effectLst/>
                        </a:rPr>
                        <a:t>chảy</a:t>
                      </a:r>
                      <a:r>
                        <a:rPr lang="en-US" sz="1100" dirty="0">
                          <a:effectLst/>
                        </a:rPr>
                        <a:t> hay </a:t>
                      </a:r>
                      <a:r>
                        <a:rPr lang="en-US" sz="1100" dirty="0" err="1">
                          <a:effectLst/>
                        </a:rPr>
                        <a:t>bệnh</a:t>
                      </a:r>
                      <a:r>
                        <a:rPr lang="en-US" sz="1100" dirty="0">
                          <a:effectLst/>
                        </a:rPr>
                        <a:t> </a:t>
                      </a:r>
                      <a:r>
                        <a:rPr lang="en-US" sz="1100" dirty="0" err="1">
                          <a:effectLst/>
                        </a:rPr>
                        <a:t>nào</a:t>
                      </a:r>
                      <a:r>
                        <a:rPr lang="en-US" sz="1100" dirty="0">
                          <a:effectLst/>
                        </a:rPr>
                        <a:t> </a:t>
                      </a:r>
                      <a:r>
                        <a:rPr lang="en-US" sz="1100" dirty="0" err="1">
                          <a:effectLst/>
                        </a:rPr>
                        <a:t>khác</a:t>
                      </a:r>
                      <a:r>
                        <a:rPr lang="en-US" sz="1100" dirty="0">
                          <a:effectLst/>
                        </a:rPr>
                        <a:t>./ In past month, child has been healthy and active, with no fever, diarrhea, or other illnesses.</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được</a:t>
                      </a:r>
                      <a:r>
                        <a:rPr lang="vi-VN" sz="1100">
                          <a:effectLst/>
                        </a:rPr>
                        <a:t> tiếp cận</a:t>
                      </a:r>
                      <a:r>
                        <a:rPr lang="en-US" sz="1100">
                          <a:effectLst/>
                        </a:rPr>
                        <a:t> toàn bộ hay hầu hết mọi dịch vụ điều trị và phòng bệnh./ Child has received all or almost all necessary health care treatment and preventive services/</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2993491925"/>
                  </a:ext>
                </a:extLst>
              </a:tr>
              <a:tr h="517147">
                <a:tc>
                  <a:txBody>
                    <a:bodyPr/>
                    <a:lstStyle/>
                    <a:p>
                      <a:pPr>
                        <a:spcBef>
                          <a:spcPts val="600"/>
                        </a:spcBef>
                      </a:pPr>
                      <a:r>
                        <a:rPr lang="en-US" sz="1100">
                          <a:effectLst/>
                        </a:rPr>
                        <a:t>Khá = 1/ Fair = 1</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Trong</a:t>
                      </a:r>
                      <a:r>
                        <a:rPr lang="en-US" sz="1100" dirty="0">
                          <a:effectLst/>
                        </a:rPr>
                        <a:t> </a:t>
                      </a:r>
                      <a:r>
                        <a:rPr lang="en-US" sz="1100" dirty="0" err="1">
                          <a:effectLst/>
                        </a:rPr>
                        <a:t>tháng</a:t>
                      </a:r>
                      <a:r>
                        <a:rPr lang="en-US" sz="1100" dirty="0">
                          <a:effectLst/>
                        </a:rPr>
                        <a:t> </a:t>
                      </a:r>
                      <a:r>
                        <a:rPr lang="en-US" sz="1100" dirty="0" err="1">
                          <a:effectLst/>
                        </a:rPr>
                        <a:t>trước</a:t>
                      </a:r>
                      <a:r>
                        <a:rPr lang="en-US" sz="1100" dirty="0">
                          <a:effectLst/>
                        </a:rPr>
                        <a:t> </a:t>
                      </a:r>
                      <a:r>
                        <a:rPr lang="en-US" sz="1100" dirty="0" err="1">
                          <a:effectLst/>
                        </a:rPr>
                        <a:t>trẻ</a:t>
                      </a:r>
                      <a:r>
                        <a:rPr lang="en-US" sz="1100" dirty="0">
                          <a:effectLst/>
                        </a:rPr>
                        <a:t> </a:t>
                      </a:r>
                      <a:r>
                        <a:rPr lang="en-US" sz="1100" dirty="0" err="1">
                          <a:effectLst/>
                        </a:rPr>
                        <a:t>bị</a:t>
                      </a:r>
                      <a:r>
                        <a:rPr lang="en-US" sz="1100" dirty="0">
                          <a:effectLst/>
                        </a:rPr>
                        <a:t> </a:t>
                      </a:r>
                      <a:r>
                        <a:rPr lang="en-US" sz="1100" dirty="0" err="1">
                          <a:effectLst/>
                        </a:rPr>
                        <a:t>ốm</a:t>
                      </a:r>
                      <a:r>
                        <a:rPr lang="en-US" sz="1100" dirty="0">
                          <a:effectLst/>
                        </a:rPr>
                        <a:t> </a:t>
                      </a:r>
                      <a:r>
                        <a:rPr lang="en-US" sz="1100" dirty="0" err="1">
                          <a:effectLst/>
                        </a:rPr>
                        <a:t>và</a:t>
                      </a:r>
                      <a:r>
                        <a:rPr lang="en-US" sz="1100" dirty="0">
                          <a:effectLst/>
                        </a:rPr>
                        <a:t> </a:t>
                      </a:r>
                      <a:r>
                        <a:rPr lang="en-US" sz="1100" dirty="0" err="1">
                          <a:effectLst/>
                        </a:rPr>
                        <a:t>kém</a:t>
                      </a:r>
                      <a:r>
                        <a:rPr lang="en-US" sz="1100" dirty="0">
                          <a:effectLst/>
                        </a:rPr>
                        <a:t> </a:t>
                      </a:r>
                      <a:r>
                        <a:rPr lang="en-US" sz="1100" dirty="0" err="1">
                          <a:effectLst/>
                        </a:rPr>
                        <a:t>hiếu</a:t>
                      </a:r>
                      <a:r>
                        <a:rPr lang="en-US" sz="1100" dirty="0">
                          <a:effectLst/>
                        </a:rPr>
                        <a:t> </a:t>
                      </a:r>
                      <a:r>
                        <a:rPr lang="en-US" sz="1100" dirty="0" err="1">
                          <a:effectLst/>
                        </a:rPr>
                        <a:t>động</a:t>
                      </a:r>
                      <a:r>
                        <a:rPr lang="en-US" sz="1100" dirty="0">
                          <a:effectLst/>
                        </a:rPr>
                        <a:t> </a:t>
                      </a:r>
                      <a:r>
                        <a:rPr lang="en-US" sz="1100" dirty="0" err="1">
                          <a:effectLst/>
                        </a:rPr>
                        <a:t>trong</a:t>
                      </a:r>
                      <a:r>
                        <a:rPr lang="en-US" sz="1100" dirty="0">
                          <a:effectLst/>
                        </a:rPr>
                        <a:t> </a:t>
                      </a:r>
                      <a:r>
                        <a:rPr lang="en-US" sz="1100" dirty="0" err="1">
                          <a:effectLst/>
                        </a:rPr>
                        <a:t>vài</a:t>
                      </a:r>
                      <a:r>
                        <a:rPr lang="en-US" sz="1100" dirty="0">
                          <a:effectLst/>
                        </a:rPr>
                        <a:t> </a:t>
                      </a:r>
                      <a:r>
                        <a:rPr lang="en-US" sz="1100" dirty="0" err="1">
                          <a:effectLst/>
                        </a:rPr>
                        <a:t>ngày</a:t>
                      </a:r>
                      <a:r>
                        <a:rPr lang="en-US" sz="1100" dirty="0">
                          <a:effectLst/>
                        </a:rPr>
                        <a:t> (1 </a:t>
                      </a:r>
                      <a:r>
                        <a:rPr lang="en-US" sz="1100" dirty="0" err="1">
                          <a:effectLst/>
                        </a:rPr>
                        <a:t>đến</a:t>
                      </a:r>
                      <a:r>
                        <a:rPr lang="en-US" sz="1100" dirty="0">
                          <a:effectLst/>
                        </a:rPr>
                        <a:t> 3 </a:t>
                      </a:r>
                      <a:r>
                        <a:rPr lang="en-US" sz="1100" dirty="0" err="1">
                          <a:effectLst/>
                        </a:rPr>
                        <a:t>ngày</a:t>
                      </a:r>
                      <a:r>
                        <a:rPr lang="en-US" sz="1100" dirty="0">
                          <a:effectLst/>
                        </a:rPr>
                        <a:t>) </a:t>
                      </a:r>
                      <a:r>
                        <a:rPr lang="en-US" sz="1100" dirty="0" err="1">
                          <a:effectLst/>
                        </a:rPr>
                        <a:t>nhưng</a:t>
                      </a:r>
                      <a:r>
                        <a:rPr lang="en-US" sz="1100" dirty="0">
                          <a:effectLst/>
                        </a:rPr>
                        <a:t> </a:t>
                      </a:r>
                      <a:r>
                        <a:rPr lang="en-US" sz="1100" dirty="0" err="1">
                          <a:effectLst/>
                        </a:rPr>
                        <a:t>vẫn</a:t>
                      </a:r>
                      <a:r>
                        <a:rPr lang="en-US" sz="1100" dirty="0">
                          <a:effectLst/>
                        </a:rPr>
                        <a:t> </a:t>
                      </a:r>
                      <a:r>
                        <a:rPr lang="en-US" sz="1100" dirty="0" err="1">
                          <a:effectLst/>
                        </a:rPr>
                        <a:t>tham</a:t>
                      </a:r>
                      <a:r>
                        <a:rPr lang="en-US" sz="1100" dirty="0">
                          <a:effectLst/>
                        </a:rPr>
                        <a:t> </a:t>
                      </a:r>
                      <a:r>
                        <a:rPr lang="en-US" sz="1100" dirty="0" err="1">
                          <a:effectLst/>
                        </a:rPr>
                        <a:t>gia</a:t>
                      </a:r>
                      <a:r>
                        <a:rPr lang="en-US" sz="1100" dirty="0">
                          <a:effectLst/>
                        </a:rPr>
                        <a:t> </a:t>
                      </a:r>
                      <a:r>
                        <a:rPr lang="en-US" sz="1100" dirty="0" err="1">
                          <a:effectLst/>
                        </a:rPr>
                        <a:t>một</a:t>
                      </a:r>
                      <a:r>
                        <a:rPr lang="en-US" sz="1100" dirty="0">
                          <a:effectLst/>
                        </a:rPr>
                        <a:t> </a:t>
                      </a:r>
                      <a:r>
                        <a:rPr lang="en-US" sz="1100" dirty="0" err="1">
                          <a:effectLst/>
                        </a:rPr>
                        <a:t>số</a:t>
                      </a:r>
                      <a:r>
                        <a:rPr lang="en-US" sz="1100" dirty="0">
                          <a:effectLst/>
                        </a:rPr>
                        <a:t> </a:t>
                      </a:r>
                      <a:r>
                        <a:rPr lang="en-US" sz="1100" dirty="0" err="1">
                          <a:effectLst/>
                        </a:rPr>
                        <a:t>hoạt</a:t>
                      </a:r>
                      <a:r>
                        <a:rPr lang="en-US" sz="1100" dirty="0">
                          <a:effectLst/>
                        </a:rPr>
                        <a:t> </a:t>
                      </a:r>
                      <a:r>
                        <a:rPr lang="en-US" sz="1100" dirty="0" err="1">
                          <a:effectLst/>
                        </a:rPr>
                        <a:t>động</a:t>
                      </a:r>
                      <a:r>
                        <a:rPr lang="en-US" sz="1100" dirty="0">
                          <a:effectLst/>
                        </a:rPr>
                        <a:t>./ In past month, child was ill and less active for a few days (1 to 3 days), but he/she participated in some activities.</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được</a:t>
                      </a:r>
                      <a:r>
                        <a:rPr lang="en-US" sz="1100" dirty="0">
                          <a:effectLst/>
                        </a:rPr>
                        <a:t> </a:t>
                      </a:r>
                      <a:r>
                        <a:rPr lang="en-US" sz="1100" dirty="0" err="1">
                          <a:effectLst/>
                        </a:rPr>
                        <a:t>điều</a:t>
                      </a:r>
                      <a:r>
                        <a:rPr lang="en-US" sz="1100" dirty="0">
                          <a:effectLst/>
                        </a:rPr>
                        <a:t> </a:t>
                      </a:r>
                      <a:r>
                        <a:rPr lang="en-US" sz="1100" dirty="0" err="1">
                          <a:effectLst/>
                        </a:rPr>
                        <a:t>trị</a:t>
                      </a:r>
                      <a:r>
                        <a:rPr lang="en-US" sz="1100" dirty="0">
                          <a:effectLst/>
                        </a:rPr>
                        <a:t> y </a:t>
                      </a:r>
                      <a:r>
                        <a:rPr lang="en-US" sz="1100" dirty="0" err="1">
                          <a:effectLst/>
                        </a:rPr>
                        <a:t>tế</a:t>
                      </a:r>
                      <a:r>
                        <a:rPr lang="en-US" sz="1100" dirty="0">
                          <a:effectLst/>
                        </a:rPr>
                        <a:t> </a:t>
                      </a:r>
                      <a:r>
                        <a:rPr lang="en-US" sz="1100" dirty="0" err="1">
                          <a:effectLst/>
                        </a:rPr>
                        <a:t>khi</a:t>
                      </a:r>
                      <a:r>
                        <a:rPr lang="en-US" sz="1100" dirty="0">
                          <a:effectLst/>
                        </a:rPr>
                        <a:t> </a:t>
                      </a:r>
                      <a:r>
                        <a:rPr lang="en-US" sz="1100" dirty="0" err="1">
                          <a:effectLst/>
                        </a:rPr>
                        <a:t>ốm</a:t>
                      </a:r>
                      <a:r>
                        <a:rPr lang="en-US" sz="1100" dirty="0">
                          <a:effectLst/>
                        </a:rPr>
                        <a:t>, </a:t>
                      </a:r>
                      <a:r>
                        <a:rPr lang="en-US" sz="1100" dirty="0" err="1">
                          <a:effectLst/>
                        </a:rPr>
                        <a:t>nhưng</a:t>
                      </a:r>
                      <a:r>
                        <a:rPr lang="en-US" sz="1100" dirty="0">
                          <a:effectLst/>
                        </a:rPr>
                        <a:t> </a:t>
                      </a:r>
                      <a:r>
                        <a:rPr lang="en-US" sz="1100" dirty="0" err="1">
                          <a:effectLst/>
                        </a:rPr>
                        <a:t>không</a:t>
                      </a:r>
                      <a:r>
                        <a:rPr lang="en-US" sz="1100" dirty="0">
                          <a:effectLst/>
                        </a:rPr>
                        <a:t> </a:t>
                      </a:r>
                      <a:r>
                        <a:rPr lang="en-US" sz="1100" dirty="0" err="1">
                          <a:effectLst/>
                        </a:rPr>
                        <a:t>nhận</a:t>
                      </a:r>
                      <a:r>
                        <a:rPr lang="en-US" sz="1100" dirty="0">
                          <a:effectLst/>
                        </a:rPr>
                        <a:t> </a:t>
                      </a:r>
                      <a:r>
                        <a:rPr lang="en-US" sz="1100" dirty="0" err="1">
                          <a:effectLst/>
                        </a:rPr>
                        <a:t>được</a:t>
                      </a:r>
                      <a:r>
                        <a:rPr lang="en-US" sz="1100" dirty="0">
                          <a:effectLst/>
                        </a:rPr>
                        <a:t> </a:t>
                      </a:r>
                      <a:r>
                        <a:rPr lang="en-US" sz="1100" dirty="0" err="1">
                          <a:effectLst/>
                        </a:rPr>
                        <a:t>một</a:t>
                      </a:r>
                      <a:r>
                        <a:rPr lang="en-US" sz="1100" dirty="0">
                          <a:effectLst/>
                        </a:rPr>
                        <a:t> </a:t>
                      </a:r>
                      <a:r>
                        <a:rPr lang="en-US" sz="1100" dirty="0" err="1">
                          <a:effectLst/>
                        </a:rPr>
                        <a:t>số</a:t>
                      </a:r>
                      <a:r>
                        <a:rPr lang="en-US" sz="1100" dirty="0">
                          <a:effectLst/>
                        </a:rPr>
                        <a:t> </a:t>
                      </a:r>
                      <a:r>
                        <a:rPr lang="en-US" sz="1100" dirty="0" err="1">
                          <a:effectLst/>
                        </a:rPr>
                        <a:t>dịch</a:t>
                      </a:r>
                      <a:r>
                        <a:rPr lang="en-US" sz="1100" dirty="0">
                          <a:effectLst/>
                        </a:rPr>
                        <a:t> </a:t>
                      </a:r>
                      <a:r>
                        <a:rPr lang="en-US" sz="1100" dirty="0" err="1">
                          <a:effectLst/>
                        </a:rPr>
                        <a:t>vụ</a:t>
                      </a:r>
                      <a:r>
                        <a:rPr lang="en-US" sz="1100" dirty="0">
                          <a:effectLst/>
                        </a:rPr>
                        <a:t> </a:t>
                      </a:r>
                      <a:r>
                        <a:rPr lang="en-US" sz="1100" dirty="0" err="1">
                          <a:effectLst/>
                        </a:rPr>
                        <a:t>chăm</a:t>
                      </a:r>
                      <a:r>
                        <a:rPr lang="en-US" sz="1100" dirty="0">
                          <a:effectLst/>
                        </a:rPr>
                        <a:t> </a:t>
                      </a:r>
                      <a:r>
                        <a:rPr lang="en-US" sz="1100" dirty="0" err="1">
                          <a:effectLst/>
                        </a:rPr>
                        <a:t>sóc</a:t>
                      </a:r>
                      <a:r>
                        <a:rPr lang="en-US" sz="1100" dirty="0">
                          <a:effectLst/>
                        </a:rPr>
                        <a:t> </a:t>
                      </a:r>
                      <a:r>
                        <a:rPr lang="en-US" sz="1100" dirty="0" err="1">
                          <a:effectLst/>
                        </a:rPr>
                        <a:t>sức</a:t>
                      </a:r>
                      <a:r>
                        <a:rPr lang="en-US" sz="1100" dirty="0">
                          <a:effectLst/>
                        </a:rPr>
                        <a:t> </a:t>
                      </a:r>
                      <a:r>
                        <a:rPr lang="en-US" sz="1100" dirty="0" err="1">
                          <a:effectLst/>
                        </a:rPr>
                        <a:t>khoẻ</a:t>
                      </a:r>
                      <a:r>
                        <a:rPr lang="en-US" sz="1100" dirty="0">
                          <a:effectLst/>
                        </a:rPr>
                        <a:t> (</a:t>
                      </a:r>
                      <a:r>
                        <a:rPr lang="en-US" sz="1100" dirty="0" err="1">
                          <a:effectLst/>
                        </a:rPr>
                        <a:t>như</a:t>
                      </a:r>
                      <a:r>
                        <a:rPr lang="en-US" sz="1100" dirty="0">
                          <a:effectLst/>
                        </a:rPr>
                        <a:t> </a:t>
                      </a:r>
                      <a:r>
                        <a:rPr lang="en-US" sz="1100" dirty="0" err="1">
                          <a:effectLst/>
                        </a:rPr>
                        <a:t>phòng</a:t>
                      </a:r>
                      <a:r>
                        <a:rPr lang="en-US" sz="1100" dirty="0">
                          <a:effectLst/>
                        </a:rPr>
                        <a:t> </a:t>
                      </a:r>
                      <a:r>
                        <a:rPr lang="en-US" sz="1100" dirty="0" err="1">
                          <a:effectLst/>
                        </a:rPr>
                        <a:t>bệnh</a:t>
                      </a:r>
                      <a:r>
                        <a:rPr lang="en-US" sz="1100" dirty="0">
                          <a:effectLst/>
                        </a:rPr>
                        <a:t>)./ Child received medical treatment when ill, but some health care services (e.g. immunizations) are not received.</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2054134443"/>
                  </a:ext>
                </a:extLst>
              </a:tr>
              <a:tr h="517147">
                <a:tc>
                  <a:txBody>
                    <a:bodyPr/>
                    <a:lstStyle/>
                    <a:p>
                      <a:pPr>
                        <a:spcBef>
                          <a:spcPts val="600"/>
                        </a:spcBef>
                      </a:pPr>
                      <a:r>
                        <a:rPr lang="en-US" sz="1100">
                          <a:effectLst/>
                        </a:rPr>
                        <a:t>Tệ = 2/ Bad = 2</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Trong tháng trước, trẻ thường đau ốm (trên 3 ngày) đến mức không đi học, đi làm hay chơi đùa được./ In past month, child was often (more than 3 days) too ill for school, work, or play</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chỉ</a:t>
                      </a:r>
                      <a:r>
                        <a:rPr lang="en-US" sz="1100" dirty="0">
                          <a:effectLst/>
                        </a:rPr>
                        <a:t> </a:t>
                      </a:r>
                      <a:r>
                        <a:rPr lang="en-US" sz="1100" dirty="0" err="1">
                          <a:effectLst/>
                        </a:rPr>
                        <a:t>thỉnh</a:t>
                      </a:r>
                      <a:r>
                        <a:rPr lang="en-US" sz="1100" dirty="0">
                          <a:effectLst/>
                        </a:rPr>
                        <a:t> </a:t>
                      </a:r>
                      <a:r>
                        <a:rPr lang="en-US" sz="1100" dirty="0" err="1">
                          <a:effectLst/>
                        </a:rPr>
                        <a:t>thoảng</a:t>
                      </a:r>
                      <a:r>
                        <a:rPr lang="en-US" sz="1100" dirty="0">
                          <a:effectLst/>
                        </a:rPr>
                        <a:t> </a:t>
                      </a:r>
                      <a:r>
                        <a:rPr lang="en-US" sz="1100" dirty="0" err="1">
                          <a:effectLst/>
                        </a:rPr>
                        <a:t>hoặc</a:t>
                      </a:r>
                      <a:r>
                        <a:rPr lang="en-US" sz="1100" dirty="0">
                          <a:effectLst/>
                        </a:rPr>
                        <a:t> </a:t>
                      </a:r>
                      <a:r>
                        <a:rPr lang="en-US" sz="1100" dirty="0" err="1">
                          <a:effectLst/>
                        </a:rPr>
                        <a:t>không</a:t>
                      </a:r>
                      <a:r>
                        <a:rPr lang="en-US" sz="1100" dirty="0">
                          <a:effectLst/>
                        </a:rPr>
                        <a:t> </a:t>
                      </a:r>
                      <a:r>
                        <a:rPr lang="en-US" sz="1100" dirty="0" err="1">
                          <a:effectLst/>
                        </a:rPr>
                        <a:t>thường</a:t>
                      </a:r>
                      <a:r>
                        <a:rPr lang="en-US" sz="1100" dirty="0">
                          <a:effectLst/>
                        </a:rPr>
                        <a:t> </a:t>
                      </a:r>
                      <a:r>
                        <a:rPr lang="en-US" sz="1100" dirty="0" err="1">
                          <a:effectLst/>
                        </a:rPr>
                        <a:t>xuyên</a:t>
                      </a:r>
                      <a:r>
                        <a:rPr lang="en-US" sz="1100" dirty="0">
                          <a:effectLst/>
                        </a:rPr>
                        <a:t> </a:t>
                      </a:r>
                      <a:r>
                        <a:rPr lang="en-US" sz="1100" dirty="0" err="1">
                          <a:effectLst/>
                        </a:rPr>
                        <a:t>nhận</a:t>
                      </a:r>
                      <a:r>
                        <a:rPr lang="en-US" sz="1100" dirty="0">
                          <a:effectLst/>
                        </a:rPr>
                        <a:t> </a:t>
                      </a:r>
                      <a:r>
                        <a:rPr lang="en-US" sz="1100" dirty="0" err="1">
                          <a:effectLst/>
                        </a:rPr>
                        <a:t>được</a:t>
                      </a:r>
                      <a:r>
                        <a:rPr lang="en-US" sz="1100" dirty="0">
                          <a:effectLst/>
                        </a:rPr>
                        <a:t> </a:t>
                      </a:r>
                      <a:r>
                        <a:rPr lang="en-US" sz="1100" dirty="0" err="1">
                          <a:effectLst/>
                        </a:rPr>
                        <a:t>dịch</a:t>
                      </a:r>
                      <a:r>
                        <a:rPr lang="en-US" sz="1100" dirty="0">
                          <a:effectLst/>
                        </a:rPr>
                        <a:t> </a:t>
                      </a:r>
                      <a:r>
                        <a:rPr lang="en-US" sz="1100" dirty="0" err="1">
                          <a:effectLst/>
                        </a:rPr>
                        <a:t>vụ</a:t>
                      </a:r>
                      <a:r>
                        <a:rPr lang="en-US" sz="1100" dirty="0">
                          <a:effectLst/>
                        </a:rPr>
                        <a:t> y </a:t>
                      </a:r>
                      <a:r>
                        <a:rPr lang="en-US" sz="1100" dirty="0" err="1">
                          <a:effectLst/>
                        </a:rPr>
                        <a:t>tế</a:t>
                      </a:r>
                      <a:r>
                        <a:rPr lang="en-US" sz="1100" dirty="0">
                          <a:effectLst/>
                        </a:rPr>
                        <a:t> (</a:t>
                      </a:r>
                      <a:r>
                        <a:rPr lang="en-US" sz="1100" dirty="0" err="1">
                          <a:effectLst/>
                        </a:rPr>
                        <a:t>điều</a:t>
                      </a:r>
                      <a:r>
                        <a:rPr lang="en-US" sz="1100" dirty="0">
                          <a:effectLst/>
                        </a:rPr>
                        <a:t> </a:t>
                      </a:r>
                      <a:r>
                        <a:rPr lang="en-US" sz="1100" dirty="0" err="1">
                          <a:effectLst/>
                        </a:rPr>
                        <a:t>trị</a:t>
                      </a:r>
                      <a:r>
                        <a:rPr lang="en-US" sz="1100" dirty="0">
                          <a:effectLst/>
                        </a:rPr>
                        <a:t> </a:t>
                      </a:r>
                      <a:r>
                        <a:rPr lang="en-US" sz="1100" dirty="0" err="1">
                          <a:effectLst/>
                        </a:rPr>
                        <a:t>hoặc</a:t>
                      </a:r>
                      <a:r>
                        <a:rPr lang="en-US" sz="1100" dirty="0">
                          <a:effectLst/>
                        </a:rPr>
                        <a:t> </a:t>
                      </a:r>
                      <a:r>
                        <a:rPr lang="en-US" sz="1100" dirty="0" err="1">
                          <a:effectLst/>
                        </a:rPr>
                        <a:t>phòng</a:t>
                      </a:r>
                      <a:r>
                        <a:rPr lang="en-US" sz="1100" dirty="0">
                          <a:effectLst/>
                        </a:rPr>
                        <a:t> </a:t>
                      </a:r>
                      <a:r>
                        <a:rPr lang="en-US" sz="1100" dirty="0" err="1">
                          <a:effectLst/>
                        </a:rPr>
                        <a:t>bệnh</a:t>
                      </a:r>
                      <a:r>
                        <a:rPr lang="en-US" sz="1100" dirty="0">
                          <a:effectLst/>
                        </a:rPr>
                        <a:t>)/ Child only sometimes or inconsistently receives needed health care services (treatment or preventive).</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1946591352"/>
                  </a:ext>
                </a:extLst>
              </a:tr>
              <a:tr h="258574">
                <a:tc>
                  <a:txBody>
                    <a:bodyPr/>
                    <a:lstStyle/>
                    <a:p>
                      <a:pPr>
                        <a:spcBef>
                          <a:spcPts val="600"/>
                        </a:spcBef>
                      </a:pPr>
                      <a:r>
                        <a:rPr lang="en-US" sz="1100">
                          <a:effectLst/>
                        </a:rPr>
                        <a:t>Rất tệ = 3/ Very Bad = 3</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Trong tháng trước, trẻ hầu như luôn đau ốm (bệnh kinh niên)./ In past month, child has been ill most of the time (chronically ill).</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hiếm</a:t>
                      </a:r>
                      <a:r>
                        <a:rPr lang="en-US" sz="1100" dirty="0">
                          <a:effectLst/>
                        </a:rPr>
                        <a:t> </a:t>
                      </a:r>
                      <a:r>
                        <a:rPr lang="en-US" sz="1100" dirty="0" err="1">
                          <a:effectLst/>
                        </a:rPr>
                        <a:t>khi</a:t>
                      </a:r>
                      <a:r>
                        <a:rPr lang="en-US" sz="1100" dirty="0">
                          <a:effectLst/>
                        </a:rPr>
                        <a:t> </a:t>
                      </a:r>
                      <a:r>
                        <a:rPr lang="en-US" sz="1100" dirty="0" err="1">
                          <a:effectLst/>
                        </a:rPr>
                        <a:t>hoặc</a:t>
                      </a:r>
                      <a:r>
                        <a:rPr lang="en-US" sz="1100" dirty="0">
                          <a:effectLst/>
                        </a:rPr>
                        <a:t> </a:t>
                      </a:r>
                      <a:r>
                        <a:rPr lang="en-US" sz="1100" dirty="0" err="1">
                          <a:effectLst/>
                        </a:rPr>
                        <a:t>không</a:t>
                      </a:r>
                      <a:r>
                        <a:rPr lang="en-US" sz="1100" dirty="0">
                          <a:effectLst/>
                        </a:rPr>
                        <a:t> </a:t>
                      </a:r>
                      <a:r>
                        <a:rPr lang="en-US" sz="1100" dirty="0" err="1">
                          <a:effectLst/>
                        </a:rPr>
                        <a:t>hề</a:t>
                      </a:r>
                      <a:r>
                        <a:rPr lang="en-US" sz="1100" dirty="0">
                          <a:effectLst/>
                        </a:rPr>
                        <a:t> </a:t>
                      </a:r>
                      <a:r>
                        <a:rPr lang="en-US" sz="1100" dirty="0" err="1">
                          <a:effectLst/>
                        </a:rPr>
                        <a:t>được</a:t>
                      </a:r>
                      <a:r>
                        <a:rPr lang="en-US" sz="1100" dirty="0">
                          <a:effectLst/>
                        </a:rPr>
                        <a:t> </a:t>
                      </a:r>
                      <a:r>
                        <a:rPr lang="en-US" sz="1100" dirty="0" err="1">
                          <a:effectLst/>
                        </a:rPr>
                        <a:t>nhận</a:t>
                      </a:r>
                      <a:r>
                        <a:rPr lang="en-US" sz="1100" dirty="0">
                          <a:effectLst/>
                        </a:rPr>
                        <a:t> </a:t>
                      </a:r>
                      <a:r>
                        <a:rPr lang="en-US" sz="1100" dirty="0" err="1">
                          <a:effectLst/>
                        </a:rPr>
                        <a:t>dịch</a:t>
                      </a:r>
                      <a:r>
                        <a:rPr lang="en-US" sz="1100" dirty="0">
                          <a:effectLst/>
                        </a:rPr>
                        <a:t> </a:t>
                      </a:r>
                      <a:r>
                        <a:rPr lang="en-US" sz="1100" dirty="0" err="1">
                          <a:effectLst/>
                        </a:rPr>
                        <a:t>vụ</a:t>
                      </a:r>
                      <a:r>
                        <a:rPr lang="en-US" sz="1100" dirty="0">
                          <a:effectLst/>
                        </a:rPr>
                        <a:t> y </a:t>
                      </a:r>
                      <a:r>
                        <a:rPr lang="en-US" sz="1100" dirty="0" err="1">
                          <a:effectLst/>
                        </a:rPr>
                        <a:t>tế</a:t>
                      </a:r>
                      <a:r>
                        <a:rPr lang="en-US" sz="1100" dirty="0">
                          <a:effectLst/>
                        </a:rPr>
                        <a:t> </a:t>
                      </a:r>
                      <a:r>
                        <a:rPr lang="en-US" sz="1100" dirty="0" err="1">
                          <a:effectLst/>
                        </a:rPr>
                        <a:t>cần</a:t>
                      </a:r>
                      <a:r>
                        <a:rPr lang="en-US" sz="1100" dirty="0">
                          <a:effectLst/>
                        </a:rPr>
                        <a:t> </a:t>
                      </a:r>
                      <a:r>
                        <a:rPr lang="en-US" sz="1100" dirty="0" err="1">
                          <a:effectLst/>
                        </a:rPr>
                        <a:t>thiết</a:t>
                      </a:r>
                      <a:r>
                        <a:rPr lang="en-US" sz="1100" dirty="0">
                          <a:effectLst/>
                        </a:rPr>
                        <a:t>./ Child rarely or never receives the necessary health care services</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2597668482"/>
                  </a:ext>
                </a:extLst>
              </a:tr>
            </a:tbl>
          </a:graphicData>
        </a:graphic>
      </p:graphicFrame>
    </p:spTree>
    <p:extLst>
      <p:ext uri="{BB962C8B-B14F-4D97-AF65-F5344CB8AC3E}">
        <p14:creationId xmlns:p14="http://schemas.microsoft.com/office/powerpoint/2010/main" val="3245906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0EBDB7-F5A1-9A06-05ED-FACADC9BF74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30</a:t>
            </a:fld>
            <a:endParaRPr lang="en"/>
          </a:p>
        </p:txBody>
      </p:sp>
      <p:graphicFrame>
        <p:nvGraphicFramePr>
          <p:cNvPr id="5" name="Table 4">
            <a:extLst>
              <a:ext uri="{FF2B5EF4-FFF2-40B4-BE49-F238E27FC236}">
                <a16:creationId xmlns:a16="http://schemas.microsoft.com/office/drawing/2014/main" id="{BC004B2C-EC68-ED33-8911-CFA3C536DD8B}"/>
              </a:ext>
            </a:extLst>
          </p:cNvPr>
          <p:cNvGraphicFramePr>
            <a:graphicFrameLocks noGrp="1"/>
          </p:cNvGraphicFramePr>
          <p:nvPr>
            <p:extLst>
              <p:ext uri="{D42A27DB-BD31-4B8C-83A1-F6EECF244321}">
                <p14:modId xmlns:p14="http://schemas.microsoft.com/office/powerpoint/2010/main" val="2421393210"/>
              </p:ext>
            </p:extLst>
          </p:nvPr>
        </p:nvGraphicFramePr>
        <p:xfrm>
          <a:off x="911964" y="470780"/>
          <a:ext cx="7718424" cy="3969726"/>
        </p:xfrm>
        <a:graphic>
          <a:graphicData uri="http://schemas.openxmlformats.org/drawingml/2006/table">
            <a:tbl>
              <a:tblPr firstRow="1" firstCol="1" lastRow="1" lastCol="1" bandRow="1" bandCol="1">
                <a:tableStyleId>{5765BD47-0766-45DA-83AF-D0E9DCAA76E3}</a:tableStyleId>
              </a:tblPr>
              <a:tblGrid>
                <a:gridCol w="3859212">
                  <a:extLst>
                    <a:ext uri="{9D8B030D-6E8A-4147-A177-3AD203B41FA5}">
                      <a16:colId xmlns:a16="http://schemas.microsoft.com/office/drawing/2014/main" val="935116969"/>
                    </a:ext>
                  </a:extLst>
                </a:gridCol>
                <a:gridCol w="3859212">
                  <a:extLst>
                    <a:ext uri="{9D8B030D-6E8A-4147-A177-3AD203B41FA5}">
                      <a16:colId xmlns:a16="http://schemas.microsoft.com/office/drawing/2014/main" val="2134699132"/>
                    </a:ext>
                  </a:extLst>
                </a:gridCol>
              </a:tblGrid>
              <a:tr h="172597">
                <a:tc gridSpan="2">
                  <a:txBody>
                    <a:bodyPr/>
                    <a:lstStyle/>
                    <a:p>
                      <a:pPr algn="ctr">
                        <a:spcBef>
                          <a:spcPts val="600"/>
                        </a:spcBef>
                      </a:pPr>
                      <a:r>
                        <a:rPr lang="en-US" sz="1100" dirty="0">
                          <a:effectLst/>
                        </a:rPr>
                        <a:t>TÂM LÝ XÃ HỘI/ PSYCHOSOCIAL</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hMerge="1">
                  <a:txBody>
                    <a:bodyPr/>
                    <a:lstStyle/>
                    <a:p>
                      <a:endParaRPr lang="en-VN"/>
                    </a:p>
                  </a:txBody>
                  <a:tcPr/>
                </a:tc>
                <a:extLst>
                  <a:ext uri="{0D108BD9-81ED-4DB2-BD59-A6C34878D82A}">
                    <a16:rowId xmlns:a16="http://schemas.microsoft.com/office/drawing/2014/main" val="3103030877"/>
                  </a:ext>
                </a:extLst>
              </a:tr>
              <a:tr h="172597">
                <a:tc>
                  <a:txBody>
                    <a:bodyPr/>
                    <a:lstStyle/>
                    <a:p>
                      <a:pPr algn="ctr">
                        <a:spcBef>
                          <a:spcPts val="600"/>
                        </a:spcBef>
                      </a:pPr>
                      <a:r>
                        <a:rPr lang="en-US" sz="1100" dirty="0">
                          <a:effectLst/>
                        </a:rPr>
                        <a:t>9. </a:t>
                      </a:r>
                      <a:r>
                        <a:rPr lang="en-US" sz="1100" dirty="0" err="1">
                          <a:effectLst/>
                        </a:rPr>
                        <a:t>Sức</a:t>
                      </a:r>
                      <a:r>
                        <a:rPr lang="en-US" sz="1100" dirty="0">
                          <a:effectLst/>
                        </a:rPr>
                        <a:t> </a:t>
                      </a:r>
                      <a:r>
                        <a:rPr lang="en-US" sz="1100" dirty="0" err="1">
                          <a:effectLst/>
                        </a:rPr>
                        <a:t>khoẻ</a:t>
                      </a:r>
                      <a:r>
                        <a:rPr lang="en-US" sz="1100" dirty="0">
                          <a:effectLst/>
                        </a:rPr>
                        <a:t> </a:t>
                      </a:r>
                      <a:r>
                        <a:rPr lang="en-US" sz="1100" dirty="0" err="1">
                          <a:effectLst/>
                        </a:rPr>
                        <a:t>tâm</a:t>
                      </a:r>
                      <a:r>
                        <a:rPr lang="en-US" sz="1100" dirty="0">
                          <a:effectLst/>
                        </a:rPr>
                        <a:t> </a:t>
                      </a:r>
                      <a:r>
                        <a:rPr lang="en-US" sz="1100" dirty="0" err="1">
                          <a:effectLst/>
                        </a:rPr>
                        <a:t>thần</a:t>
                      </a:r>
                      <a:r>
                        <a:rPr lang="en-US" sz="1100" dirty="0">
                          <a:effectLst/>
                        </a:rPr>
                        <a:t>/ Emotional health</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lgn="ctr">
                        <a:spcBef>
                          <a:spcPts val="600"/>
                        </a:spcBef>
                      </a:pPr>
                      <a:r>
                        <a:rPr lang="en-US" sz="1100">
                          <a:effectLst/>
                        </a:rPr>
                        <a:t>10. Hoạt động xã hội/ Social Behavior</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1580616788"/>
                  </a:ext>
                </a:extLst>
              </a:tr>
              <a:tr h="517790">
                <a:tc>
                  <a:txBody>
                    <a:bodyPr/>
                    <a:lstStyle/>
                    <a:p>
                      <a:pPr>
                        <a:spcBef>
                          <a:spcPts val="600"/>
                        </a:spcBef>
                      </a:pPr>
                      <a:r>
                        <a:rPr lang="en-US" sz="1100" dirty="0" err="1">
                          <a:effectLst/>
                        </a:rPr>
                        <a:t>Trẻ</a:t>
                      </a:r>
                      <a:r>
                        <a:rPr lang="en-US" sz="1100" dirty="0">
                          <a:effectLst/>
                        </a:rPr>
                        <a:t> </a:t>
                      </a:r>
                      <a:r>
                        <a:rPr lang="en-US" sz="1100" dirty="0" err="1">
                          <a:effectLst/>
                        </a:rPr>
                        <a:t>vui</a:t>
                      </a:r>
                      <a:r>
                        <a:rPr lang="en-US" sz="1100" dirty="0">
                          <a:effectLst/>
                        </a:rPr>
                        <a:t> </a:t>
                      </a:r>
                      <a:r>
                        <a:rPr lang="en-US" sz="1100" dirty="0" err="1">
                          <a:effectLst/>
                        </a:rPr>
                        <a:t>vẻ</a:t>
                      </a:r>
                      <a:r>
                        <a:rPr lang="en-US" sz="1100" dirty="0">
                          <a:effectLst/>
                        </a:rPr>
                        <a:t> </a:t>
                      </a:r>
                      <a:r>
                        <a:rPr lang="en-US" sz="1100" dirty="0" err="1">
                          <a:effectLst/>
                        </a:rPr>
                        <a:t>và</a:t>
                      </a:r>
                      <a:r>
                        <a:rPr lang="en-US" sz="1100" dirty="0">
                          <a:effectLst/>
                        </a:rPr>
                        <a:t> </a:t>
                      </a:r>
                      <a:r>
                        <a:rPr lang="en-US" sz="1100" dirty="0" err="1">
                          <a:effectLst/>
                        </a:rPr>
                        <a:t>bằng</a:t>
                      </a:r>
                      <a:r>
                        <a:rPr lang="en-US" sz="1100" dirty="0">
                          <a:effectLst/>
                        </a:rPr>
                        <a:t> </a:t>
                      </a:r>
                      <a:r>
                        <a:rPr lang="en-US" sz="1100" dirty="0" err="1">
                          <a:effectLst/>
                        </a:rPr>
                        <a:t>lòng</a:t>
                      </a:r>
                      <a:r>
                        <a:rPr lang="en-US" sz="1100" dirty="0">
                          <a:effectLst/>
                        </a:rPr>
                        <a:t>, </a:t>
                      </a:r>
                      <a:r>
                        <a:rPr lang="en-US" sz="1100" dirty="0" err="1">
                          <a:effectLst/>
                        </a:rPr>
                        <a:t>có</a:t>
                      </a:r>
                      <a:r>
                        <a:rPr lang="en-US" sz="1100" dirty="0">
                          <a:effectLst/>
                        </a:rPr>
                        <a:t> </a:t>
                      </a:r>
                      <a:r>
                        <a:rPr lang="en-US" sz="1100" dirty="0" err="1">
                          <a:effectLst/>
                        </a:rPr>
                        <a:t>tâm</a:t>
                      </a:r>
                      <a:r>
                        <a:rPr lang="en-US" sz="1100" dirty="0">
                          <a:effectLst/>
                        </a:rPr>
                        <a:t> </a:t>
                      </a:r>
                      <a:r>
                        <a:rPr lang="en-US" sz="1100" dirty="0" err="1">
                          <a:effectLst/>
                        </a:rPr>
                        <a:t>trạng</a:t>
                      </a:r>
                      <a:r>
                        <a:rPr lang="en-US" sz="1100" dirty="0">
                          <a:effectLst/>
                        </a:rPr>
                        <a:t> </a:t>
                      </a:r>
                      <a:r>
                        <a:rPr lang="en-US" sz="1100" dirty="0" err="1">
                          <a:effectLst/>
                        </a:rPr>
                        <a:t>tích</a:t>
                      </a:r>
                      <a:r>
                        <a:rPr lang="en-US" sz="1100" dirty="0">
                          <a:effectLst/>
                        </a:rPr>
                        <a:t> </a:t>
                      </a:r>
                      <a:r>
                        <a:rPr lang="en-US" sz="1100" dirty="0" err="1">
                          <a:effectLst/>
                        </a:rPr>
                        <a:t>cực</a:t>
                      </a:r>
                      <a:r>
                        <a:rPr lang="en-US" sz="1100" dirty="0">
                          <a:effectLst/>
                        </a:rPr>
                        <a:t> </a:t>
                      </a:r>
                      <a:r>
                        <a:rPr lang="en-US" sz="1100" dirty="0" err="1">
                          <a:effectLst/>
                        </a:rPr>
                        <a:t>và</a:t>
                      </a:r>
                      <a:r>
                        <a:rPr lang="en-US" sz="1100" dirty="0">
                          <a:effectLst/>
                        </a:rPr>
                        <a:t> </a:t>
                      </a:r>
                      <a:r>
                        <a:rPr lang="en-US" sz="1100" dirty="0" err="1">
                          <a:effectLst/>
                        </a:rPr>
                        <a:t>cái</a:t>
                      </a:r>
                      <a:r>
                        <a:rPr lang="en-US" sz="1100" dirty="0">
                          <a:effectLst/>
                        </a:rPr>
                        <a:t> </a:t>
                      </a:r>
                      <a:r>
                        <a:rPr lang="en-US" sz="1100" dirty="0" err="1">
                          <a:effectLst/>
                        </a:rPr>
                        <a:t>nhìn</a:t>
                      </a:r>
                      <a:r>
                        <a:rPr lang="en-US" sz="1100" dirty="0">
                          <a:effectLst/>
                        </a:rPr>
                        <a:t> </a:t>
                      </a:r>
                      <a:r>
                        <a:rPr lang="en-US" sz="1100" dirty="0" err="1">
                          <a:effectLst/>
                        </a:rPr>
                        <a:t>lạc</a:t>
                      </a:r>
                      <a:r>
                        <a:rPr lang="en-US" sz="1100" dirty="0">
                          <a:effectLst/>
                        </a:rPr>
                        <a:t> </a:t>
                      </a:r>
                      <a:r>
                        <a:rPr lang="en-US" sz="1100" dirty="0" err="1">
                          <a:effectLst/>
                        </a:rPr>
                        <a:t>quan</a:t>
                      </a:r>
                      <a:r>
                        <a:rPr lang="en-US" sz="1100" dirty="0">
                          <a:effectLst/>
                        </a:rPr>
                        <a:t>./ Child is happy and content with a generally positive mood and hopeful outlook</a:t>
                      </a:r>
                      <a:endParaRPr lang="en-VN" sz="1100" dirty="0">
                        <a:effectLst/>
                        <a:latin typeface="Times New Roman" panose="02020603050405020304" pitchFamily="18" charset="0"/>
                        <a:ea typeface="Times New Roman" panose="02020603050405020304" pitchFamily="18" charset="0"/>
                      </a:endParaRPr>
                    </a:p>
                  </a:txBody>
                  <a:tcPr marL="58179" marR="58179" marT="0" marB="0">
                    <a:solidFill>
                      <a:srgbClr val="92D050"/>
                    </a:solidFill>
                  </a:tcPr>
                </a:tc>
                <a:tc>
                  <a:txBody>
                    <a:bodyPr/>
                    <a:lstStyle/>
                    <a:p>
                      <a:pPr>
                        <a:spcBef>
                          <a:spcPts val="600"/>
                        </a:spcBef>
                      </a:pPr>
                      <a:r>
                        <a:rPr lang="en-US" sz="1100" dirty="0" err="1">
                          <a:effectLst/>
                        </a:rPr>
                        <a:t>Trẻ</a:t>
                      </a:r>
                      <a:r>
                        <a:rPr lang="en-US" sz="1100" dirty="0">
                          <a:effectLst/>
                        </a:rPr>
                        <a:t> </a:t>
                      </a:r>
                      <a:r>
                        <a:rPr lang="en-US" sz="1100" dirty="0" err="1">
                          <a:effectLst/>
                        </a:rPr>
                        <a:t>hợp</a:t>
                      </a:r>
                      <a:r>
                        <a:rPr lang="en-US" sz="1100" dirty="0">
                          <a:effectLst/>
                        </a:rPr>
                        <a:t> </a:t>
                      </a:r>
                      <a:r>
                        <a:rPr lang="en-US" sz="1100" dirty="0" err="1">
                          <a:effectLst/>
                        </a:rPr>
                        <a:t>tác</a:t>
                      </a:r>
                      <a:r>
                        <a:rPr lang="en-US" sz="1100" dirty="0">
                          <a:effectLst/>
                        </a:rPr>
                        <a:t> </a:t>
                      </a:r>
                      <a:r>
                        <a:rPr lang="en-US" sz="1100" dirty="0" err="1">
                          <a:effectLst/>
                        </a:rPr>
                        <a:t>và</a:t>
                      </a:r>
                      <a:r>
                        <a:rPr lang="en-US" sz="1100" dirty="0">
                          <a:effectLst/>
                        </a:rPr>
                        <a:t> </a:t>
                      </a:r>
                      <a:r>
                        <a:rPr lang="en-US" sz="1100" dirty="0" err="1">
                          <a:effectLst/>
                        </a:rPr>
                        <a:t>thích</a:t>
                      </a:r>
                      <a:r>
                        <a:rPr lang="en-US" sz="1100" dirty="0">
                          <a:effectLst/>
                        </a:rPr>
                        <a:t> </a:t>
                      </a:r>
                      <a:r>
                        <a:rPr lang="en-US" sz="1100" dirty="0" err="1">
                          <a:effectLst/>
                        </a:rPr>
                        <a:t>tham</a:t>
                      </a:r>
                      <a:r>
                        <a:rPr lang="en-US" sz="1100" dirty="0">
                          <a:effectLst/>
                        </a:rPr>
                        <a:t> </a:t>
                      </a:r>
                      <a:r>
                        <a:rPr lang="en-US" sz="1100" dirty="0" err="1">
                          <a:effectLst/>
                        </a:rPr>
                        <a:t>gia</a:t>
                      </a:r>
                      <a:r>
                        <a:rPr lang="en-US" sz="1100" dirty="0">
                          <a:effectLst/>
                        </a:rPr>
                        <a:t> </a:t>
                      </a:r>
                      <a:r>
                        <a:rPr lang="en-US" sz="1100" dirty="0" err="1">
                          <a:effectLst/>
                        </a:rPr>
                        <a:t>vào</a:t>
                      </a:r>
                      <a:r>
                        <a:rPr lang="en-US" sz="1100" dirty="0">
                          <a:effectLst/>
                        </a:rPr>
                        <a:t> </a:t>
                      </a:r>
                      <a:r>
                        <a:rPr lang="en-US" sz="1100" dirty="0" err="1">
                          <a:effectLst/>
                        </a:rPr>
                        <a:t>các</a:t>
                      </a:r>
                      <a:r>
                        <a:rPr lang="en-US" sz="1100" dirty="0">
                          <a:effectLst/>
                        </a:rPr>
                        <a:t> </a:t>
                      </a:r>
                      <a:r>
                        <a:rPr lang="en-US" sz="1100" dirty="0" err="1">
                          <a:effectLst/>
                        </a:rPr>
                        <a:t>hoạt</a:t>
                      </a:r>
                      <a:r>
                        <a:rPr lang="en-US" sz="1100" dirty="0">
                          <a:effectLst/>
                        </a:rPr>
                        <a:t> </a:t>
                      </a:r>
                      <a:r>
                        <a:rPr lang="en-US" sz="1100" dirty="0" err="1">
                          <a:effectLst/>
                        </a:rPr>
                        <a:t>động</a:t>
                      </a:r>
                      <a:r>
                        <a:rPr lang="en-US" sz="1100" dirty="0">
                          <a:effectLst/>
                        </a:rPr>
                        <a:t> </a:t>
                      </a:r>
                      <a:r>
                        <a:rPr lang="en-US" sz="1100" dirty="0" err="1">
                          <a:effectLst/>
                        </a:rPr>
                        <a:t>với</a:t>
                      </a:r>
                      <a:r>
                        <a:rPr lang="en-US" sz="1100" dirty="0">
                          <a:effectLst/>
                        </a:rPr>
                        <a:t> </a:t>
                      </a:r>
                      <a:r>
                        <a:rPr lang="en-US" sz="1100" dirty="0" err="1">
                          <a:effectLst/>
                        </a:rPr>
                        <a:t>người</a:t>
                      </a:r>
                      <a:r>
                        <a:rPr lang="en-US" sz="1100" dirty="0">
                          <a:effectLst/>
                        </a:rPr>
                        <a:t> </a:t>
                      </a:r>
                      <a:r>
                        <a:rPr lang="en-US" sz="1100" dirty="0" err="1">
                          <a:effectLst/>
                        </a:rPr>
                        <a:t>lớn</a:t>
                      </a:r>
                      <a:r>
                        <a:rPr lang="en-US" sz="1100" dirty="0">
                          <a:effectLst/>
                        </a:rPr>
                        <a:t> hay </a:t>
                      </a:r>
                      <a:r>
                        <a:rPr lang="en-US" sz="1100" dirty="0" err="1">
                          <a:effectLst/>
                        </a:rPr>
                        <a:t>các</a:t>
                      </a:r>
                      <a:r>
                        <a:rPr lang="en-US" sz="1100" dirty="0">
                          <a:effectLst/>
                        </a:rPr>
                        <a:t> </a:t>
                      </a:r>
                      <a:r>
                        <a:rPr lang="en-US" sz="1100" dirty="0" err="1">
                          <a:effectLst/>
                        </a:rPr>
                        <a:t>trẻ</a:t>
                      </a:r>
                      <a:r>
                        <a:rPr lang="en-US" sz="1100" dirty="0">
                          <a:effectLst/>
                        </a:rPr>
                        <a:t> </a:t>
                      </a:r>
                      <a:r>
                        <a:rPr lang="en-US" sz="1100" dirty="0" err="1">
                          <a:effectLst/>
                        </a:rPr>
                        <a:t>khác</a:t>
                      </a:r>
                      <a:r>
                        <a:rPr lang="en-US" sz="1100" dirty="0">
                          <a:effectLst/>
                        </a:rPr>
                        <a:t>./ Child is cooperative and enjoys participating in activities with adults and other children.</a:t>
                      </a:r>
                      <a:endParaRPr lang="en-VN" sz="1100" dirty="0">
                        <a:effectLst/>
                        <a:latin typeface="Times New Roman" panose="02020603050405020304" pitchFamily="18" charset="0"/>
                        <a:ea typeface="Times New Roman" panose="02020603050405020304" pitchFamily="18" charset="0"/>
                      </a:endParaRPr>
                    </a:p>
                  </a:txBody>
                  <a:tcPr marL="58179" marR="58179" marT="0" marB="0">
                    <a:solidFill>
                      <a:srgbClr val="92D050"/>
                    </a:solidFill>
                  </a:tcPr>
                </a:tc>
                <a:extLst>
                  <a:ext uri="{0D108BD9-81ED-4DB2-BD59-A6C34878D82A}">
                    <a16:rowId xmlns:a16="http://schemas.microsoft.com/office/drawing/2014/main" val="1047714171"/>
                  </a:ext>
                </a:extLst>
              </a:tr>
              <a:tr h="690387">
                <a:tc>
                  <a:txBody>
                    <a:bodyPr/>
                    <a:lstStyle/>
                    <a:p>
                      <a:pPr>
                        <a:spcBef>
                          <a:spcPts val="600"/>
                        </a:spcBef>
                      </a:pPr>
                      <a:r>
                        <a:rPr lang="en-US" sz="1100" dirty="0" err="1">
                          <a:effectLst/>
                        </a:rPr>
                        <a:t>Trẻ</a:t>
                      </a:r>
                      <a:r>
                        <a:rPr lang="en-US" sz="1100" dirty="0">
                          <a:effectLst/>
                        </a:rPr>
                        <a:t> </a:t>
                      </a:r>
                      <a:r>
                        <a:rPr lang="en-US" sz="1100" dirty="0" err="1">
                          <a:effectLst/>
                        </a:rPr>
                        <a:t>tỏ</a:t>
                      </a:r>
                      <a:r>
                        <a:rPr lang="en-US" sz="1100" dirty="0">
                          <a:effectLst/>
                        </a:rPr>
                        <a:t> </a:t>
                      </a:r>
                      <a:r>
                        <a:rPr lang="en-US" sz="1100" dirty="0" err="1">
                          <a:effectLst/>
                        </a:rPr>
                        <a:t>ra</a:t>
                      </a:r>
                      <a:r>
                        <a:rPr lang="en-US" sz="1100" dirty="0">
                          <a:effectLst/>
                        </a:rPr>
                        <a:t> </a:t>
                      </a:r>
                      <a:r>
                        <a:rPr lang="en-US" sz="1100" dirty="0" err="1">
                          <a:effectLst/>
                        </a:rPr>
                        <a:t>vui</a:t>
                      </a:r>
                      <a:r>
                        <a:rPr lang="en-US" sz="1100" dirty="0">
                          <a:effectLst/>
                        </a:rPr>
                        <a:t> </a:t>
                      </a:r>
                      <a:r>
                        <a:rPr lang="en-US" sz="1100" dirty="0" err="1">
                          <a:effectLst/>
                        </a:rPr>
                        <a:t>vẻ</a:t>
                      </a:r>
                      <a:r>
                        <a:rPr lang="en-US" sz="1100" dirty="0">
                          <a:effectLst/>
                        </a:rPr>
                        <a:t>, </a:t>
                      </a:r>
                      <a:r>
                        <a:rPr lang="en-US" sz="1100" dirty="0" err="1">
                          <a:effectLst/>
                        </a:rPr>
                        <a:t>lạc</a:t>
                      </a:r>
                      <a:r>
                        <a:rPr lang="en-US" sz="1100" dirty="0">
                          <a:effectLst/>
                        </a:rPr>
                        <a:t> </a:t>
                      </a:r>
                      <a:r>
                        <a:rPr lang="en-US" sz="1100" dirty="0" err="1">
                          <a:effectLst/>
                        </a:rPr>
                        <a:t>quan</a:t>
                      </a:r>
                      <a:r>
                        <a:rPr lang="en-US" sz="1100" dirty="0">
                          <a:effectLst/>
                        </a:rPr>
                        <a:t> </a:t>
                      </a:r>
                      <a:r>
                        <a:rPr lang="en-US" sz="1100" dirty="0" err="1">
                          <a:effectLst/>
                        </a:rPr>
                        <a:t>và</a:t>
                      </a:r>
                      <a:r>
                        <a:rPr lang="en-US" sz="1100" dirty="0">
                          <a:effectLst/>
                        </a:rPr>
                        <a:t> </a:t>
                      </a:r>
                      <a:r>
                        <a:rPr lang="en-US" sz="1100" dirty="0" err="1">
                          <a:effectLst/>
                        </a:rPr>
                        <a:t>hài</a:t>
                      </a:r>
                      <a:r>
                        <a:rPr lang="en-US" sz="1100" dirty="0">
                          <a:effectLst/>
                        </a:rPr>
                        <a:t> </a:t>
                      </a:r>
                      <a:r>
                        <a:rPr lang="en-US" sz="1100" dirty="0" err="1">
                          <a:effectLst/>
                        </a:rPr>
                        <a:t>lòng</a:t>
                      </a:r>
                      <a:r>
                        <a:rPr lang="en-US" sz="1100" dirty="0">
                          <a:effectLst/>
                        </a:rPr>
                        <a:t>./ Child seems happy, hopeful, and content.</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thích chơi với </a:t>
                      </a:r>
                      <a:r>
                        <a:rPr lang="vi-VN" sz="1100">
                          <a:effectLst/>
                        </a:rPr>
                        <a:t>các </a:t>
                      </a:r>
                      <a:r>
                        <a:rPr lang="en-US" sz="1100">
                          <a:effectLst/>
                        </a:rPr>
                        <a:t>bạn cùng lứa và tham gia vào các hoạt động nhóm hoặc hoạt động gia đình. Trẻ nhỏ thích chơi với người lớn./ Child likes to play with peers and participates in group or family activities.</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3155898677"/>
                  </a:ext>
                </a:extLst>
              </a:tr>
              <a:tr h="690387">
                <a:tc>
                  <a:txBody>
                    <a:bodyPr/>
                    <a:lstStyle/>
                    <a:p>
                      <a:pPr>
                        <a:spcBef>
                          <a:spcPts val="600"/>
                        </a:spcBef>
                      </a:pPr>
                      <a:r>
                        <a:rPr lang="en-US" sz="1100" dirty="0" err="1">
                          <a:effectLst/>
                        </a:rPr>
                        <a:t>Trẻ</a:t>
                      </a:r>
                      <a:r>
                        <a:rPr lang="en-US" sz="1100" dirty="0">
                          <a:effectLst/>
                        </a:rPr>
                        <a:t> </a:t>
                      </a:r>
                      <a:r>
                        <a:rPr lang="en-US" sz="1100" dirty="0" err="1">
                          <a:effectLst/>
                        </a:rPr>
                        <a:t>có</a:t>
                      </a:r>
                      <a:r>
                        <a:rPr lang="en-US" sz="1100" dirty="0">
                          <a:effectLst/>
                        </a:rPr>
                        <a:t> </a:t>
                      </a:r>
                      <a:r>
                        <a:rPr lang="en-US" sz="1100" dirty="0" err="1">
                          <a:effectLst/>
                        </a:rPr>
                        <a:t>lúc</a:t>
                      </a:r>
                      <a:r>
                        <a:rPr lang="en-US" sz="1100" dirty="0">
                          <a:effectLst/>
                        </a:rPr>
                        <a:t> </a:t>
                      </a:r>
                      <a:r>
                        <a:rPr lang="en-US" sz="1100" dirty="0" err="1">
                          <a:effectLst/>
                        </a:rPr>
                        <a:t>vui</a:t>
                      </a:r>
                      <a:r>
                        <a:rPr lang="en-US" sz="1100" dirty="0">
                          <a:effectLst/>
                        </a:rPr>
                        <a:t> </a:t>
                      </a:r>
                      <a:r>
                        <a:rPr lang="en-US" sz="1100" dirty="0" err="1">
                          <a:effectLst/>
                        </a:rPr>
                        <a:t>vẻ</a:t>
                      </a:r>
                      <a:r>
                        <a:rPr lang="en-US" sz="1100" dirty="0">
                          <a:effectLst/>
                        </a:rPr>
                        <a:t>, </a:t>
                      </a:r>
                      <a:r>
                        <a:rPr lang="en-US" sz="1100" dirty="0" err="1">
                          <a:effectLst/>
                        </a:rPr>
                        <a:t>có</a:t>
                      </a:r>
                      <a:r>
                        <a:rPr lang="en-US" sz="1100" dirty="0">
                          <a:effectLst/>
                        </a:rPr>
                        <a:t> </a:t>
                      </a:r>
                      <a:r>
                        <a:rPr lang="en-US" sz="1100" dirty="0" err="1">
                          <a:effectLst/>
                        </a:rPr>
                        <a:t>lúc</a:t>
                      </a:r>
                      <a:r>
                        <a:rPr lang="en-US" sz="1100" dirty="0">
                          <a:effectLst/>
                        </a:rPr>
                        <a:t> </a:t>
                      </a:r>
                      <a:r>
                        <a:rPr lang="en-US" sz="1100" dirty="0" err="1">
                          <a:effectLst/>
                        </a:rPr>
                        <a:t>không</a:t>
                      </a:r>
                      <a:r>
                        <a:rPr lang="en-US" sz="1100" dirty="0">
                          <a:effectLst/>
                        </a:rPr>
                        <a:t>. </a:t>
                      </a:r>
                      <a:r>
                        <a:rPr lang="en-US" sz="1100" dirty="0" err="1">
                          <a:effectLst/>
                        </a:rPr>
                        <a:t>Trẻ</a:t>
                      </a:r>
                      <a:r>
                        <a:rPr lang="en-US" sz="1100" dirty="0">
                          <a:effectLst/>
                        </a:rPr>
                        <a:t> </a:t>
                      </a:r>
                      <a:r>
                        <a:rPr lang="en-US" sz="1100" dirty="0" err="1">
                          <a:effectLst/>
                        </a:rPr>
                        <a:t>nhỏ</a:t>
                      </a:r>
                      <a:r>
                        <a:rPr lang="en-US" sz="1100" dirty="0">
                          <a:effectLst/>
                        </a:rPr>
                        <a:t> </a:t>
                      </a:r>
                      <a:r>
                        <a:rPr lang="en-US" sz="1100" dirty="0" err="1">
                          <a:effectLst/>
                        </a:rPr>
                        <a:t>có</a:t>
                      </a:r>
                      <a:r>
                        <a:rPr lang="en-US" sz="1100" dirty="0">
                          <a:effectLst/>
                        </a:rPr>
                        <a:t> </a:t>
                      </a:r>
                      <a:r>
                        <a:rPr lang="en-US" sz="1100" dirty="0" err="1">
                          <a:effectLst/>
                        </a:rPr>
                        <a:t>thể</a:t>
                      </a:r>
                      <a:r>
                        <a:rPr lang="en-US" sz="1100" dirty="0">
                          <a:effectLst/>
                        </a:rPr>
                        <a:t> </a:t>
                      </a:r>
                      <a:r>
                        <a:rPr lang="en-US" sz="1100" dirty="0" err="1">
                          <a:effectLst/>
                        </a:rPr>
                        <a:t>quấy</a:t>
                      </a:r>
                      <a:r>
                        <a:rPr lang="en-US" sz="1100" dirty="0">
                          <a:effectLst/>
                        </a:rPr>
                        <a:t> </a:t>
                      </a:r>
                      <a:r>
                        <a:rPr lang="en-US" sz="1100" dirty="0" err="1">
                          <a:effectLst/>
                        </a:rPr>
                        <a:t>khóc</a:t>
                      </a:r>
                      <a:r>
                        <a:rPr lang="en-US" sz="1100" dirty="0">
                          <a:effectLst/>
                        </a:rPr>
                        <a:t>, </a:t>
                      </a:r>
                      <a:r>
                        <a:rPr lang="en-US" sz="1100" dirty="0" err="1">
                          <a:effectLst/>
                        </a:rPr>
                        <a:t>cáu</a:t>
                      </a:r>
                      <a:r>
                        <a:rPr lang="en-US" sz="1100" dirty="0">
                          <a:effectLst/>
                        </a:rPr>
                        <a:t> </a:t>
                      </a:r>
                      <a:r>
                        <a:rPr lang="en-US" sz="1100" dirty="0" err="1">
                          <a:effectLst/>
                        </a:rPr>
                        <a:t>kỉnh</a:t>
                      </a:r>
                      <a:r>
                        <a:rPr lang="en-US" sz="1100" dirty="0">
                          <a:effectLst/>
                        </a:rPr>
                        <a:t> hay </a:t>
                      </a:r>
                      <a:r>
                        <a:rPr lang="en-US" sz="1100" dirty="0" err="1">
                          <a:effectLst/>
                        </a:rPr>
                        <a:t>đôi</a:t>
                      </a:r>
                      <a:r>
                        <a:rPr lang="en-US" sz="1100" dirty="0">
                          <a:effectLst/>
                        </a:rPr>
                        <a:t> </a:t>
                      </a:r>
                      <a:r>
                        <a:rPr lang="en-US" sz="1100" dirty="0" err="1">
                          <a:effectLst/>
                        </a:rPr>
                        <a:t>khi</a:t>
                      </a:r>
                      <a:r>
                        <a:rPr lang="en-US" sz="1100" dirty="0">
                          <a:effectLst/>
                        </a:rPr>
                        <a:t> </a:t>
                      </a:r>
                      <a:r>
                        <a:rPr lang="en-US" sz="1100" dirty="0" err="1">
                          <a:effectLst/>
                        </a:rPr>
                        <a:t>ngủ</a:t>
                      </a:r>
                      <a:r>
                        <a:rPr lang="en-US" sz="1100" dirty="0">
                          <a:effectLst/>
                        </a:rPr>
                        <a:t> </a:t>
                      </a:r>
                      <a:r>
                        <a:rPr lang="en-US" sz="1100" dirty="0" err="1">
                          <a:effectLst/>
                        </a:rPr>
                        <a:t>không</a:t>
                      </a:r>
                      <a:r>
                        <a:rPr lang="en-US" sz="1100" dirty="0">
                          <a:effectLst/>
                        </a:rPr>
                        <a:t> </a:t>
                      </a:r>
                      <a:r>
                        <a:rPr lang="en-US" sz="1100" dirty="0" err="1">
                          <a:effectLst/>
                        </a:rPr>
                        <a:t>yên</a:t>
                      </a:r>
                      <a:r>
                        <a:rPr lang="en-US" sz="1100" dirty="0">
                          <a:effectLst/>
                        </a:rPr>
                        <a:t>./ Child is mostly happy but occasionally he/she is anxious, or withdrawn. Infant may be crying, irritable, or not sleeping well some of the time</a:t>
                      </a:r>
                      <a:endParaRPr lang="en-VN" sz="1100" dirty="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có hơi khó khăn trong việc hoà hợp với người khác và đôi khi cãi cọ hay đánh nhau./ Child has minor problems getting along with others and argues or gets into fi ghts sometimes</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2179574178"/>
                  </a:ext>
                </a:extLst>
              </a:tr>
              <a:tr h="862984">
                <a:tc>
                  <a:txBody>
                    <a:bodyPr/>
                    <a:lstStyle/>
                    <a:p>
                      <a:pPr>
                        <a:spcBef>
                          <a:spcPts val="600"/>
                        </a:spcBef>
                      </a:pPr>
                      <a:r>
                        <a:rPr lang="en-US" sz="1100">
                          <a:effectLst/>
                        </a:rPr>
                        <a:t>Trẻ thường không vui vẻ hoặc buồn bã. Trẻ nhỏ có thể hay quấy khóc hoặc không linh hoạt./ Child is often withdrawn, irritable, anxious, unhappy, or sad. Infant may cry frequently or often be inactive</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a:effectLst/>
                        </a:rPr>
                        <a:t>Trẻ xa cách hơn đối với người lớn hoặc trẻ khác cùng tuổi và thường không giao tiếp tốt với bạn cùng lứa, người giám hộ hay những người khác ở nhà hay ở trường./ Child is disobedient to adults and frequently does not interact well with peers, guardian, or others at home or school.</a:t>
                      </a:r>
                      <a:endParaRPr lang="en-VN" sz="110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1047877937"/>
                  </a:ext>
                </a:extLst>
              </a:tr>
              <a:tr h="862984">
                <a:tc>
                  <a:txBody>
                    <a:bodyPr/>
                    <a:lstStyle/>
                    <a:p>
                      <a:pPr>
                        <a:spcBef>
                          <a:spcPts val="600"/>
                        </a:spcBef>
                      </a:pPr>
                      <a:r>
                        <a:rPr lang="en-US" sz="1100">
                          <a:effectLst/>
                        </a:rPr>
                        <a:t>Trẻ tỏ ra mất hy vọng, buồn chán, lãnh đạm hoặc muốn ở một mình. Trẻ nhỏ có thể bỏ ăn, ngủ kém hoặc khóc quấy nhiều./ Child seems hopeless, sad, withdrawn, wishes could die, or wants to be left alone. Infant may refuse to eat, sleep poorly, or cry a lot.</a:t>
                      </a:r>
                      <a:endParaRPr lang="en-VN" sz="1100">
                        <a:effectLst/>
                        <a:latin typeface="Times New Roman" panose="02020603050405020304" pitchFamily="18" charset="0"/>
                        <a:ea typeface="Times New Roman" panose="02020603050405020304" pitchFamily="18" charset="0"/>
                      </a:endParaRPr>
                    </a:p>
                  </a:txBody>
                  <a:tcPr marL="58179" marR="58179" marT="0" marB="0"/>
                </a:tc>
                <a:tc>
                  <a:txBody>
                    <a:bodyPr/>
                    <a:lstStyle/>
                    <a:p>
                      <a:pPr>
                        <a:spcBef>
                          <a:spcPts val="600"/>
                        </a:spcBef>
                      </a:pPr>
                      <a:r>
                        <a:rPr lang="en-US" sz="1100" dirty="0" err="1">
                          <a:effectLst/>
                        </a:rPr>
                        <a:t>Trẻ</a:t>
                      </a:r>
                      <a:r>
                        <a:rPr lang="en-US" sz="1100" dirty="0">
                          <a:effectLst/>
                        </a:rPr>
                        <a:t> </a:t>
                      </a:r>
                      <a:r>
                        <a:rPr lang="en-US" sz="1100" dirty="0" err="1">
                          <a:effectLst/>
                        </a:rPr>
                        <a:t>gặp</a:t>
                      </a:r>
                      <a:r>
                        <a:rPr lang="en-US" sz="1100" dirty="0">
                          <a:effectLst/>
                        </a:rPr>
                        <a:t> </a:t>
                      </a:r>
                      <a:r>
                        <a:rPr lang="en-US" sz="1100" dirty="0" err="1">
                          <a:effectLst/>
                        </a:rPr>
                        <a:t>có</a:t>
                      </a:r>
                      <a:r>
                        <a:rPr lang="en-US" sz="1100" dirty="0">
                          <a:effectLst/>
                        </a:rPr>
                        <a:t> </a:t>
                      </a:r>
                      <a:r>
                        <a:rPr lang="en-US" sz="1100" dirty="0" err="1">
                          <a:effectLst/>
                        </a:rPr>
                        <a:t>vấn</a:t>
                      </a:r>
                      <a:r>
                        <a:rPr lang="en-US" sz="1100" dirty="0">
                          <a:effectLst/>
                        </a:rPr>
                        <a:t> </a:t>
                      </a:r>
                      <a:r>
                        <a:rPr lang="en-US" sz="1100" dirty="0" err="1">
                          <a:effectLst/>
                        </a:rPr>
                        <a:t>đề</a:t>
                      </a:r>
                      <a:r>
                        <a:rPr lang="en-US" sz="1100" dirty="0">
                          <a:effectLst/>
                        </a:rPr>
                        <a:t> </a:t>
                      </a:r>
                      <a:r>
                        <a:rPr lang="en-US" sz="1100" dirty="0" err="1">
                          <a:effectLst/>
                        </a:rPr>
                        <a:t>về</a:t>
                      </a:r>
                      <a:r>
                        <a:rPr lang="en-US" sz="1100" dirty="0">
                          <a:effectLst/>
                        </a:rPr>
                        <a:t> </a:t>
                      </a:r>
                      <a:r>
                        <a:rPr lang="en-US" sz="1100" dirty="0" err="1">
                          <a:effectLst/>
                        </a:rPr>
                        <a:t>mặt</a:t>
                      </a:r>
                      <a:r>
                        <a:rPr lang="en-US" sz="1100" dirty="0">
                          <a:effectLst/>
                        </a:rPr>
                        <a:t> </a:t>
                      </a:r>
                      <a:r>
                        <a:rPr lang="en-US" sz="1100" dirty="0" err="1">
                          <a:effectLst/>
                        </a:rPr>
                        <a:t>hành</a:t>
                      </a:r>
                      <a:r>
                        <a:rPr lang="en-US" sz="1100" dirty="0">
                          <a:effectLst/>
                        </a:rPr>
                        <a:t> vi, bao </a:t>
                      </a:r>
                      <a:r>
                        <a:rPr lang="en-US" sz="1100" dirty="0" err="1">
                          <a:effectLst/>
                        </a:rPr>
                        <a:t>gồm</a:t>
                      </a:r>
                      <a:r>
                        <a:rPr lang="en-US" sz="1100" dirty="0">
                          <a:effectLst/>
                        </a:rPr>
                        <a:t> </a:t>
                      </a:r>
                      <a:r>
                        <a:rPr lang="en-US" sz="1100" dirty="0" err="1">
                          <a:effectLst/>
                        </a:rPr>
                        <a:t>ăn</a:t>
                      </a:r>
                      <a:r>
                        <a:rPr lang="en-US" sz="1100" dirty="0">
                          <a:effectLst/>
                        </a:rPr>
                        <a:t> </a:t>
                      </a:r>
                      <a:r>
                        <a:rPr lang="en-US" sz="1100" dirty="0" err="1">
                          <a:effectLst/>
                        </a:rPr>
                        <a:t>cắp</a:t>
                      </a:r>
                      <a:r>
                        <a:rPr lang="en-US" sz="1100" dirty="0">
                          <a:effectLst/>
                        </a:rPr>
                        <a:t>, </a:t>
                      </a:r>
                      <a:r>
                        <a:rPr lang="en-US" sz="1100" dirty="0" err="1">
                          <a:effectLst/>
                        </a:rPr>
                        <a:t>quan</a:t>
                      </a:r>
                      <a:r>
                        <a:rPr lang="en-US" sz="1100" dirty="0">
                          <a:effectLst/>
                        </a:rPr>
                        <a:t> </a:t>
                      </a:r>
                      <a:r>
                        <a:rPr lang="en-US" sz="1100" dirty="0" err="1">
                          <a:effectLst/>
                        </a:rPr>
                        <a:t>hệ</a:t>
                      </a:r>
                      <a:r>
                        <a:rPr lang="en-US" sz="1100" dirty="0">
                          <a:effectLst/>
                        </a:rPr>
                        <a:t> </a:t>
                      </a:r>
                      <a:r>
                        <a:rPr lang="en-US" sz="1100" dirty="0" err="1">
                          <a:effectLst/>
                        </a:rPr>
                        <a:t>tình</a:t>
                      </a:r>
                      <a:r>
                        <a:rPr lang="en-US" sz="1100" dirty="0">
                          <a:effectLst/>
                        </a:rPr>
                        <a:t> </a:t>
                      </a:r>
                      <a:r>
                        <a:rPr lang="en-US" sz="1100" dirty="0" err="1">
                          <a:effectLst/>
                        </a:rPr>
                        <a:t>dục</a:t>
                      </a:r>
                      <a:r>
                        <a:rPr lang="en-US" sz="1100" dirty="0">
                          <a:effectLst/>
                        </a:rPr>
                        <a:t> </a:t>
                      </a:r>
                      <a:r>
                        <a:rPr lang="en-US" sz="1100" dirty="0" err="1">
                          <a:effectLst/>
                        </a:rPr>
                        <a:t>sớm</a:t>
                      </a:r>
                      <a:r>
                        <a:rPr lang="en-US" sz="1100" dirty="0">
                          <a:effectLst/>
                        </a:rPr>
                        <a:t>, </a:t>
                      </a:r>
                      <a:r>
                        <a:rPr lang="en-US" sz="1100" dirty="0" err="1">
                          <a:effectLst/>
                        </a:rPr>
                        <a:t>và</a:t>
                      </a:r>
                      <a:r>
                        <a:rPr lang="en-US" sz="1100" dirty="0">
                          <a:effectLst/>
                        </a:rPr>
                        <a:t>/</a:t>
                      </a:r>
                      <a:r>
                        <a:rPr lang="en-US" sz="1100" dirty="0" err="1">
                          <a:effectLst/>
                        </a:rPr>
                        <a:t>hoặc</a:t>
                      </a:r>
                      <a:r>
                        <a:rPr lang="en-US" sz="1100" dirty="0">
                          <a:effectLst/>
                        </a:rPr>
                        <a:t> </a:t>
                      </a:r>
                      <a:r>
                        <a:rPr lang="en-US" sz="1100" dirty="0" err="1">
                          <a:effectLst/>
                        </a:rPr>
                        <a:t>các</a:t>
                      </a:r>
                      <a:r>
                        <a:rPr lang="en-US" sz="1100" dirty="0">
                          <a:effectLst/>
                        </a:rPr>
                        <a:t> </a:t>
                      </a:r>
                      <a:r>
                        <a:rPr lang="en-US" sz="1100" dirty="0" err="1">
                          <a:effectLst/>
                        </a:rPr>
                        <a:t>hành</a:t>
                      </a:r>
                      <a:r>
                        <a:rPr lang="en-US" sz="1100" dirty="0">
                          <a:effectLst/>
                        </a:rPr>
                        <a:t> vi </a:t>
                      </a:r>
                      <a:r>
                        <a:rPr lang="en-US" sz="1100" dirty="0" err="1">
                          <a:effectLst/>
                        </a:rPr>
                        <a:t>nguy</a:t>
                      </a:r>
                      <a:r>
                        <a:rPr lang="en-US" sz="1100" dirty="0">
                          <a:effectLst/>
                        </a:rPr>
                        <a:t> </a:t>
                      </a:r>
                      <a:r>
                        <a:rPr lang="en-US" sz="1100" dirty="0" err="1">
                          <a:effectLst/>
                        </a:rPr>
                        <a:t>cơ</a:t>
                      </a:r>
                      <a:r>
                        <a:rPr lang="en-US" sz="1100" dirty="0">
                          <a:effectLst/>
                        </a:rPr>
                        <a:t> </a:t>
                      </a:r>
                      <a:r>
                        <a:rPr lang="en-US" sz="1100" dirty="0" err="1">
                          <a:effectLst/>
                        </a:rPr>
                        <a:t>hoặc</a:t>
                      </a:r>
                      <a:r>
                        <a:rPr lang="en-US" sz="1100" dirty="0">
                          <a:effectLst/>
                        </a:rPr>
                        <a:t> </a:t>
                      </a:r>
                      <a:r>
                        <a:rPr lang="en-US" sz="1100" dirty="0" err="1">
                          <a:effectLst/>
                        </a:rPr>
                        <a:t>hành</a:t>
                      </a:r>
                      <a:r>
                        <a:rPr lang="en-US" sz="1100" dirty="0">
                          <a:effectLst/>
                        </a:rPr>
                        <a:t> </a:t>
                      </a:r>
                      <a:r>
                        <a:rPr lang="en-US" sz="1100" dirty="0" err="1">
                          <a:effectLst/>
                        </a:rPr>
                        <a:t>động</a:t>
                      </a:r>
                      <a:r>
                        <a:rPr lang="en-US" sz="1100" dirty="0">
                          <a:effectLst/>
                        </a:rPr>
                        <a:t> </a:t>
                      </a:r>
                      <a:r>
                        <a:rPr lang="en-US" sz="1100" dirty="0" err="1">
                          <a:effectLst/>
                        </a:rPr>
                        <a:t>phá</a:t>
                      </a:r>
                      <a:r>
                        <a:rPr lang="en-US" sz="1100" dirty="0">
                          <a:effectLst/>
                        </a:rPr>
                        <a:t> </a:t>
                      </a:r>
                      <a:r>
                        <a:rPr lang="en-US" sz="1100" dirty="0" err="1">
                          <a:effectLst/>
                        </a:rPr>
                        <a:t>phách</a:t>
                      </a:r>
                      <a:r>
                        <a:rPr lang="en-US" sz="1100" dirty="0">
                          <a:effectLst/>
                        </a:rPr>
                        <a:t> </a:t>
                      </a:r>
                      <a:r>
                        <a:rPr lang="en-US" sz="1100" dirty="0" err="1">
                          <a:effectLst/>
                        </a:rPr>
                        <a:t>khác</a:t>
                      </a:r>
                      <a:r>
                        <a:rPr lang="en-US" sz="1100" dirty="0">
                          <a:effectLst/>
                        </a:rPr>
                        <a:t>/ Child has behavioral problems, including stealing, early sexual activity, and/or other risky or disruptive behavior</a:t>
                      </a:r>
                      <a:endParaRPr lang="en-VN" sz="1100" dirty="0">
                        <a:effectLst/>
                        <a:latin typeface="Times New Roman" panose="02020603050405020304" pitchFamily="18" charset="0"/>
                        <a:ea typeface="Times New Roman" panose="02020603050405020304" pitchFamily="18" charset="0"/>
                      </a:endParaRPr>
                    </a:p>
                  </a:txBody>
                  <a:tcPr marL="58179" marR="58179" marT="0" marB="0"/>
                </a:tc>
                <a:extLst>
                  <a:ext uri="{0D108BD9-81ED-4DB2-BD59-A6C34878D82A}">
                    <a16:rowId xmlns:a16="http://schemas.microsoft.com/office/drawing/2014/main" val="4242308871"/>
                  </a:ext>
                </a:extLst>
              </a:tr>
            </a:tbl>
          </a:graphicData>
        </a:graphic>
      </p:graphicFrame>
    </p:spTree>
    <p:extLst>
      <p:ext uri="{BB962C8B-B14F-4D97-AF65-F5344CB8AC3E}">
        <p14:creationId xmlns:p14="http://schemas.microsoft.com/office/powerpoint/2010/main" val="2822825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2886635" y="1854500"/>
            <a:ext cx="4823012"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err="1">
                <a:solidFill>
                  <a:schemeClr val="bg1">
                    <a:lumMod val="10000"/>
                  </a:schemeClr>
                </a:solidFill>
                <a:latin typeface="Arial" panose="020B0604020202020204" pitchFamily="34" charset="0"/>
                <a:cs typeface="Arial" panose="020B0604020202020204" pitchFamily="34" charset="0"/>
              </a:rPr>
              <a:t>Kỹ</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năng</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kết</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nối</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và</a:t>
            </a:r>
            <a:r>
              <a:rPr lang="en" sz="2800" dirty="0">
                <a:solidFill>
                  <a:schemeClr val="bg1">
                    <a:lumMod val="10000"/>
                  </a:schemeClr>
                </a:solidFill>
                <a:latin typeface="Arial" panose="020B0604020202020204" pitchFamily="34" charset="0"/>
                <a:cs typeface="Arial" panose="020B0604020202020204" pitchFamily="34" charset="0"/>
              </a:rPr>
              <a:t> </a:t>
            </a:r>
            <a:br>
              <a:rPr lang="en" sz="2800" dirty="0">
                <a:solidFill>
                  <a:schemeClr val="bg1">
                    <a:lumMod val="10000"/>
                  </a:schemeClr>
                </a:solidFill>
                <a:latin typeface="Arial" panose="020B0604020202020204" pitchFamily="34" charset="0"/>
                <a:cs typeface="Arial" panose="020B0604020202020204" pitchFamily="34" charset="0"/>
              </a:rPr>
            </a:br>
            <a:r>
              <a:rPr lang="en" sz="2800" dirty="0" err="1">
                <a:solidFill>
                  <a:schemeClr val="bg1">
                    <a:lumMod val="10000"/>
                  </a:schemeClr>
                </a:solidFill>
                <a:latin typeface="Arial" panose="020B0604020202020204" pitchFamily="34" charset="0"/>
                <a:cs typeface="Arial" panose="020B0604020202020204" pitchFamily="34" charset="0"/>
              </a:rPr>
              <a:t>điều</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phối</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nguồn</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lực</a:t>
            </a:r>
            <a:endParaRPr sz="2800" dirty="0">
              <a:solidFill>
                <a:schemeClr val="bg1">
                  <a:lumMod val="10000"/>
                </a:schemeClr>
              </a:solidFill>
              <a:latin typeface="Arial" panose="020B0604020202020204" pitchFamily="34" charset="0"/>
              <a:cs typeface="Arial" panose="020B0604020202020204" pitchFamily="34" charset="0"/>
            </a:endParaRPr>
          </a:p>
        </p:txBody>
      </p:sp>
      <p:sp>
        <p:nvSpPr>
          <p:cNvPr id="330" name="Google Shape;330;p32"/>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describe the topic of the section here</a:t>
            </a:r>
            <a:endParaRPr/>
          </a:p>
        </p:txBody>
      </p:sp>
      <p:sp>
        <p:nvSpPr>
          <p:cNvPr id="331" name="Google Shape;331;p32"/>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31</a:t>
            </a:fld>
            <a:endParaRPr/>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4988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32</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p:txBody>
          <a:bodyPr/>
          <a:lstStyle/>
          <a:p>
            <a:r>
              <a:rPr lang="en-VN" dirty="0"/>
              <a:t>Khái niệm</a:t>
            </a:r>
          </a:p>
        </p:txBody>
      </p:sp>
      <p:sp>
        <p:nvSpPr>
          <p:cNvPr id="4" name="Text Placeholder 3">
            <a:extLst>
              <a:ext uri="{FF2B5EF4-FFF2-40B4-BE49-F238E27FC236}">
                <a16:creationId xmlns:a16="http://schemas.microsoft.com/office/drawing/2014/main" id="{49031695-2FCD-E0C8-039A-C7C350690DDA}"/>
              </a:ext>
            </a:extLst>
          </p:cNvPr>
          <p:cNvSpPr>
            <a:spLocks noGrp="1"/>
          </p:cNvSpPr>
          <p:nvPr>
            <p:ph type="body" idx="1"/>
          </p:nvPr>
        </p:nvSpPr>
        <p:spPr>
          <a:xfrm>
            <a:off x="298763" y="1305094"/>
            <a:ext cx="3503692" cy="3233100"/>
          </a:xfrm>
        </p:spPr>
        <p:txBody>
          <a:bodyPr/>
          <a:lstStyle/>
          <a:p>
            <a:pPr algn="just"/>
            <a:r>
              <a:rPr lang="en-VN" sz="1600" b="1" i="1" dirty="0">
                <a:solidFill>
                  <a:schemeClr val="bg1">
                    <a:lumMod val="10000"/>
                  </a:schemeClr>
                </a:solidFill>
                <a:latin typeface="Arial" panose="020B0604020202020204" pitchFamily="34" charset="0"/>
                <a:cs typeface="Arial" panose="020B0604020202020204" pitchFamily="34" charset="0"/>
              </a:rPr>
              <a:t>Nguồn lực </a:t>
            </a:r>
            <a:r>
              <a:rPr lang="en-VN" sz="1600" dirty="0">
                <a:solidFill>
                  <a:schemeClr val="bg1">
                    <a:lumMod val="10000"/>
                  </a:schemeClr>
                </a:solidFill>
                <a:latin typeface="Arial" panose="020B0604020202020204" pitchFamily="34" charset="0"/>
                <a:cs typeface="Arial" panose="020B0604020202020204" pitchFamily="34" charset="0"/>
              </a:rPr>
              <a:t>là một dạng vật chất hoặc phi vật chất có giá trị, được sử dụng để trợ giúp cho cá nhân, nhóm, cộng đồng phát huy, tăng cường được năng lực vốn có hoặc đóng góp vào sự phát triển chung của cá nhân, nhóm, cộng đồng (Phạm Tiến Nam và nhóm cộng sự, 2019)</a:t>
            </a:r>
          </a:p>
        </p:txBody>
      </p:sp>
      <p:sp>
        <p:nvSpPr>
          <p:cNvPr id="6" name="TextBox 5">
            <a:extLst>
              <a:ext uri="{FF2B5EF4-FFF2-40B4-BE49-F238E27FC236}">
                <a16:creationId xmlns:a16="http://schemas.microsoft.com/office/drawing/2014/main" id="{FF65DAD3-719D-CC1B-6E3D-2C60F3BB7C89}"/>
              </a:ext>
            </a:extLst>
          </p:cNvPr>
          <p:cNvSpPr txBox="1"/>
          <p:nvPr/>
        </p:nvSpPr>
        <p:spPr>
          <a:xfrm>
            <a:off x="4297651" y="802035"/>
            <a:ext cx="3945280" cy="3046988"/>
          </a:xfrm>
          <a:prstGeom prst="rect">
            <a:avLst/>
          </a:prstGeom>
          <a:noFill/>
        </p:spPr>
        <p:txBody>
          <a:bodyPr wrap="square">
            <a:spAutoFit/>
          </a:bodyPr>
          <a:lstStyle/>
          <a:p>
            <a:pPr algn="just"/>
            <a:r>
              <a:rPr lang="en-VN" sz="1600" b="1" i="1" dirty="0">
                <a:solidFill>
                  <a:schemeClr val="bg1">
                    <a:lumMod val="10000"/>
                  </a:schemeClr>
                </a:solidFill>
                <a:latin typeface="+mn-lt"/>
                <a:sym typeface="Mulish"/>
              </a:rPr>
              <a:t>Kỹ năng kết nối &amp; điều phối nguồn lực </a:t>
            </a:r>
            <a:r>
              <a:rPr lang="en-VN" sz="1600" dirty="0">
                <a:solidFill>
                  <a:schemeClr val="bg1">
                    <a:lumMod val="10000"/>
                  </a:schemeClr>
                </a:solidFill>
                <a:latin typeface="+mn-lt"/>
                <a:sym typeface="Mulish"/>
              </a:rPr>
              <a:t>được hiểu là việc cán bộ QLTH thực hiện khi đã có kế hoạch can thiệp hoặc mục tiêu trợ giúp cho NB.</a:t>
            </a:r>
          </a:p>
          <a:p>
            <a:endParaRPr lang="en-VN" sz="1600" dirty="0">
              <a:solidFill>
                <a:schemeClr val="bg1">
                  <a:lumMod val="10000"/>
                </a:schemeClr>
              </a:solidFill>
              <a:latin typeface="+mn-lt"/>
              <a:sym typeface="Mulish"/>
            </a:endParaRPr>
          </a:p>
          <a:p>
            <a:pPr algn="just"/>
            <a:r>
              <a:rPr lang="en-VN" sz="1600" dirty="0">
                <a:solidFill>
                  <a:schemeClr val="bg1">
                    <a:lumMod val="10000"/>
                  </a:schemeClr>
                </a:solidFill>
                <a:latin typeface="+mn-lt"/>
                <a:sym typeface="Mulish"/>
              </a:rPr>
              <a:t>Kỹ năng này được thực hiện thông qua truyền thông, vận động, kêu gọi tài trợ hoặc đóng góp của cá nhân, tổ chức xã hội có tiềm lực về tài chính, vật chất, nhân lực cùng tham gia </a:t>
            </a:r>
          </a:p>
          <a:p>
            <a:pPr algn="just"/>
            <a:r>
              <a:rPr lang="en-VN" sz="1600" dirty="0">
                <a:solidFill>
                  <a:schemeClr val="bg1">
                    <a:lumMod val="10000"/>
                  </a:schemeClr>
                </a:solidFill>
                <a:latin typeface="+mn-lt"/>
                <a:sym typeface="Mulish"/>
              </a:rPr>
              <a:t>( Phạm Tiến Nam và nhóm cộng sự, 2019)</a:t>
            </a:r>
          </a:p>
        </p:txBody>
      </p:sp>
    </p:spTree>
    <p:extLst>
      <p:ext uri="{BB962C8B-B14F-4D97-AF65-F5344CB8AC3E}">
        <p14:creationId xmlns:p14="http://schemas.microsoft.com/office/powerpoint/2010/main" val="837302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solidFill>
                  <a:schemeClr val="bg1">
                    <a:lumMod val="10000"/>
                  </a:schemeClr>
                </a:solidFill>
                <a:latin typeface="Arial" panose="020B0604020202020204" pitchFamily="34" charset="0"/>
                <a:cs typeface="Arial" panose="020B0604020202020204" pitchFamily="34" charset="0"/>
              </a:rPr>
              <a:t>33</a:t>
            </a:fld>
            <a:endParaRPr lang="en">
              <a:solidFill>
                <a:schemeClr val="bg1">
                  <a:lumMod val="10000"/>
                </a:schemeClr>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a:xfrm>
            <a:off x="720000" y="278048"/>
            <a:ext cx="7704000" cy="572700"/>
          </a:xfrm>
        </p:spPr>
        <p:txBody>
          <a:bodyPr/>
          <a:lstStyle/>
          <a:p>
            <a:r>
              <a:rPr lang="en-VN" dirty="0">
                <a:solidFill>
                  <a:schemeClr val="bg1">
                    <a:lumMod val="10000"/>
                  </a:schemeClr>
                </a:solidFill>
                <a:latin typeface="Arial" panose="020B0604020202020204" pitchFamily="34" charset="0"/>
                <a:cs typeface="Arial" panose="020B0604020202020204" pitchFamily="34" charset="0"/>
              </a:rPr>
              <a:t>Ý nghĩa và nguyên tắc thực hiện</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306126" y="1268068"/>
            <a:ext cx="1785067" cy="3233100"/>
          </a:xfrm>
          <a:solidFill>
            <a:srgbClr val="C5E7FE"/>
          </a:solidFill>
        </p:spPr>
        <p:txBody>
          <a:bodyPr/>
          <a:lstStyle/>
          <a:p>
            <a:pPr marL="177800" indent="0" algn="just">
              <a:buNone/>
            </a:pPr>
            <a:r>
              <a:rPr lang="en-VN" dirty="0">
                <a:solidFill>
                  <a:schemeClr val="bg1">
                    <a:lumMod val="10000"/>
                  </a:schemeClr>
                </a:solidFill>
                <a:latin typeface="Arial" panose="020B0604020202020204" pitchFamily="34" charset="0"/>
                <a:cs typeface="Arial" panose="020B0604020202020204" pitchFamily="34" charset="0"/>
              </a:rPr>
              <a:t>Tạo ra sự liên kết giữa các bên liên quan (cán bộ QLTH, NB và các bên liên quan) có nhận thức chung trong việc hỗ trợ giải quyết các vấn đề tâm lý xã hội dựa trên đánh giá nhu cầu của NB.</a:t>
            </a:r>
          </a:p>
        </p:txBody>
      </p:sp>
      <p:sp>
        <p:nvSpPr>
          <p:cNvPr id="7" name="TextBox 6">
            <a:extLst>
              <a:ext uri="{FF2B5EF4-FFF2-40B4-BE49-F238E27FC236}">
                <a16:creationId xmlns:a16="http://schemas.microsoft.com/office/drawing/2014/main" id="{B6C27C6B-1A15-4DE1-DD56-492B5AFC0F86}"/>
              </a:ext>
            </a:extLst>
          </p:cNvPr>
          <p:cNvSpPr txBox="1"/>
          <p:nvPr/>
        </p:nvSpPr>
        <p:spPr>
          <a:xfrm>
            <a:off x="6655239" y="2243398"/>
            <a:ext cx="2122999" cy="2246769"/>
          </a:xfrm>
          <a:prstGeom prst="rect">
            <a:avLst/>
          </a:prstGeom>
          <a:noFill/>
        </p:spPr>
        <p:txBody>
          <a:bodyPr wrap="square">
            <a:spAutoFit/>
          </a:bodyPr>
          <a:lstStyle/>
          <a:p>
            <a:pPr marL="342900" indent="-342900">
              <a:buFont typeface="Arial" panose="020B0604020202020204" pitchFamily="34" charset="0"/>
              <a:buChar char="•"/>
            </a:pPr>
            <a:r>
              <a:rPr lang="en-VN" sz="2000" dirty="0">
                <a:solidFill>
                  <a:schemeClr val="bg1">
                    <a:lumMod val="10000"/>
                  </a:schemeClr>
                </a:solidFill>
                <a:latin typeface="Arial" panose="020B0604020202020204" pitchFamily="34" charset="0"/>
                <a:cs typeface="Arial" panose="020B0604020202020204" pitchFamily="34" charset="0"/>
                <a:sym typeface="Mulish"/>
              </a:rPr>
              <a:t>Tăng cường nguồn lực </a:t>
            </a:r>
          </a:p>
          <a:p>
            <a:pPr marL="342900" indent="-342900">
              <a:buFont typeface="Arial" panose="020B0604020202020204" pitchFamily="34" charset="0"/>
              <a:buChar char="•"/>
            </a:pPr>
            <a:r>
              <a:rPr lang="en-VN" sz="2000" dirty="0">
                <a:solidFill>
                  <a:schemeClr val="bg1">
                    <a:lumMod val="10000"/>
                  </a:schemeClr>
                </a:solidFill>
                <a:latin typeface="Arial" panose="020B0604020202020204" pitchFamily="34" charset="0"/>
                <a:cs typeface="Arial" panose="020B0604020202020204" pitchFamily="34" charset="0"/>
                <a:sym typeface="Mulish"/>
              </a:rPr>
              <a:t>Tránh trùng lắp  lãng phí </a:t>
            </a:r>
          </a:p>
          <a:p>
            <a:pPr marL="342900" indent="-342900">
              <a:buFont typeface="Arial" panose="020B0604020202020204" pitchFamily="34" charset="0"/>
              <a:buChar char="•"/>
            </a:pPr>
            <a:r>
              <a:rPr lang="en-VN" sz="2000" dirty="0">
                <a:solidFill>
                  <a:schemeClr val="bg1">
                    <a:lumMod val="10000"/>
                  </a:schemeClr>
                </a:solidFill>
                <a:latin typeface="Arial" panose="020B0604020202020204" pitchFamily="34" charset="0"/>
                <a:cs typeface="Arial" panose="020B0604020202020204" pitchFamily="34" charset="0"/>
                <a:sym typeface="Mulish"/>
              </a:rPr>
              <a:t>Thiết lập mạng lưới liên kết</a:t>
            </a:r>
          </a:p>
        </p:txBody>
      </p:sp>
      <p:sp>
        <p:nvSpPr>
          <p:cNvPr id="8" name="TextBox 7">
            <a:extLst>
              <a:ext uri="{FF2B5EF4-FFF2-40B4-BE49-F238E27FC236}">
                <a16:creationId xmlns:a16="http://schemas.microsoft.com/office/drawing/2014/main" id="{7286FFA8-20EC-D25D-2FC3-FDDB3E3C5F5A}"/>
              </a:ext>
            </a:extLst>
          </p:cNvPr>
          <p:cNvSpPr txBox="1"/>
          <p:nvPr/>
        </p:nvSpPr>
        <p:spPr>
          <a:xfrm>
            <a:off x="306126" y="850748"/>
            <a:ext cx="1156915" cy="307777"/>
          </a:xfrm>
          <a:prstGeom prst="rect">
            <a:avLst/>
          </a:prstGeom>
          <a:noFill/>
        </p:spPr>
        <p:txBody>
          <a:bodyPr wrap="square">
            <a:spAutoFit/>
          </a:bodyPr>
          <a:lstStyle/>
          <a:p>
            <a:pPr marL="177800" indent="0">
              <a:buNone/>
            </a:pPr>
            <a:r>
              <a:rPr lang="en-VN" b="1" dirty="0">
                <a:solidFill>
                  <a:schemeClr val="bg1">
                    <a:lumMod val="10000"/>
                  </a:schemeClr>
                </a:solidFill>
                <a:latin typeface="Arial" panose="020B0604020202020204" pitchFamily="34" charset="0"/>
                <a:cs typeface="Arial" panose="020B0604020202020204" pitchFamily="34" charset="0"/>
              </a:rPr>
              <a:t>Ý nghĩa</a:t>
            </a:r>
          </a:p>
        </p:txBody>
      </p:sp>
      <p:sp>
        <p:nvSpPr>
          <p:cNvPr id="9" name="Text Placeholder 3">
            <a:extLst>
              <a:ext uri="{FF2B5EF4-FFF2-40B4-BE49-F238E27FC236}">
                <a16:creationId xmlns:a16="http://schemas.microsoft.com/office/drawing/2014/main" id="{285A8E9A-98BA-E268-73F8-1C7F251B8851}"/>
              </a:ext>
            </a:extLst>
          </p:cNvPr>
          <p:cNvSpPr txBox="1">
            <a:spLocks/>
          </p:cNvSpPr>
          <p:nvPr/>
        </p:nvSpPr>
        <p:spPr>
          <a:xfrm>
            <a:off x="2182198" y="1268068"/>
            <a:ext cx="1534225" cy="3233100"/>
          </a:xfrm>
          <a:prstGeom prst="rect">
            <a:avLst/>
          </a:prstGeom>
          <a:solidFill>
            <a:srgbClr val="EEE0FF"/>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lgn="just">
              <a:buNone/>
            </a:pPr>
            <a:r>
              <a:rPr lang="en-VN" dirty="0">
                <a:solidFill>
                  <a:schemeClr val="bg1">
                    <a:lumMod val="10000"/>
                  </a:schemeClr>
                </a:solidFill>
                <a:latin typeface="Arial" panose="020B0604020202020204" pitchFamily="34" charset="0"/>
                <a:cs typeface="Arial" panose="020B0604020202020204" pitchFamily="34" charset="0"/>
              </a:rPr>
              <a:t>Chứng minh khả năng của cán bộ QLTH trong việc hỗ trợ NB tiếp cận nguồn lực trong &amp; ngoài cơ sở y tế nhằm giải quyết vấn đề của họ.</a:t>
            </a:r>
          </a:p>
        </p:txBody>
      </p:sp>
      <p:sp>
        <p:nvSpPr>
          <p:cNvPr id="10" name="Text Placeholder 3">
            <a:extLst>
              <a:ext uri="{FF2B5EF4-FFF2-40B4-BE49-F238E27FC236}">
                <a16:creationId xmlns:a16="http://schemas.microsoft.com/office/drawing/2014/main" id="{6564876F-70BA-B14A-7A99-464EC565E6F1}"/>
              </a:ext>
            </a:extLst>
          </p:cNvPr>
          <p:cNvSpPr txBox="1">
            <a:spLocks/>
          </p:cNvSpPr>
          <p:nvPr/>
        </p:nvSpPr>
        <p:spPr>
          <a:xfrm>
            <a:off x="3807428" y="1132432"/>
            <a:ext cx="1785067" cy="1608920"/>
          </a:xfrm>
          <a:prstGeom prst="rect">
            <a:avLst/>
          </a:prstGeom>
          <a:solidFill>
            <a:srgbClr val="F8EC92"/>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lgn="just">
              <a:buNone/>
            </a:pPr>
            <a:r>
              <a:rPr lang="en-VN" dirty="0">
                <a:solidFill>
                  <a:schemeClr val="bg1">
                    <a:lumMod val="10000"/>
                  </a:schemeClr>
                </a:solidFill>
                <a:latin typeface="Arial" panose="020B0604020202020204" pitchFamily="34" charset="0"/>
                <a:cs typeface="Arial" panose="020B0604020202020204" pitchFamily="34" charset="0"/>
              </a:rPr>
              <a:t>Trao quyền và tăng cường năng lực vốn có của NB và khích lệ họ tham gia vào quy trình QLTH</a:t>
            </a:r>
          </a:p>
        </p:txBody>
      </p:sp>
      <p:sp>
        <p:nvSpPr>
          <p:cNvPr id="11" name="Text Placeholder 3">
            <a:extLst>
              <a:ext uri="{FF2B5EF4-FFF2-40B4-BE49-F238E27FC236}">
                <a16:creationId xmlns:a16="http://schemas.microsoft.com/office/drawing/2014/main" id="{1D042945-3751-6AB8-9CEA-BFD63732D632}"/>
              </a:ext>
            </a:extLst>
          </p:cNvPr>
          <p:cNvSpPr txBox="1">
            <a:spLocks/>
          </p:cNvSpPr>
          <p:nvPr/>
        </p:nvSpPr>
        <p:spPr>
          <a:xfrm>
            <a:off x="3807427" y="2828174"/>
            <a:ext cx="1785068" cy="1687878"/>
          </a:xfrm>
          <a:prstGeom prst="rect">
            <a:avLst/>
          </a:prstGeom>
          <a:solidFill>
            <a:srgbClr val="B1F498"/>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lgn="just">
              <a:buNone/>
            </a:pPr>
            <a:r>
              <a:rPr lang="en-VN" dirty="0">
                <a:solidFill>
                  <a:schemeClr val="bg1">
                    <a:lumMod val="10000"/>
                  </a:schemeClr>
                </a:solidFill>
                <a:latin typeface="Arial" panose="020B0604020202020204" pitchFamily="34" charset="0"/>
                <a:cs typeface="Arial" panose="020B0604020202020204" pitchFamily="34" charset="0"/>
              </a:rPr>
              <a:t>Khích lệ các bên cung cấp nguồn lực trong và ngoài cơ sở y tế tham gia vào quy trình QLTH với NB.</a:t>
            </a:r>
          </a:p>
          <a:p>
            <a:pPr marL="177800" indent="0">
              <a:buFont typeface="Nunito Light"/>
              <a:buNone/>
            </a:pPr>
            <a:endParaRPr lang="en-VN" dirty="0">
              <a:solidFill>
                <a:schemeClr val="bg1">
                  <a:lumMod val="10000"/>
                </a:schemeClr>
              </a:solidFill>
              <a:latin typeface="Arial" panose="020B0604020202020204" pitchFamily="34" charset="0"/>
              <a:cs typeface="Arial" panose="020B0604020202020204" pitchFamily="34" charset="0"/>
            </a:endParaRPr>
          </a:p>
        </p:txBody>
      </p:sp>
      <p:pic>
        <p:nvPicPr>
          <p:cNvPr id="15" name="Picture 20" descr="Vorwärts-taste - Kostenlose pfeile-Icons">
            <a:extLst>
              <a:ext uri="{FF2B5EF4-FFF2-40B4-BE49-F238E27FC236}">
                <a16:creationId xmlns:a16="http://schemas.microsoft.com/office/drawing/2014/main" id="{3828CB80-9D8F-CC5C-6C71-FB725A0CE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564841">
            <a:off x="6050398" y="1559205"/>
            <a:ext cx="755374" cy="755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444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34</a:t>
            </a:fld>
            <a:endParaRPr lang="en"/>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a:xfrm>
            <a:off x="655992" y="461824"/>
            <a:ext cx="7704000" cy="572700"/>
          </a:xfrm>
        </p:spPr>
        <p:txBody>
          <a:bodyPr/>
          <a:lstStyle/>
          <a:p>
            <a:r>
              <a:rPr lang="en-VN" sz="2600" dirty="0">
                <a:latin typeface="+mn-lt"/>
              </a:rPr>
              <a:t>Ý nghĩa và nguyên tắc thực hiện</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475556" y="1034524"/>
            <a:ext cx="8247820" cy="3781919"/>
          </a:xfrm>
        </p:spPr>
        <p:txBody>
          <a:bodyPr/>
          <a:lstStyle/>
          <a:p>
            <a:pPr marL="177800" indent="0">
              <a:buNone/>
            </a:pPr>
            <a:r>
              <a:rPr lang="en-VN" sz="1800" b="1" dirty="0">
                <a:solidFill>
                  <a:schemeClr val="bg1">
                    <a:lumMod val="10000"/>
                  </a:schemeClr>
                </a:solidFill>
                <a:latin typeface="Arial" panose="020B0604020202020204" pitchFamily="34" charset="0"/>
                <a:cs typeface="Arial" panose="020B0604020202020204" pitchFamily="34" charset="0"/>
              </a:rPr>
              <a:t>Nguyên tắc</a:t>
            </a:r>
          </a:p>
          <a:p>
            <a:pPr marL="177800" indent="0">
              <a:buNone/>
            </a:pPr>
            <a:r>
              <a:rPr lang="en-VN" sz="1800" dirty="0">
                <a:solidFill>
                  <a:schemeClr val="bg1">
                    <a:lumMod val="10000"/>
                  </a:schemeClr>
                </a:solidFill>
                <a:latin typeface="Arial" panose="020B0604020202020204" pitchFamily="34" charset="0"/>
                <a:cs typeface="Arial" panose="020B0604020202020204" pitchFamily="34" charset="0"/>
              </a:rPr>
              <a:t>- Chú ý đến các loại nguồn lực hỗ trợ bao gồm:</a:t>
            </a:r>
          </a:p>
          <a:p>
            <a:r>
              <a:rPr lang="en-VN" sz="1800" dirty="0">
                <a:solidFill>
                  <a:schemeClr val="bg1">
                    <a:lumMod val="10000"/>
                  </a:schemeClr>
                </a:solidFill>
                <a:latin typeface="Arial" panose="020B0604020202020204" pitchFamily="34" charset="0"/>
                <a:cs typeface="Arial" panose="020B0604020202020204" pitchFamily="34" charset="0"/>
              </a:rPr>
              <a:t>Nguồn nhân lực</a:t>
            </a:r>
          </a:p>
          <a:p>
            <a:r>
              <a:rPr lang="en-VN" sz="1800" dirty="0">
                <a:solidFill>
                  <a:schemeClr val="bg1">
                    <a:lumMod val="10000"/>
                  </a:schemeClr>
                </a:solidFill>
                <a:latin typeface="Arial" panose="020B0604020202020204" pitchFamily="34" charset="0"/>
                <a:cs typeface="Arial" panose="020B0604020202020204" pitchFamily="34" charset="0"/>
              </a:rPr>
              <a:t>Nguồn lực vật chất</a:t>
            </a:r>
          </a:p>
          <a:p>
            <a:r>
              <a:rPr lang="en-VN" sz="1800" dirty="0">
                <a:solidFill>
                  <a:schemeClr val="bg1">
                    <a:lumMod val="10000"/>
                  </a:schemeClr>
                </a:solidFill>
                <a:latin typeface="Arial" panose="020B0604020202020204" pitchFamily="34" charset="0"/>
                <a:cs typeface="Arial" panose="020B0604020202020204" pitchFamily="34" charset="0"/>
              </a:rPr>
              <a:t>Nguồn lực xã hội</a:t>
            </a:r>
          </a:p>
          <a:p>
            <a:r>
              <a:rPr lang="en-VN" sz="1800" dirty="0">
                <a:solidFill>
                  <a:schemeClr val="bg1">
                    <a:lumMod val="10000"/>
                  </a:schemeClr>
                </a:solidFill>
                <a:latin typeface="Arial" panose="020B0604020202020204" pitchFamily="34" charset="0"/>
                <a:cs typeface="Arial" panose="020B0604020202020204" pitchFamily="34" charset="0"/>
              </a:rPr>
              <a:t>Môi trường chính sách (CS CTXH, CTXH trong y tế…)</a:t>
            </a:r>
          </a:p>
          <a:p>
            <a:r>
              <a:rPr lang="en-VN" sz="1800" dirty="0">
                <a:solidFill>
                  <a:schemeClr val="bg1">
                    <a:lumMod val="10000"/>
                  </a:schemeClr>
                </a:solidFill>
                <a:latin typeface="Arial" panose="020B0604020202020204" pitchFamily="34" charset="0"/>
                <a:cs typeface="Arial" panose="020B0604020202020204" pitchFamily="34" charset="0"/>
              </a:rPr>
              <a:t>Nguồn lực tài chính (hỗ trợ điều trị, hỗ trợ sinh kế cho NB sau điều trị…)</a:t>
            </a:r>
          </a:p>
          <a:p>
            <a:r>
              <a:rPr lang="en-VN" sz="1800" dirty="0">
                <a:solidFill>
                  <a:schemeClr val="bg1">
                    <a:lumMod val="10000"/>
                  </a:schemeClr>
                </a:solidFill>
                <a:latin typeface="Arial" panose="020B0604020202020204" pitchFamily="34" charset="0"/>
                <a:cs typeface="Arial" panose="020B0604020202020204" pitchFamily="34" charset="0"/>
              </a:rPr>
              <a:t>Có mục tiêu kết nối &amp; điều phối nguồn lực rõ ràng:</a:t>
            </a:r>
          </a:p>
          <a:p>
            <a:r>
              <a:rPr lang="en-VN" sz="1800" dirty="0">
                <a:solidFill>
                  <a:schemeClr val="bg1">
                    <a:lumMod val="10000"/>
                  </a:schemeClr>
                </a:solidFill>
                <a:latin typeface="Arial" panose="020B0604020202020204" pitchFamily="34" charset="0"/>
                <a:cs typeface="Arial" panose="020B0604020202020204" pitchFamily="34" charset="0"/>
              </a:rPr>
              <a:t>Có mục tiêu vận động &amp; điều phối nguồn lực rõ ràng</a:t>
            </a:r>
          </a:p>
        </p:txBody>
      </p:sp>
    </p:spTree>
    <p:extLst>
      <p:ext uri="{BB962C8B-B14F-4D97-AF65-F5344CB8AC3E}">
        <p14:creationId xmlns:p14="http://schemas.microsoft.com/office/powerpoint/2010/main" val="467591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71236-0DDE-8665-7481-5B75357DCF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E3FBCB-92F6-BE5F-8541-506006805B3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35</a:t>
            </a:fld>
            <a:endParaRPr lang="en"/>
          </a:p>
        </p:txBody>
      </p:sp>
      <p:sp>
        <p:nvSpPr>
          <p:cNvPr id="3" name="Title 2">
            <a:extLst>
              <a:ext uri="{FF2B5EF4-FFF2-40B4-BE49-F238E27FC236}">
                <a16:creationId xmlns:a16="http://schemas.microsoft.com/office/drawing/2014/main" id="{2B36C3BE-0369-76CF-4F63-BFFE76E9CAE3}"/>
              </a:ext>
            </a:extLst>
          </p:cNvPr>
          <p:cNvSpPr>
            <a:spLocks noGrp="1"/>
          </p:cNvSpPr>
          <p:nvPr>
            <p:ph type="title"/>
          </p:nvPr>
        </p:nvSpPr>
        <p:spPr>
          <a:xfrm>
            <a:off x="628560" y="544151"/>
            <a:ext cx="7704000" cy="572700"/>
          </a:xfrm>
        </p:spPr>
        <p:txBody>
          <a:bodyPr/>
          <a:lstStyle/>
          <a:p>
            <a:r>
              <a:rPr lang="en-VN" sz="2400" dirty="0">
                <a:latin typeface="Arial" panose="020B0604020202020204" pitchFamily="34" charset="0"/>
                <a:cs typeface="Arial" panose="020B0604020202020204" pitchFamily="34" charset="0"/>
              </a:rPr>
              <a:t>Ý nghĩa và nguyên tắc thực hiện</a:t>
            </a:r>
          </a:p>
        </p:txBody>
      </p:sp>
      <p:sp>
        <p:nvSpPr>
          <p:cNvPr id="5" name="Text Placeholder 3">
            <a:extLst>
              <a:ext uri="{FF2B5EF4-FFF2-40B4-BE49-F238E27FC236}">
                <a16:creationId xmlns:a16="http://schemas.microsoft.com/office/drawing/2014/main" id="{4BA68972-10E3-78FB-EF1F-70A653F831E4}"/>
              </a:ext>
            </a:extLst>
          </p:cNvPr>
          <p:cNvSpPr txBox="1">
            <a:spLocks/>
          </p:cNvSpPr>
          <p:nvPr/>
        </p:nvSpPr>
        <p:spPr>
          <a:xfrm>
            <a:off x="720000" y="877824"/>
            <a:ext cx="8143343" cy="37215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None/>
            </a:pPr>
            <a:endParaRPr lang="en-VN" sz="1800" dirty="0">
              <a:solidFill>
                <a:schemeClr val="bg1">
                  <a:lumMod val="10000"/>
                </a:schemeClr>
              </a:solidFill>
              <a:latin typeface="+mn-lt"/>
            </a:endParaRPr>
          </a:p>
          <a:p>
            <a:r>
              <a:rPr lang="en-VN" sz="1800" dirty="0">
                <a:solidFill>
                  <a:schemeClr val="bg1">
                    <a:lumMod val="10000"/>
                  </a:schemeClr>
                </a:solidFill>
                <a:latin typeface="+mn-lt"/>
              </a:rPr>
              <a:t>Thông tin vận động &amp; điều phối rõ ràng, công khai tới người dân trong cộng đồng và nhà tài trợ ( nếu có).</a:t>
            </a:r>
          </a:p>
          <a:p>
            <a:r>
              <a:rPr lang="en-VN" sz="1800" dirty="0">
                <a:solidFill>
                  <a:schemeClr val="bg1">
                    <a:lumMod val="10000"/>
                  </a:schemeClr>
                </a:solidFill>
                <a:latin typeface="+mn-lt"/>
              </a:rPr>
              <a:t>Lập hồ sơ lưu giữ.</a:t>
            </a:r>
          </a:p>
          <a:p>
            <a:pPr marL="177800" indent="0">
              <a:buNone/>
            </a:pPr>
            <a:r>
              <a:rPr lang="en-VN" sz="1800" dirty="0">
                <a:solidFill>
                  <a:schemeClr val="bg1">
                    <a:lumMod val="10000"/>
                  </a:schemeClr>
                </a:solidFill>
                <a:latin typeface="+mn-lt"/>
              </a:rPr>
              <a:t>- Minh bạch:</a:t>
            </a:r>
          </a:p>
          <a:p>
            <a:r>
              <a:rPr lang="en-VN" sz="1800" dirty="0">
                <a:solidFill>
                  <a:schemeClr val="bg1">
                    <a:lumMod val="10000"/>
                  </a:schemeClr>
                </a:solidFill>
                <a:latin typeface="+mn-lt"/>
              </a:rPr>
              <a:t>Tài chính công khai, minh bạch, rõ ràng</a:t>
            </a:r>
          </a:p>
          <a:p>
            <a:r>
              <a:rPr lang="en-VN" sz="1800" dirty="0">
                <a:solidFill>
                  <a:schemeClr val="bg1">
                    <a:lumMod val="10000"/>
                  </a:schemeClr>
                </a:solidFill>
                <a:latin typeface="+mn-lt"/>
              </a:rPr>
              <a:t>Thông tin kết nối &amp; điều phối nguồn lực phải được cập nhật minh bạch rõ ràng, công bằng, công khai cho cá nhân, đơn vị, tổ chức tài trợ.</a:t>
            </a:r>
          </a:p>
          <a:p>
            <a:pPr marL="177800" indent="0">
              <a:buNone/>
            </a:pPr>
            <a:r>
              <a:rPr lang="en-VN" sz="1800" dirty="0">
                <a:solidFill>
                  <a:schemeClr val="bg1">
                    <a:lumMod val="10000"/>
                  </a:schemeClr>
                </a:solidFill>
                <a:latin typeface="+mn-lt"/>
              </a:rPr>
              <a:t>- Không kết nối &amp; điều phối nguồn lực sai mục đích:</a:t>
            </a:r>
          </a:p>
          <a:p>
            <a:r>
              <a:rPr lang="en-VN" sz="1800" dirty="0">
                <a:solidFill>
                  <a:schemeClr val="bg1">
                    <a:lumMod val="10000"/>
                  </a:schemeClr>
                </a:solidFill>
                <a:latin typeface="+mn-lt"/>
              </a:rPr>
              <a:t>Xác định rõ ràng từ ban đầu nguồn lực như phân loại, hỗ trợ đúng mục đích, không lãng phí, đúng người được nhận hỗ trợ theo quy trình QLTH.</a:t>
            </a:r>
          </a:p>
          <a:p>
            <a:r>
              <a:rPr lang="en-VN" sz="1800" dirty="0">
                <a:solidFill>
                  <a:schemeClr val="bg1">
                    <a:lumMod val="10000"/>
                  </a:schemeClr>
                </a:solidFill>
                <a:latin typeface="+mn-lt"/>
              </a:rPr>
              <a:t>Cam kết không sử dụng nguồn lực huy động sai mục đích.</a:t>
            </a:r>
          </a:p>
          <a:p>
            <a:endParaRPr lang="en-VN" sz="1800" dirty="0">
              <a:solidFill>
                <a:schemeClr val="bg1">
                  <a:lumMod val="10000"/>
                </a:schemeClr>
              </a:solidFill>
              <a:latin typeface="+mn-lt"/>
            </a:endParaRPr>
          </a:p>
          <a:p>
            <a:endParaRPr lang="en-VN" sz="1800" dirty="0">
              <a:solidFill>
                <a:schemeClr val="bg1">
                  <a:lumMod val="10000"/>
                </a:schemeClr>
              </a:solidFill>
              <a:latin typeface="+mn-lt"/>
            </a:endParaRPr>
          </a:p>
        </p:txBody>
      </p:sp>
    </p:spTree>
    <p:extLst>
      <p:ext uri="{BB962C8B-B14F-4D97-AF65-F5344CB8AC3E}">
        <p14:creationId xmlns:p14="http://schemas.microsoft.com/office/powerpoint/2010/main" val="2119169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D9221-007E-CD16-7E50-57A027B63C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600" smtClean="0">
                <a:solidFill>
                  <a:schemeClr val="bg1">
                    <a:lumMod val="10000"/>
                  </a:schemeClr>
                </a:solidFill>
                <a:latin typeface="+mn-lt"/>
              </a:rPr>
              <a:t>36</a:t>
            </a:fld>
            <a:endParaRPr lang="en" sz="1600">
              <a:solidFill>
                <a:schemeClr val="bg1">
                  <a:lumMod val="10000"/>
                </a:schemeClr>
              </a:solidFill>
              <a:latin typeface="+mn-lt"/>
            </a:endParaRPr>
          </a:p>
        </p:txBody>
      </p:sp>
      <p:sp>
        <p:nvSpPr>
          <p:cNvPr id="3" name="Title 2">
            <a:extLst>
              <a:ext uri="{FF2B5EF4-FFF2-40B4-BE49-F238E27FC236}">
                <a16:creationId xmlns:a16="http://schemas.microsoft.com/office/drawing/2014/main" id="{C7E48FF0-5EEE-5E3E-A291-A9C6FF17AC52}"/>
              </a:ext>
            </a:extLst>
          </p:cNvPr>
          <p:cNvSpPr>
            <a:spLocks noGrp="1"/>
          </p:cNvSpPr>
          <p:nvPr>
            <p:ph type="title"/>
          </p:nvPr>
        </p:nvSpPr>
        <p:spPr/>
        <p:txBody>
          <a:bodyPr/>
          <a:lstStyle/>
          <a:p>
            <a:r>
              <a:rPr lang="en-VN" sz="1600" dirty="0">
                <a:solidFill>
                  <a:schemeClr val="bg1">
                    <a:lumMod val="10000"/>
                  </a:schemeClr>
                </a:solidFill>
                <a:latin typeface="+mn-lt"/>
              </a:rPr>
              <a:t>Cách thực hiện</a:t>
            </a:r>
          </a:p>
        </p:txBody>
      </p:sp>
      <p:sp>
        <p:nvSpPr>
          <p:cNvPr id="4" name="Text Placeholder 3">
            <a:extLst>
              <a:ext uri="{FF2B5EF4-FFF2-40B4-BE49-F238E27FC236}">
                <a16:creationId xmlns:a16="http://schemas.microsoft.com/office/drawing/2014/main" id="{D6FD586A-382C-C3FD-65CA-D7DC92B91946}"/>
              </a:ext>
            </a:extLst>
          </p:cNvPr>
          <p:cNvSpPr>
            <a:spLocks noGrp="1"/>
          </p:cNvSpPr>
          <p:nvPr>
            <p:ph type="body" idx="1"/>
          </p:nvPr>
        </p:nvSpPr>
        <p:spPr>
          <a:xfrm>
            <a:off x="584829" y="1224227"/>
            <a:ext cx="1562024" cy="3233100"/>
          </a:xfrm>
        </p:spPr>
        <p:txBody>
          <a:bodyPr/>
          <a:lstStyle/>
          <a:p>
            <a:pPr marL="177800" indent="0">
              <a:buNone/>
            </a:pPr>
            <a:r>
              <a:rPr lang="en-VN" sz="1600" dirty="0">
                <a:solidFill>
                  <a:schemeClr val="bg1">
                    <a:lumMod val="10000"/>
                  </a:schemeClr>
                </a:solidFill>
                <a:latin typeface="+mn-lt"/>
              </a:rPr>
              <a:t>Bước 1: </a:t>
            </a:r>
            <a:r>
              <a:rPr lang="en-VN" sz="1600" i="1" dirty="0">
                <a:solidFill>
                  <a:schemeClr val="bg1">
                    <a:lumMod val="10000"/>
                  </a:schemeClr>
                </a:solidFill>
                <a:latin typeface="+mn-lt"/>
              </a:rPr>
              <a:t>Tiếp cận NB, thu thập thông tin, đánh giá vấn đề của NB</a:t>
            </a:r>
          </a:p>
          <a:p>
            <a:pPr marL="177800" indent="0">
              <a:buNone/>
            </a:pPr>
            <a:endParaRPr lang="en-VN" sz="1600" dirty="0">
              <a:solidFill>
                <a:schemeClr val="bg1">
                  <a:lumMod val="10000"/>
                </a:schemeClr>
              </a:solidFill>
              <a:latin typeface="+mn-lt"/>
            </a:endParaRPr>
          </a:p>
          <a:p>
            <a:pPr marL="177800" indent="0">
              <a:buNone/>
            </a:pPr>
            <a:r>
              <a:rPr lang="en-VN" sz="1600" dirty="0">
                <a:solidFill>
                  <a:schemeClr val="bg1">
                    <a:lumMod val="10000"/>
                  </a:schemeClr>
                </a:solidFill>
                <a:latin typeface="+mn-lt"/>
              </a:rPr>
              <a:t>Cán bộ QLTH thực hiện quy trình QLTH</a:t>
            </a:r>
          </a:p>
        </p:txBody>
      </p:sp>
      <p:sp>
        <p:nvSpPr>
          <p:cNvPr id="5" name="Text Placeholder 3">
            <a:extLst>
              <a:ext uri="{FF2B5EF4-FFF2-40B4-BE49-F238E27FC236}">
                <a16:creationId xmlns:a16="http://schemas.microsoft.com/office/drawing/2014/main" id="{E0A7479F-35C1-0E8E-2020-5EEFF33A872D}"/>
              </a:ext>
            </a:extLst>
          </p:cNvPr>
          <p:cNvSpPr txBox="1">
            <a:spLocks/>
          </p:cNvSpPr>
          <p:nvPr/>
        </p:nvSpPr>
        <p:spPr>
          <a:xfrm>
            <a:off x="2325083" y="1224227"/>
            <a:ext cx="1562024" cy="3233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None/>
            </a:pPr>
            <a:r>
              <a:rPr lang="en-VN" sz="1600" dirty="0">
                <a:solidFill>
                  <a:schemeClr val="bg1">
                    <a:lumMod val="10000"/>
                  </a:schemeClr>
                </a:solidFill>
                <a:latin typeface="+mn-lt"/>
              </a:rPr>
              <a:t>Bước 2: </a:t>
            </a:r>
            <a:r>
              <a:rPr lang="en-VN" sz="1600" i="1" dirty="0">
                <a:solidFill>
                  <a:schemeClr val="bg1">
                    <a:lumMod val="10000"/>
                  </a:schemeClr>
                </a:solidFill>
                <a:latin typeface="+mn-lt"/>
              </a:rPr>
              <a:t>Lập kế hoạch kết nối và điều phối nguồn lực</a:t>
            </a:r>
          </a:p>
          <a:p>
            <a:pPr marL="177800" indent="0">
              <a:buNone/>
            </a:pPr>
            <a:endParaRPr lang="en-VN" sz="1600" i="1" dirty="0">
              <a:solidFill>
                <a:schemeClr val="bg1">
                  <a:lumMod val="10000"/>
                </a:schemeClr>
              </a:solidFill>
              <a:latin typeface="+mn-lt"/>
            </a:endParaRPr>
          </a:p>
          <a:p>
            <a:pPr marL="177800" indent="0">
              <a:buNone/>
            </a:pPr>
            <a:r>
              <a:rPr lang="en-VN" sz="1600" dirty="0">
                <a:solidFill>
                  <a:schemeClr val="bg1">
                    <a:lumMod val="10000"/>
                  </a:schemeClr>
                </a:solidFill>
                <a:latin typeface="+mn-lt"/>
              </a:rPr>
              <a:t>Cán bộ QLTH và NB/ gia đình NB xác định thứ tự ưu tiên</a:t>
            </a:r>
          </a:p>
        </p:txBody>
      </p:sp>
      <p:sp>
        <p:nvSpPr>
          <p:cNvPr id="6" name="Text Placeholder 3">
            <a:extLst>
              <a:ext uri="{FF2B5EF4-FFF2-40B4-BE49-F238E27FC236}">
                <a16:creationId xmlns:a16="http://schemas.microsoft.com/office/drawing/2014/main" id="{84672EB4-1C4B-18F3-BDE3-7680DDE7DFE4}"/>
              </a:ext>
            </a:extLst>
          </p:cNvPr>
          <p:cNvSpPr txBox="1">
            <a:spLocks/>
          </p:cNvSpPr>
          <p:nvPr/>
        </p:nvSpPr>
        <p:spPr>
          <a:xfrm>
            <a:off x="4297650" y="1312492"/>
            <a:ext cx="1562024" cy="3233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lgn="just">
              <a:buNone/>
            </a:pPr>
            <a:r>
              <a:rPr lang="en-VN" sz="1600" dirty="0">
                <a:solidFill>
                  <a:schemeClr val="bg1">
                    <a:lumMod val="10000"/>
                  </a:schemeClr>
                </a:solidFill>
                <a:latin typeface="+mn-lt"/>
              </a:rPr>
              <a:t>Bước 3: </a:t>
            </a:r>
            <a:r>
              <a:rPr lang="en-VN" sz="1600" i="1" dirty="0">
                <a:solidFill>
                  <a:schemeClr val="bg1">
                    <a:lumMod val="10000"/>
                  </a:schemeClr>
                </a:solidFill>
                <a:latin typeface="+mn-lt"/>
              </a:rPr>
              <a:t>Kết nối, vận động &amp; điều phối nguồn lực</a:t>
            </a:r>
          </a:p>
          <a:p>
            <a:pPr marL="177800" indent="0">
              <a:buNone/>
            </a:pPr>
            <a:r>
              <a:rPr lang="en-VN" sz="1600" dirty="0">
                <a:solidFill>
                  <a:schemeClr val="bg1">
                    <a:lumMod val="10000"/>
                  </a:schemeClr>
                </a:solidFill>
                <a:latin typeface="+mn-lt"/>
              </a:rPr>
              <a:t>Cán bộ QLTH giới thiệu, chuyển gửi, hỗ trợ, theo dõi</a:t>
            </a:r>
          </a:p>
        </p:txBody>
      </p:sp>
      <p:sp>
        <p:nvSpPr>
          <p:cNvPr id="7" name="Text Placeholder 3">
            <a:extLst>
              <a:ext uri="{FF2B5EF4-FFF2-40B4-BE49-F238E27FC236}">
                <a16:creationId xmlns:a16="http://schemas.microsoft.com/office/drawing/2014/main" id="{286DB751-BD36-2C36-0EDB-C01EA7B727FF}"/>
              </a:ext>
            </a:extLst>
          </p:cNvPr>
          <p:cNvSpPr txBox="1">
            <a:spLocks/>
          </p:cNvSpPr>
          <p:nvPr/>
        </p:nvSpPr>
        <p:spPr>
          <a:xfrm>
            <a:off x="6549631" y="1224227"/>
            <a:ext cx="1562024" cy="3233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None/>
            </a:pPr>
            <a:r>
              <a:rPr lang="en-VN" sz="1600" dirty="0">
                <a:solidFill>
                  <a:schemeClr val="bg1">
                    <a:lumMod val="10000"/>
                  </a:schemeClr>
                </a:solidFill>
                <a:latin typeface="+mn-lt"/>
              </a:rPr>
              <a:t>Bước 4: </a:t>
            </a:r>
            <a:r>
              <a:rPr lang="en-VN" sz="1600" i="1" dirty="0">
                <a:solidFill>
                  <a:schemeClr val="bg1">
                    <a:lumMod val="10000"/>
                  </a:schemeClr>
                </a:solidFill>
                <a:latin typeface="+mn-lt"/>
              </a:rPr>
              <a:t>Lưu trữ hồ sơ làm căn cứ</a:t>
            </a:r>
          </a:p>
          <a:p>
            <a:pPr marL="177800" indent="0">
              <a:buNone/>
            </a:pPr>
            <a:endParaRPr lang="en-VN" sz="1600" dirty="0">
              <a:solidFill>
                <a:schemeClr val="bg1">
                  <a:lumMod val="10000"/>
                </a:schemeClr>
              </a:solidFill>
              <a:latin typeface="+mn-lt"/>
            </a:endParaRPr>
          </a:p>
          <a:p>
            <a:pPr marL="177800" indent="0" algn="just">
              <a:buNone/>
            </a:pPr>
            <a:r>
              <a:rPr lang="en-VN" sz="1600" dirty="0">
                <a:solidFill>
                  <a:schemeClr val="bg1">
                    <a:lumMod val="10000"/>
                  </a:schemeClr>
                </a:solidFill>
                <a:latin typeface="+mn-lt"/>
              </a:rPr>
              <a:t>Tổng kết, gửi thư cảm ơn và giấy chứng nhận…</a:t>
            </a:r>
          </a:p>
          <a:p>
            <a:pPr marL="177800" indent="0">
              <a:buNone/>
            </a:pPr>
            <a:r>
              <a:rPr lang="en-VN" sz="1600" dirty="0">
                <a:solidFill>
                  <a:schemeClr val="bg1">
                    <a:lumMod val="10000"/>
                  </a:schemeClr>
                </a:solidFill>
                <a:latin typeface="+mn-lt"/>
              </a:rPr>
              <a:t>Lưu trữ hồ sơ ca</a:t>
            </a:r>
          </a:p>
        </p:txBody>
      </p:sp>
    </p:spTree>
    <p:extLst>
      <p:ext uri="{BB962C8B-B14F-4D97-AF65-F5344CB8AC3E}">
        <p14:creationId xmlns:p14="http://schemas.microsoft.com/office/powerpoint/2010/main" val="788024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965E4-134A-89B4-E0C0-9C0D733051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40EF9-8649-64C3-B921-9A4F94C84A6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37</a:t>
            </a:fld>
            <a:endParaRPr lang="en"/>
          </a:p>
        </p:txBody>
      </p:sp>
      <p:sp>
        <p:nvSpPr>
          <p:cNvPr id="3" name="Title 2">
            <a:extLst>
              <a:ext uri="{FF2B5EF4-FFF2-40B4-BE49-F238E27FC236}">
                <a16:creationId xmlns:a16="http://schemas.microsoft.com/office/drawing/2014/main" id="{A637A466-0216-34E8-03E0-4CB0E1931B4C}"/>
              </a:ext>
            </a:extLst>
          </p:cNvPr>
          <p:cNvSpPr>
            <a:spLocks noGrp="1"/>
          </p:cNvSpPr>
          <p:nvPr>
            <p:ph type="title"/>
          </p:nvPr>
        </p:nvSpPr>
        <p:spPr/>
        <p:txBody>
          <a:bodyPr/>
          <a:lstStyle/>
          <a:p>
            <a:r>
              <a:rPr lang="en-VN" sz="2400" dirty="0">
                <a:latin typeface="Arial" panose="020B0604020202020204" pitchFamily="34" charset="0"/>
                <a:cs typeface="Arial" panose="020B0604020202020204" pitchFamily="34" charset="0"/>
              </a:rPr>
              <a:t>Thảo luận nhóm</a:t>
            </a:r>
          </a:p>
        </p:txBody>
      </p:sp>
      <p:sp>
        <p:nvSpPr>
          <p:cNvPr id="4" name="Text Placeholder 3">
            <a:extLst>
              <a:ext uri="{FF2B5EF4-FFF2-40B4-BE49-F238E27FC236}">
                <a16:creationId xmlns:a16="http://schemas.microsoft.com/office/drawing/2014/main" id="{E9E8B24F-D169-35D0-EB38-912961821EBA}"/>
              </a:ext>
            </a:extLst>
          </p:cNvPr>
          <p:cNvSpPr>
            <a:spLocks noGrp="1"/>
          </p:cNvSpPr>
          <p:nvPr>
            <p:ph type="body" idx="1"/>
          </p:nvPr>
        </p:nvSpPr>
        <p:spPr>
          <a:xfrm>
            <a:off x="621792" y="1017725"/>
            <a:ext cx="7802208" cy="3431125"/>
          </a:xfrm>
        </p:spPr>
        <p:txBody>
          <a:bodyPr/>
          <a:lstStyle/>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Chia nhóm lớp 4-5 nhóm, mỗi nhóm 4-5 học viên thảo luận ca (8 giờ tự học)</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Một bé gái 14 tuổi được giải cứu từ biên giới. Em cho biết gia đình nghèo khổ, có 4 người con cha mẹ lại bệnh tật, quanh năm lam lũ không đủ ăn mặc.  Được hàng xóm giới thiệu công việc sẽ kiếm được tiền, nên em và cha mẹ đồng ý sẽ đi làm trong 2 năm, kiếm tiền về trang trải và nuôi sống gia đình. Được biết em bị một nhóm người đưa qua biên giới để kiếm việc làm, tuy nhiên em và những người trong nhóm đã bị đưa vào làm trong một nhà hàng và bị ép phục vụ khách… Sau hơn 1 năm, em được một tổ chức Quốc tế – kết hợp với bộ đội biên phòng giải cứu. </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Anh/chị với vai trò nhân viên CTXH tiếp nhận trường hợp này, giả định thông tin kết nối, huy động, điều phối các nguồn lực trợ giúp trường hợp bé gái trong tình huống nêu trên?</a:t>
            </a:r>
          </a:p>
        </p:txBody>
      </p:sp>
    </p:spTree>
    <p:extLst>
      <p:ext uri="{BB962C8B-B14F-4D97-AF65-F5344CB8AC3E}">
        <p14:creationId xmlns:p14="http://schemas.microsoft.com/office/powerpoint/2010/main" val="3520866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2886635" y="1854500"/>
            <a:ext cx="4823012"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err="1">
                <a:solidFill>
                  <a:schemeClr val="bg1">
                    <a:lumMod val="10000"/>
                  </a:schemeClr>
                </a:solidFill>
                <a:latin typeface="Arial" panose="020B0604020202020204" pitchFamily="34" charset="0"/>
                <a:cs typeface="Arial" panose="020B0604020202020204" pitchFamily="34" charset="0"/>
              </a:rPr>
              <a:t>Kỹ</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năng</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biện</a:t>
            </a:r>
            <a:r>
              <a:rPr lang="en" sz="2800" dirty="0">
                <a:solidFill>
                  <a:schemeClr val="bg1">
                    <a:lumMod val="10000"/>
                  </a:schemeClr>
                </a:solidFill>
                <a:latin typeface="Arial" panose="020B0604020202020204" pitchFamily="34" charset="0"/>
                <a:cs typeface="Arial" panose="020B0604020202020204" pitchFamily="34" charset="0"/>
              </a:rPr>
              <a:t> </a:t>
            </a:r>
            <a:r>
              <a:rPr lang="en" sz="2800" dirty="0" err="1">
                <a:solidFill>
                  <a:schemeClr val="bg1">
                    <a:lumMod val="10000"/>
                  </a:schemeClr>
                </a:solidFill>
                <a:latin typeface="Arial" panose="020B0604020202020204" pitchFamily="34" charset="0"/>
                <a:cs typeface="Arial" panose="020B0604020202020204" pitchFamily="34" charset="0"/>
              </a:rPr>
              <a:t>hộ</a:t>
            </a:r>
            <a:r>
              <a:rPr lang="en" sz="2800" dirty="0">
                <a:solidFill>
                  <a:schemeClr val="bg1">
                    <a:lumMod val="10000"/>
                  </a:schemeClr>
                </a:solidFill>
                <a:latin typeface="Arial" panose="020B0604020202020204" pitchFamily="34" charset="0"/>
                <a:cs typeface="Arial" panose="020B0604020202020204" pitchFamily="34" charset="0"/>
              </a:rPr>
              <a:t> </a:t>
            </a:r>
            <a:endParaRPr sz="2800" dirty="0">
              <a:solidFill>
                <a:schemeClr val="bg1">
                  <a:lumMod val="10000"/>
                </a:schemeClr>
              </a:solidFill>
              <a:latin typeface="Arial" panose="020B0604020202020204" pitchFamily="34" charset="0"/>
              <a:cs typeface="Arial" panose="020B0604020202020204" pitchFamily="34" charset="0"/>
            </a:endParaRPr>
          </a:p>
        </p:txBody>
      </p:sp>
      <p:sp>
        <p:nvSpPr>
          <p:cNvPr id="330" name="Google Shape;330;p32"/>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You can describe the topic of the section here</a:t>
            </a:r>
            <a:endParaRPr dirty="0"/>
          </a:p>
        </p:txBody>
      </p:sp>
      <p:sp>
        <p:nvSpPr>
          <p:cNvPr id="331" name="Google Shape;331;p32"/>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38</a:t>
            </a:fld>
            <a:endParaRPr/>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8847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39</a:t>
            </a:fld>
            <a:endParaRPr lang="en"/>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p:txBody>
          <a:bodyPr/>
          <a:lstStyle/>
          <a:p>
            <a:r>
              <a:rPr lang="en-VN" sz="2600" dirty="0">
                <a:latin typeface="+mn-lt"/>
              </a:rPr>
              <a:t>Khái niệm</a:t>
            </a:r>
          </a:p>
        </p:txBody>
      </p:sp>
      <p:sp>
        <p:nvSpPr>
          <p:cNvPr id="4" name="Text Placeholder 3">
            <a:extLst>
              <a:ext uri="{FF2B5EF4-FFF2-40B4-BE49-F238E27FC236}">
                <a16:creationId xmlns:a16="http://schemas.microsoft.com/office/drawing/2014/main" id="{49031695-2FCD-E0C8-039A-C7C350690DDA}"/>
              </a:ext>
            </a:extLst>
          </p:cNvPr>
          <p:cNvSpPr>
            <a:spLocks noGrp="1"/>
          </p:cNvSpPr>
          <p:nvPr>
            <p:ph type="body" idx="1"/>
          </p:nvPr>
        </p:nvSpPr>
        <p:spPr>
          <a:xfrm>
            <a:off x="386044" y="1017725"/>
            <a:ext cx="8264179" cy="3680750"/>
          </a:xfrm>
        </p:spPr>
        <p:txBody>
          <a:bodyPr/>
          <a:lstStyle/>
          <a:p>
            <a:r>
              <a:rPr lang="vi-VN" sz="2000" dirty="0">
                <a:solidFill>
                  <a:schemeClr val="bg1">
                    <a:lumMod val="10000"/>
                  </a:schemeClr>
                </a:solidFill>
                <a:latin typeface="Arial" panose="020B0604020202020204" pitchFamily="34" charset="0"/>
                <a:cs typeface="Arial" panose="020B0604020202020204" pitchFamily="34" charset="0"/>
              </a:rPr>
              <a:t>Biện hộ </a:t>
            </a:r>
            <a:r>
              <a:rPr lang="en-US" sz="2000" dirty="0">
                <a:solidFill>
                  <a:schemeClr val="bg1">
                    <a:lumMod val="10000"/>
                  </a:schemeClr>
                </a:solidFill>
                <a:latin typeface="Arial" panose="020B0604020202020204" pitchFamily="34" charset="0"/>
                <a:cs typeface="Arial" panose="020B0604020202020204" pitchFamily="34" charset="0"/>
              </a:rPr>
              <a:t>hay </a:t>
            </a:r>
            <a:r>
              <a:rPr lang="en-US" sz="2000" dirty="0" err="1">
                <a:solidFill>
                  <a:schemeClr val="bg1">
                    <a:lumMod val="10000"/>
                  </a:schemeClr>
                </a:solidFill>
                <a:latin typeface="Arial" panose="020B0604020202020204" pitchFamily="34" charset="0"/>
                <a:cs typeface="Arial" panose="020B0604020202020204" pitchFamily="34" charset="0"/>
              </a:rPr>
              <a:t>vận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động</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chính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sách</a:t>
            </a:r>
            <a:r>
              <a:rPr lang="en-US" sz="2000" dirty="0">
                <a:solidFill>
                  <a:schemeClr val="bg1">
                    <a:lumMod val="10000"/>
                  </a:schemeClr>
                </a:solidFill>
                <a:latin typeface="Arial" panose="020B0604020202020204" pitchFamily="34" charset="0"/>
                <a:cs typeface="Arial" panose="020B0604020202020204" pitchFamily="34" charset="0"/>
              </a:rPr>
              <a:t> (Advocacy) </a:t>
            </a:r>
            <a:r>
              <a:rPr lang="vi-VN" sz="2000" dirty="0">
                <a:solidFill>
                  <a:schemeClr val="bg1">
                    <a:lumMod val="10000"/>
                  </a:schemeClr>
                </a:solidFill>
                <a:latin typeface="Arial" panose="020B0604020202020204" pitchFamily="34" charset="0"/>
                <a:cs typeface="Arial" panose="020B0604020202020204" pitchFamily="34" charset="0"/>
              </a:rPr>
              <a:t>là hoạt động thúc đẩy và bảo vệ quyền con người, nhằm đem lại công bằng xã hội cho tất cả mọi người, đặc biệt là những người yếu thế trong xã hội. (Theo Hiệp hội Công tác xã hội , 2000).</a:t>
            </a:r>
          </a:p>
          <a:p>
            <a:r>
              <a:rPr lang="en-US" sz="2000" dirty="0" err="1">
                <a:solidFill>
                  <a:schemeClr val="bg1">
                    <a:lumMod val="10000"/>
                  </a:schemeClr>
                </a:solidFill>
                <a:latin typeface="Arial" panose="020B0604020202020204" pitchFamily="34" charset="0"/>
                <a:cs typeface="Arial" panose="020B0604020202020204" pitchFamily="34" charset="0"/>
              </a:rPr>
              <a:t>Biện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hộ</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đựơc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xác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định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như</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quá</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trình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làm</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việc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với</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thân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chủ</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hoặc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đại</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diện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cho</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thân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chủ</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Mục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đích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để</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tìm</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kiếm</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dịch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vụ</a:t>
            </a:r>
            <a:r>
              <a:rPr lang="en-US" sz="2000" dirty="0">
                <a:solidFill>
                  <a:schemeClr val="bg1">
                    <a:lumMod val="10000"/>
                  </a:schemeClr>
                </a:solidFill>
                <a:latin typeface="Arial" panose="020B0604020202020204" pitchFamily="34" charset="0"/>
                <a:cs typeface="Arial" panose="020B0604020202020204" pitchFamily="34" charset="0"/>
              </a:rPr>
              <a:t> hay </a:t>
            </a:r>
            <a:r>
              <a:rPr lang="en-US" sz="2000" dirty="0" err="1">
                <a:solidFill>
                  <a:schemeClr val="bg1">
                    <a:lumMod val="10000"/>
                  </a:schemeClr>
                </a:solidFill>
                <a:latin typeface="Arial" panose="020B0604020202020204" pitchFamily="34" charset="0"/>
                <a:cs typeface="Arial" panose="020B0604020202020204" pitchFamily="34" charset="0"/>
              </a:rPr>
              <a:t>nguồn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lực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mà</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thân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chủ</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đã</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không</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đựơc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hưởng</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tác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động</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tạo</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ra</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sự</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thay</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đổi</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về</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chính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sách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thủ</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tục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hành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chính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đã</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ảnh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hưởng</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bất</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lợi</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cho</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thân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chủ</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thúc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đẩy</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chính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sách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luật</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pháp</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mới</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tạo</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ra</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nguồn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lực</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và</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dịch</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vụ</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cần</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thiết</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cho</a:t>
            </a:r>
            <a:r>
              <a:rPr lang="en-US" sz="2000" dirty="0">
                <a:solidFill>
                  <a:schemeClr val="bg1">
                    <a:lumMod val="10000"/>
                  </a:schemeClr>
                </a:solidFill>
                <a:latin typeface="Arial" panose="020B0604020202020204" pitchFamily="34" charset="0"/>
                <a:cs typeface="Arial" panose="020B0604020202020204" pitchFamily="34" charset="0"/>
              </a:rPr>
              <a:t> </a:t>
            </a:r>
            <a:r>
              <a:rPr lang="en-US" sz="2000" dirty="0" err="1">
                <a:solidFill>
                  <a:schemeClr val="bg1">
                    <a:lumMod val="10000"/>
                  </a:schemeClr>
                </a:solidFill>
                <a:latin typeface="Arial" panose="020B0604020202020204" pitchFamily="34" charset="0"/>
                <a:cs typeface="Arial" panose="020B0604020202020204" pitchFamily="34" charset="0"/>
              </a:rPr>
              <a:t>họ</a:t>
            </a:r>
            <a:r>
              <a:rPr lang="en-US" sz="2000" dirty="0">
                <a:solidFill>
                  <a:schemeClr val="bg1">
                    <a:lumMod val="10000"/>
                  </a:schemeClr>
                </a:solidFill>
                <a:latin typeface="Arial" panose="020B0604020202020204" pitchFamily="34" charset="0"/>
                <a:cs typeface="Arial" panose="020B0604020202020204" pitchFamily="34" charset="0"/>
              </a:rPr>
              <a:t> (Dean H. Hepworth 1997).</a:t>
            </a:r>
            <a:endParaRPr lang="en-VN" sz="2000" dirty="0">
              <a:solidFill>
                <a:schemeClr val="bg1">
                  <a:lumMod val="10000"/>
                </a:schemeClr>
              </a:solidFill>
              <a:latin typeface="Arial" panose="020B0604020202020204" pitchFamily="34" charset="0"/>
              <a:cs typeface="Arial" panose="020B0604020202020204" pitchFamily="34" charset="0"/>
            </a:endParaRPr>
          </a:p>
          <a:p>
            <a:endParaRPr lang="vi-VN" sz="2000" dirty="0">
              <a:solidFill>
                <a:schemeClr val="bg1">
                  <a:lumMod val="10000"/>
                </a:schemeClr>
              </a:solidFill>
              <a:latin typeface="Arial" panose="020B0604020202020204" pitchFamily="34" charset="0"/>
              <a:cs typeface="Arial" panose="020B0604020202020204" pitchFamily="34" charset="0"/>
            </a:endParaRPr>
          </a:p>
          <a:p>
            <a:endParaRPr lang="en-VN" sz="20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0229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F5D2F-FC8E-0070-4A71-F5234DD7EE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3086B3-9795-2097-46DF-67B9740C6C5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40</a:t>
            </a:fld>
            <a:endParaRPr lang="en"/>
          </a:p>
        </p:txBody>
      </p:sp>
      <p:sp>
        <p:nvSpPr>
          <p:cNvPr id="3" name="Title 2">
            <a:extLst>
              <a:ext uri="{FF2B5EF4-FFF2-40B4-BE49-F238E27FC236}">
                <a16:creationId xmlns:a16="http://schemas.microsoft.com/office/drawing/2014/main" id="{C5A40397-BD32-684A-7CBF-57B7197E0272}"/>
              </a:ext>
            </a:extLst>
          </p:cNvPr>
          <p:cNvSpPr>
            <a:spLocks noGrp="1"/>
          </p:cNvSpPr>
          <p:nvPr>
            <p:ph type="title"/>
          </p:nvPr>
        </p:nvSpPr>
        <p:spPr/>
        <p:txBody>
          <a:bodyPr/>
          <a:lstStyle/>
          <a:p>
            <a:r>
              <a:rPr lang="en-VN" dirty="0"/>
              <a:t>Khái niệm</a:t>
            </a:r>
          </a:p>
        </p:txBody>
      </p:sp>
      <p:sp>
        <p:nvSpPr>
          <p:cNvPr id="6" name="Text Placeholder 3">
            <a:extLst>
              <a:ext uri="{FF2B5EF4-FFF2-40B4-BE49-F238E27FC236}">
                <a16:creationId xmlns:a16="http://schemas.microsoft.com/office/drawing/2014/main" id="{9237704A-6C84-8185-E2FA-BCC64C4F9CB7}"/>
              </a:ext>
            </a:extLst>
          </p:cNvPr>
          <p:cNvSpPr txBox="1">
            <a:spLocks/>
          </p:cNvSpPr>
          <p:nvPr/>
        </p:nvSpPr>
        <p:spPr>
          <a:xfrm>
            <a:off x="740286" y="1499615"/>
            <a:ext cx="7704000" cy="29125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None/>
            </a:pPr>
            <a:r>
              <a:rPr lang="vi-VN" sz="2000" dirty="0">
                <a:solidFill>
                  <a:schemeClr val="bg1">
                    <a:lumMod val="10000"/>
                  </a:schemeClr>
                </a:solidFill>
                <a:latin typeface="+mn-lt"/>
              </a:rPr>
              <a:t>Từ cơ sở trên có thể hiểu biện hộ là  một quá trình hành động tích cực mà cán bộ QLTH có suy tính để giúp đỡ NB trong bệnh viện nhằm:</a:t>
            </a:r>
          </a:p>
          <a:p>
            <a:pPr marL="285750" lvl="0" indent="-285750" algn="just">
              <a:spcAft>
                <a:spcPts val="600"/>
              </a:spcAft>
              <a:buFont typeface="Wingdings" pitchFamily="2" charset="2"/>
              <a:buChar char="ü"/>
            </a:pPr>
            <a:r>
              <a:rPr lang="en-US" sz="2000" dirty="0" err="1">
                <a:solidFill>
                  <a:schemeClr val="bg1">
                    <a:lumMod val="10000"/>
                  </a:schemeClr>
                </a:solidFill>
                <a:latin typeface="+mn-lt"/>
              </a:rPr>
              <a:t>Đảm</a:t>
            </a:r>
            <a:r>
              <a:rPr lang="en-US" sz="2000" dirty="0">
                <a:solidFill>
                  <a:schemeClr val="bg1">
                    <a:lumMod val="10000"/>
                  </a:schemeClr>
                </a:solidFill>
                <a:latin typeface="+mn-lt"/>
              </a:rPr>
              <a:t> </a:t>
            </a:r>
            <a:r>
              <a:rPr lang="en-US" sz="2000" dirty="0" err="1">
                <a:solidFill>
                  <a:schemeClr val="bg1">
                    <a:lumMod val="10000"/>
                  </a:schemeClr>
                </a:solidFill>
                <a:latin typeface="+mn-lt"/>
              </a:rPr>
              <a:t>bảo</a:t>
            </a:r>
            <a:r>
              <a:rPr lang="en-US" sz="2000" dirty="0">
                <a:solidFill>
                  <a:schemeClr val="bg1">
                    <a:lumMod val="10000"/>
                  </a:schemeClr>
                </a:solidFill>
                <a:latin typeface="+mn-lt"/>
              </a:rPr>
              <a:t> </a:t>
            </a:r>
            <a:r>
              <a:rPr lang="en-US" sz="2000" dirty="0" err="1">
                <a:solidFill>
                  <a:schemeClr val="bg1">
                    <a:lumMod val="10000"/>
                  </a:schemeClr>
                </a:solidFill>
                <a:latin typeface="+mn-lt"/>
              </a:rPr>
              <a:t>những</a:t>
            </a:r>
            <a:r>
              <a:rPr lang="en-US" sz="2000" dirty="0">
                <a:solidFill>
                  <a:schemeClr val="bg1">
                    <a:lumMod val="10000"/>
                  </a:schemeClr>
                </a:solidFill>
                <a:latin typeface="+mn-lt"/>
              </a:rPr>
              <a:t> </a:t>
            </a:r>
            <a:r>
              <a:rPr lang="en-US" sz="2000" dirty="0" err="1">
                <a:solidFill>
                  <a:schemeClr val="bg1">
                    <a:lumMod val="10000"/>
                  </a:schemeClr>
                </a:solidFill>
                <a:latin typeface="+mn-lt"/>
              </a:rPr>
              <a:t>quyền</a:t>
            </a:r>
            <a:r>
              <a:rPr lang="en-US" sz="2000" dirty="0">
                <a:solidFill>
                  <a:schemeClr val="bg1">
                    <a:lumMod val="10000"/>
                  </a:schemeClr>
                </a:solidFill>
                <a:latin typeface="+mn-lt"/>
              </a:rPr>
              <a:t> </a:t>
            </a:r>
            <a:r>
              <a:rPr lang="en-US" sz="2000" dirty="0" err="1">
                <a:solidFill>
                  <a:schemeClr val="bg1">
                    <a:lumMod val="10000"/>
                  </a:schemeClr>
                </a:solidFill>
                <a:latin typeface="+mn-lt"/>
              </a:rPr>
              <a:t>lợi</a:t>
            </a:r>
            <a:r>
              <a:rPr lang="en-US" sz="2000" dirty="0">
                <a:solidFill>
                  <a:schemeClr val="bg1">
                    <a:lumMod val="10000"/>
                  </a:schemeClr>
                </a:solidFill>
                <a:latin typeface="+mn-lt"/>
              </a:rPr>
              <a:t> </a:t>
            </a:r>
            <a:r>
              <a:rPr lang="en-US" sz="2000" dirty="0" err="1">
                <a:solidFill>
                  <a:schemeClr val="bg1">
                    <a:lumMod val="10000"/>
                  </a:schemeClr>
                </a:solidFill>
                <a:latin typeface="+mn-lt"/>
              </a:rPr>
              <a:t>của</a:t>
            </a:r>
            <a:r>
              <a:rPr lang="en-US" sz="2000" dirty="0">
                <a:solidFill>
                  <a:schemeClr val="bg1">
                    <a:lumMod val="10000"/>
                  </a:schemeClr>
                </a:solidFill>
                <a:latin typeface="+mn-lt"/>
              </a:rPr>
              <a:t> NB</a:t>
            </a:r>
            <a:endParaRPr lang="en-VN" sz="2000" dirty="0">
              <a:solidFill>
                <a:schemeClr val="bg1">
                  <a:lumMod val="10000"/>
                </a:schemeClr>
              </a:solidFill>
              <a:latin typeface="+mn-lt"/>
            </a:endParaRPr>
          </a:p>
          <a:p>
            <a:pPr marL="285750" lvl="0" indent="-285750" algn="just">
              <a:spcAft>
                <a:spcPts val="1000"/>
              </a:spcAft>
              <a:buFont typeface="Wingdings" pitchFamily="2" charset="2"/>
              <a:buChar char="ü"/>
            </a:pPr>
            <a:r>
              <a:rPr lang="en-US" sz="2000" dirty="0" err="1">
                <a:solidFill>
                  <a:schemeClr val="bg1">
                    <a:lumMod val="10000"/>
                  </a:schemeClr>
                </a:solidFill>
                <a:latin typeface="+mn-lt"/>
              </a:rPr>
              <a:t>Đại</a:t>
            </a:r>
            <a:r>
              <a:rPr lang="en-US" sz="2000" dirty="0">
                <a:solidFill>
                  <a:schemeClr val="bg1">
                    <a:lumMod val="10000"/>
                  </a:schemeClr>
                </a:solidFill>
                <a:latin typeface="+mn-lt"/>
              </a:rPr>
              <a:t> </a:t>
            </a:r>
            <a:r>
              <a:rPr lang="en-US" sz="2000" dirty="0" err="1">
                <a:solidFill>
                  <a:schemeClr val="bg1">
                    <a:lumMod val="10000"/>
                  </a:schemeClr>
                </a:solidFill>
                <a:latin typeface="+mn-lt"/>
              </a:rPr>
              <a:t>diện</a:t>
            </a:r>
            <a:r>
              <a:rPr lang="en-US" sz="2000" dirty="0">
                <a:solidFill>
                  <a:schemeClr val="bg1">
                    <a:lumMod val="10000"/>
                  </a:schemeClr>
                </a:solidFill>
                <a:latin typeface="+mn-lt"/>
              </a:rPr>
              <a:t> </a:t>
            </a:r>
            <a:r>
              <a:rPr lang="en-US" sz="2000" dirty="0" err="1">
                <a:solidFill>
                  <a:schemeClr val="bg1">
                    <a:lumMod val="10000"/>
                  </a:schemeClr>
                </a:solidFill>
                <a:latin typeface="+mn-lt"/>
              </a:rPr>
              <a:t>cho</a:t>
            </a:r>
            <a:r>
              <a:rPr lang="en-US" sz="2000" dirty="0">
                <a:solidFill>
                  <a:schemeClr val="bg1">
                    <a:lumMod val="10000"/>
                  </a:schemeClr>
                </a:solidFill>
                <a:latin typeface="+mn-lt"/>
              </a:rPr>
              <a:t> </a:t>
            </a:r>
            <a:r>
              <a:rPr lang="en-US" sz="2000" dirty="0" err="1">
                <a:solidFill>
                  <a:schemeClr val="bg1">
                    <a:lumMod val="10000"/>
                  </a:schemeClr>
                </a:solidFill>
                <a:latin typeface="+mn-lt"/>
              </a:rPr>
              <a:t>lợi</a:t>
            </a:r>
            <a:r>
              <a:rPr lang="en-US" sz="2000" dirty="0">
                <a:solidFill>
                  <a:schemeClr val="bg1">
                    <a:lumMod val="10000"/>
                  </a:schemeClr>
                </a:solidFill>
                <a:latin typeface="+mn-lt"/>
              </a:rPr>
              <a:t> </a:t>
            </a:r>
            <a:r>
              <a:rPr lang="en-US" sz="2000" dirty="0" err="1">
                <a:solidFill>
                  <a:schemeClr val="bg1">
                    <a:lumMod val="10000"/>
                  </a:schemeClr>
                </a:solidFill>
                <a:latin typeface="+mn-lt"/>
              </a:rPr>
              <a:t>ích</a:t>
            </a:r>
            <a:r>
              <a:rPr lang="en-US" sz="2000" dirty="0">
                <a:solidFill>
                  <a:schemeClr val="bg1">
                    <a:lumMod val="10000"/>
                  </a:schemeClr>
                </a:solidFill>
                <a:latin typeface="+mn-lt"/>
              </a:rPr>
              <a:t> </a:t>
            </a:r>
            <a:r>
              <a:rPr lang="en-US" sz="2000" dirty="0" err="1">
                <a:solidFill>
                  <a:schemeClr val="bg1">
                    <a:lumMod val="10000"/>
                  </a:schemeClr>
                </a:solidFill>
                <a:latin typeface="+mn-lt"/>
              </a:rPr>
              <a:t>của</a:t>
            </a:r>
            <a:r>
              <a:rPr lang="en-US" sz="2000" dirty="0">
                <a:solidFill>
                  <a:schemeClr val="bg1">
                    <a:lumMod val="10000"/>
                  </a:schemeClr>
                </a:solidFill>
                <a:latin typeface="+mn-lt"/>
              </a:rPr>
              <a:t> NB</a:t>
            </a:r>
            <a:endParaRPr lang="en-VN" sz="2000" dirty="0">
              <a:solidFill>
                <a:schemeClr val="bg1">
                  <a:lumMod val="10000"/>
                </a:schemeClr>
              </a:solidFill>
              <a:latin typeface="+mn-lt"/>
            </a:endParaRPr>
          </a:p>
          <a:p>
            <a:pPr marL="285750" lvl="0" indent="-285750" algn="just">
              <a:spcAft>
                <a:spcPts val="1000"/>
              </a:spcAft>
              <a:buFont typeface="Wingdings" pitchFamily="2" charset="2"/>
              <a:buChar char="ü"/>
            </a:pPr>
            <a:r>
              <a:rPr lang="en-US" sz="2000" dirty="0" err="1">
                <a:solidFill>
                  <a:schemeClr val="bg1">
                    <a:lumMod val="10000"/>
                  </a:schemeClr>
                </a:solidFill>
                <a:latin typeface="+mn-lt"/>
              </a:rPr>
              <a:t>Tìm</a:t>
            </a:r>
            <a:r>
              <a:rPr lang="en-US" sz="2000" dirty="0">
                <a:solidFill>
                  <a:schemeClr val="bg1">
                    <a:lumMod val="10000"/>
                  </a:schemeClr>
                </a:solidFill>
                <a:latin typeface="+mn-lt"/>
              </a:rPr>
              <a:t> </a:t>
            </a:r>
            <a:r>
              <a:rPr lang="en-US" sz="2000" dirty="0" err="1">
                <a:solidFill>
                  <a:schemeClr val="bg1">
                    <a:lumMod val="10000"/>
                  </a:schemeClr>
                </a:solidFill>
                <a:latin typeface="+mn-lt"/>
              </a:rPr>
              <a:t>kiếm</a:t>
            </a:r>
            <a:r>
              <a:rPr lang="en-US" sz="2000" dirty="0">
                <a:solidFill>
                  <a:schemeClr val="bg1">
                    <a:lumMod val="10000"/>
                  </a:schemeClr>
                </a:solidFill>
                <a:latin typeface="+mn-lt"/>
              </a:rPr>
              <a:t> </a:t>
            </a:r>
            <a:r>
              <a:rPr lang="en-US" sz="2000" dirty="0" err="1">
                <a:solidFill>
                  <a:schemeClr val="bg1">
                    <a:lumMod val="10000"/>
                  </a:schemeClr>
                </a:solidFill>
                <a:latin typeface="+mn-lt"/>
              </a:rPr>
              <a:t>những</a:t>
            </a:r>
            <a:r>
              <a:rPr lang="en-US" sz="2000" dirty="0">
                <a:solidFill>
                  <a:schemeClr val="bg1">
                    <a:lumMod val="10000"/>
                  </a:schemeClr>
                </a:solidFill>
                <a:latin typeface="+mn-lt"/>
              </a:rPr>
              <a:t> </a:t>
            </a:r>
            <a:r>
              <a:rPr lang="en-US" sz="2000" dirty="0" err="1">
                <a:solidFill>
                  <a:schemeClr val="bg1">
                    <a:lumMod val="10000"/>
                  </a:schemeClr>
                </a:solidFill>
                <a:latin typeface="+mn-lt"/>
              </a:rPr>
              <a:t>dịch</a:t>
            </a:r>
            <a:r>
              <a:rPr lang="en-US" sz="2000" dirty="0">
                <a:solidFill>
                  <a:schemeClr val="bg1">
                    <a:lumMod val="10000"/>
                  </a:schemeClr>
                </a:solidFill>
                <a:latin typeface="+mn-lt"/>
              </a:rPr>
              <a:t> </a:t>
            </a:r>
            <a:r>
              <a:rPr lang="en-US" sz="2000" dirty="0" err="1">
                <a:solidFill>
                  <a:schemeClr val="bg1">
                    <a:lumMod val="10000"/>
                  </a:schemeClr>
                </a:solidFill>
                <a:latin typeface="+mn-lt"/>
              </a:rPr>
              <a:t>vụ</a:t>
            </a:r>
            <a:r>
              <a:rPr lang="en-US" sz="2000" dirty="0">
                <a:solidFill>
                  <a:schemeClr val="bg1">
                    <a:lumMod val="10000"/>
                  </a:schemeClr>
                </a:solidFill>
                <a:latin typeface="+mn-lt"/>
              </a:rPr>
              <a:t> NB </a:t>
            </a:r>
            <a:r>
              <a:rPr lang="en-US" sz="2000" dirty="0" err="1">
                <a:solidFill>
                  <a:schemeClr val="bg1">
                    <a:lumMod val="10000"/>
                  </a:schemeClr>
                </a:solidFill>
                <a:latin typeface="+mn-lt"/>
              </a:rPr>
              <a:t>cần</a:t>
            </a:r>
            <a:endParaRPr lang="en-VN" sz="2000" dirty="0">
              <a:solidFill>
                <a:schemeClr val="bg1">
                  <a:lumMod val="10000"/>
                </a:schemeClr>
              </a:solidFill>
              <a:latin typeface="+mn-lt"/>
            </a:endParaRPr>
          </a:p>
          <a:p>
            <a:pPr marL="285750" lvl="0" indent="-285750" algn="just">
              <a:spcAft>
                <a:spcPts val="1000"/>
              </a:spcAft>
              <a:buFont typeface="Wingdings" pitchFamily="2" charset="2"/>
              <a:buChar char="ü"/>
            </a:pPr>
            <a:r>
              <a:rPr lang="en-US" sz="2000" dirty="0" err="1">
                <a:solidFill>
                  <a:schemeClr val="bg1">
                    <a:lumMod val="10000"/>
                  </a:schemeClr>
                </a:solidFill>
                <a:latin typeface="+mn-lt"/>
              </a:rPr>
              <a:t>Bày</a:t>
            </a:r>
            <a:r>
              <a:rPr lang="en-US" sz="2000" dirty="0">
                <a:solidFill>
                  <a:schemeClr val="bg1">
                    <a:lumMod val="10000"/>
                  </a:schemeClr>
                </a:solidFill>
                <a:latin typeface="+mn-lt"/>
              </a:rPr>
              <a:t> </a:t>
            </a:r>
            <a:r>
              <a:rPr lang="en-US" sz="2000" dirty="0" err="1">
                <a:solidFill>
                  <a:schemeClr val="bg1">
                    <a:lumMod val="10000"/>
                  </a:schemeClr>
                </a:solidFill>
                <a:latin typeface="+mn-lt"/>
              </a:rPr>
              <a:t>tỏ</a:t>
            </a:r>
            <a:r>
              <a:rPr lang="en-US" sz="2000" dirty="0">
                <a:solidFill>
                  <a:schemeClr val="bg1">
                    <a:lumMod val="10000"/>
                  </a:schemeClr>
                </a:solidFill>
                <a:latin typeface="+mn-lt"/>
              </a:rPr>
              <a:t> </a:t>
            </a:r>
            <a:r>
              <a:rPr lang="en-US" sz="2000" dirty="0" err="1">
                <a:solidFill>
                  <a:schemeClr val="bg1">
                    <a:lumMod val="10000"/>
                  </a:schemeClr>
                </a:solidFill>
                <a:latin typeface="+mn-lt"/>
              </a:rPr>
              <a:t>quan</a:t>
            </a:r>
            <a:r>
              <a:rPr lang="en-US" sz="2000" dirty="0">
                <a:solidFill>
                  <a:schemeClr val="bg1">
                    <a:lumMod val="10000"/>
                  </a:schemeClr>
                </a:solidFill>
                <a:latin typeface="+mn-lt"/>
              </a:rPr>
              <a:t> </a:t>
            </a:r>
            <a:r>
              <a:rPr lang="en-US" sz="2000" dirty="0" err="1">
                <a:solidFill>
                  <a:schemeClr val="bg1">
                    <a:lumMod val="10000"/>
                  </a:schemeClr>
                </a:solidFill>
                <a:latin typeface="+mn-lt"/>
              </a:rPr>
              <a:t>điểm</a:t>
            </a:r>
            <a:r>
              <a:rPr lang="en-US" sz="2000" dirty="0">
                <a:solidFill>
                  <a:schemeClr val="bg1">
                    <a:lumMod val="10000"/>
                  </a:schemeClr>
                </a:solidFill>
                <a:latin typeface="+mn-lt"/>
              </a:rPr>
              <a:t> </a:t>
            </a:r>
            <a:r>
              <a:rPr lang="en-US" sz="2000" dirty="0" err="1">
                <a:solidFill>
                  <a:schemeClr val="bg1">
                    <a:lumMod val="10000"/>
                  </a:schemeClr>
                </a:solidFill>
                <a:latin typeface="+mn-lt"/>
              </a:rPr>
              <a:t>và</a:t>
            </a:r>
            <a:r>
              <a:rPr lang="en-US" sz="2000" dirty="0">
                <a:solidFill>
                  <a:schemeClr val="bg1">
                    <a:lumMod val="10000"/>
                  </a:schemeClr>
                </a:solidFill>
                <a:latin typeface="+mn-lt"/>
              </a:rPr>
              <a:t> </a:t>
            </a:r>
            <a:r>
              <a:rPr lang="en-US" sz="2000" dirty="0" err="1">
                <a:solidFill>
                  <a:schemeClr val="bg1">
                    <a:lumMod val="10000"/>
                  </a:schemeClr>
                </a:solidFill>
                <a:latin typeface="+mn-lt"/>
              </a:rPr>
              <a:t>ước</a:t>
            </a:r>
            <a:r>
              <a:rPr lang="en-US" sz="2000" dirty="0">
                <a:solidFill>
                  <a:schemeClr val="bg1">
                    <a:lumMod val="10000"/>
                  </a:schemeClr>
                </a:solidFill>
                <a:latin typeface="+mn-lt"/>
              </a:rPr>
              <a:t> </a:t>
            </a:r>
            <a:r>
              <a:rPr lang="en-US" sz="2000" dirty="0" err="1">
                <a:solidFill>
                  <a:schemeClr val="bg1">
                    <a:lumMod val="10000"/>
                  </a:schemeClr>
                </a:solidFill>
                <a:latin typeface="+mn-lt"/>
              </a:rPr>
              <a:t>vọng</a:t>
            </a:r>
            <a:r>
              <a:rPr lang="en-US" sz="2000" dirty="0">
                <a:solidFill>
                  <a:schemeClr val="bg1">
                    <a:lumMod val="10000"/>
                  </a:schemeClr>
                </a:solidFill>
                <a:latin typeface="+mn-lt"/>
              </a:rPr>
              <a:t> </a:t>
            </a:r>
            <a:r>
              <a:rPr lang="en-US" sz="2000" dirty="0" err="1">
                <a:solidFill>
                  <a:schemeClr val="bg1">
                    <a:lumMod val="10000"/>
                  </a:schemeClr>
                </a:solidFill>
                <a:latin typeface="+mn-lt"/>
              </a:rPr>
              <a:t>của</a:t>
            </a:r>
            <a:r>
              <a:rPr lang="en-US" sz="2000" dirty="0">
                <a:solidFill>
                  <a:schemeClr val="bg1">
                    <a:lumMod val="10000"/>
                  </a:schemeClr>
                </a:solidFill>
                <a:latin typeface="+mn-lt"/>
              </a:rPr>
              <a:t> NB/ </a:t>
            </a:r>
            <a:r>
              <a:rPr lang="en-US" sz="2000" dirty="0" err="1">
                <a:solidFill>
                  <a:schemeClr val="bg1">
                    <a:lumMod val="10000"/>
                  </a:schemeClr>
                </a:solidFill>
                <a:latin typeface="+mn-lt"/>
              </a:rPr>
              <a:t>gia</a:t>
            </a:r>
            <a:r>
              <a:rPr lang="en-US" sz="2000" dirty="0">
                <a:solidFill>
                  <a:schemeClr val="bg1">
                    <a:lumMod val="10000"/>
                  </a:schemeClr>
                </a:solidFill>
                <a:latin typeface="+mn-lt"/>
              </a:rPr>
              <a:t> </a:t>
            </a:r>
            <a:r>
              <a:rPr lang="en-US" sz="2000" dirty="0" err="1">
                <a:solidFill>
                  <a:schemeClr val="bg1">
                    <a:lumMod val="10000"/>
                  </a:schemeClr>
                </a:solidFill>
                <a:latin typeface="+mn-lt"/>
              </a:rPr>
              <a:t>đình</a:t>
            </a:r>
            <a:r>
              <a:rPr lang="en-US" sz="2000" dirty="0">
                <a:solidFill>
                  <a:schemeClr val="bg1">
                    <a:lumMod val="10000"/>
                  </a:schemeClr>
                </a:solidFill>
                <a:latin typeface="+mn-lt"/>
              </a:rPr>
              <a:t> NB.</a:t>
            </a:r>
            <a:endParaRPr lang="en-VN" sz="2000" dirty="0">
              <a:solidFill>
                <a:schemeClr val="bg1">
                  <a:lumMod val="10000"/>
                </a:schemeClr>
              </a:solidFill>
              <a:latin typeface="+mn-lt"/>
            </a:endParaRPr>
          </a:p>
          <a:p>
            <a:pPr marL="177800" indent="0">
              <a:buNone/>
            </a:pPr>
            <a:endParaRPr lang="vi-VN" sz="2000" dirty="0">
              <a:solidFill>
                <a:schemeClr val="bg1">
                  <a:lumMod val="10000"/>
                </a:schemeClr>
              </a:solidFill>
              <a:latin typeface="+mn-lt"/>
            </a:endParaRPr>
          </a:p>
          <a:p>
            <a:pPr marL="177800" indent="0">
              <a:buNone/>
            </a:pPr>
            <a:endParaRPr lang="vi-VN" sz="2000" dirty="0">
              <a:solidFill>
                <a:schemeClr val="bg1">
                  <a:lumMod val="10000"/>
                </a:schemeClr>
              </a:solidFill>
              <a:latin typeface="+mn-lt"/>
            </a:endParaRPr>
          </a:p>
          <a:p>
            <a:endParaRPr lang="en-VN" sz="2000" dirty="0">
              <a:solidFill>
                <a:schemeClr val="bg1">
                  <a:lumMod val="10000"/>
                </a:schemeClr>
              </a:solidFill>
              <a:latin typeface="+mn-lt"/>
            </a:endParaRPr>
          </a:p>
        </p:txBody>
      </p:sp>
    </p:spTree>
    <p:extLst>
      <p:ext uri="{BB962C8B-B14F-4D97-AF65-F5344CB8AC3E}">
        <p14:creationId xmlns:p14="http://schemas.microsoft.com/office/powerpoint/2010/main" val="14387841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600" smtClean="0">
                <a:solidFill>
                  <a:schemeClr val="bg1">
                    <a:lumMod val="10000"/>
                  </a:schemeClr>
                </a:solidFill>
                <a:latin typeface="+mn-lt"/>
              </a:rPr>
              <a:t>41</a:t>
            </a:fld>
            <a:endParaRPr lang="en" sz="1600">
              <a:solidFill>
                <a:schemeClr val="bg1">
                  <a:lumMod val="10000"/>
                </a:schemeClr>
              </a:solidFill>
              <a:latin typeface="+mn-lt"/>
            </a:endParaRPr>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sz="1600" dirty="0">
                <a:solidFill>
                  <a:schemeClr val="bg1">
                    <a:lumMod val="10000"/>
                  </a:schemeClr>
                </a:solidFill>
                <a:latin typeface="+mn-lt"/>
              </a:rPr>
              <a:t>Ý nghĩa và nguyên tắc thực hiện</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p:txBody>
          <a:bodyPr/>
          <a:lstStyle/>
          <a:p>
            <a:pPr marL="177800" indent="0">
              <a:buNone/>
            </a:pPr>
            <a:r>
              <a:rPr lang="en-VN" sz="1600" b="1" dirty="0">
                <a:solidFill>
                  <a:schemeClr val="bg1">
                    <a:lumMod val="10000"/>
                  </a:schemeClr>
                </a:solidFill>
                <a:latin typeface="+mn-lt"/>
              </a:rPr>
              <a:t>Ý nghĩa</a:t>
            </a:r>
          </a:p>
          <a:p>
            <a:r>
              <a:rPr lang="vi-VN" sz="1600" dirty="0">
                <a:solidFill>
                  <a:schemeClr val="bg1">
                    <a:lumMod val="10000"/>
                  </a:schemeClr>
                </a:solidFill>
                <a:latin typeface="+mn-lt"/>
              </a:rPr>
              <a:t>Biện hộ là một vai trò quan trọng của cán bộ QLTH trong việc bảo vệ quyền lợi của NB, từ đó thúc đẩy phúc lợi của họ. Bằng cách lên tiếng/ nói hộ  cho NB trong suốt quá trình làm việc, giúp thân chủ đạt được quyền lợi chính đáng và phát triển khả năng tự biện hộ một cách hiệu quả.</a:t>
            </a:r>
            <a:r>
              <a:rPr lang="en-VN" sz="1600" dirty="0">
                <a:solidFill>
                  <a:schemeClr val="bg1">
                    <a:lumMod val="10000"/>
                  </a:schemeClr>
                </a:solidFill>
                <a:latin typeface="+mn-lt"/>
              </a:rPr>
              <a:t> </a:t>
            </a:r>
          </a:p>
          <a:p>
            <a:r>
              <a:rPr lang="vi-VN" sz="1600" dirty="0">
                <a:solidFill>
                  <a:schemeClr val="bg1">
                    <a:lumMod val="10000"/>
                  </a:schemeClr>
                </a:solidFill>
                <a:latin typeface="+mn-lt"/>
              </a:rPr>
              <a:t>Mục đích cuối cùng của việc biện hộ cho NB là nâng cao năng lực cho NB/ gia đình để họ có thể thực hiện được việc tự biện hộ cho bản thân trong tương lai. Giúp nâng cao nhận thức về quyền và kỹ năng giao tiếp với các cơ quan chức năng, cơ quan trợ giúp cho thân chủ là điều cần thiết trong quá trình biện hộ. Cán bộ QLTH không tập trung vào việc “làm thay” cho NB, mà tập trung vào việc “trao quyền” cho NB/ gia đình NB nhiều hơn.</a:t>
            </a:r>
            <a:endParaRPr lang="en-VN" sz="1600" dirty="0">
              <a:solidFill>
                <a:schemeClr val="bg1">
                  <a:lumMod val="10000"/>
                </a:schemeClr>
              </a:solidFill>
              <a:latin typeface="+mn-lt"/>
            </a:endParaRPr>
          </a:p>
          <a:p>
            <a:endParaRPr lang="en-VN" sz="1600" dirty="0">
              <a:solidFill>
                <a:schemeClr val="bg1">
                  <a:lumMod val="10000"/>
                </a:schemeClr>
              </a:solidFill>
              <a:latin typeface="+mn-lt"/>
            </a:endParaRPr>
          </a:p>
        </p:txBody>
      </p:sp>
    </p:spTree>
    <p:extLst>
      <p:ext uri="{BB962C8B-B14F-4D97-AF65-F5344CB8AC3E}">
        <p14:creationId xmlns:p14="http://schemas.microsoft.com/office/powerpoint/2010/main" val="2409630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solidFill>
                  <a:schemeClr val="bg1">
                    <a:lumMod val="10000"/>
                  </a:schemeClr>
                </a:solidFill>
                <a:latin typeface="+mn-lt"/>
              </a:rPr>
              <a:t>42</a:t>
            </a:fld>
            <a:endParaRPr lang="en">
              <a:solidFill>
                <a:schemeClr val="bg1">
                  <a:lumMod val="10000"/>
                </a:schemeClr>
              </a:solidFill>
              <a:latin typeface="+mn-lt"/>
            </a:endParaRPr>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dirty="0">
                <a:solidFill>
                  <a:schemeClr val="bg1">
                    <a:lumMod val="10000"/>
                  </a:schemeClr>
                </a:solidFill>
                <a:latin typeface="+mn-lt"/>
              </a:rPr>
              <a:t>Ý nghĩa và nguyên tắc thực hiện</a:t>
            </a: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330386" y="1490472"/>
            <a:ext cx="8255830" cy="3151725"/>
          </a:xfrm>
        </p:spPr>
        <p:txBody>
          <a:bodyPr/>
          <a:lstStyle/>
          <a:p>
            <a:pPr marL="177800" indent="0">
              <a:buNone/>
            </a:pPr>
            <a:r>
              <a:rPr lang="en-VN" sz="1600" b="1" dirty="0">
                <a:solidFill>
                  <a:schemeClr val="bg1">
                    <a:lumMod val="10000"/>
                  </a:schemeClr>
                </a:solidFill>
                <a:latin typeface="+mn-lt"/>
              </a:rPr>
              <a:t>Nguyên tắc</a:t>
            </a:r>
          </a:p>
          <a:p>
            <a:pPr marL="177800" indent="0">
              <a:buNone/>
            </a:pPr>
            <a:r>
              <a:rPr lang="en-US" sz="1600" i="1" dirty="0">
                <a:solidFill>
                  <a:schemeClr val="bg1">
                    <a:lumMod val="10000"/>
                  </a:schemeClr>
                </a:solidFill>
                <a:latin typeface="+mn-lt"/>
              </a:rPr>
              <a:t>- </a:t>
            </a:r>
            <a:r>
              <a:rPr lang="en-US" sz="1600" b="1" i="1" dirty="0" err="1">
                <a:solidFill>
                  <a:schemeClr val="bg1">
                    <a:lumMod val="10000"/>
                  </a:schemeClr>
                </a:solidFill>
                <a:latin typeface="+mn-lt"/>
              </a:rPr>
              <a:t>Đảm</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bảo</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sự</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bình</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đẳng</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và</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công</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bằng</a:t>
            </a:r>
            <a:r>
              <a:rPr lang="en-US" sz="1600" i="1" dirty="0">
                <a:solidFill>
                  <a:schemeClr val="bg1">
                    <a:lumMod val="10000"/>
                  </a:schemeClr>
                </a:solidFill>
                <a:latin typeface="+mn-lt"/>
              </a:rPr>
              <a:t>: </a:t>
            </a:r>
            <a:r>
              <a:rPr lang="en-US" sz="1600" dirty="0" err="1">
                <a:solidFill>
                  <a:schemeClr val="bg1">
                    <a:lumMod val="10000"/>
                  </a:schemeClr>
                </a:solidFill>
                <a:latin typeface="+mn-lt"/>
              </a:rPr>
              <a:t>là</a:t>
            </a:r>
            <a:r>
              <a:rPr lang="en-US" sz="1600" dirty="0">
                <a:solidFill>
                  <a:schemeClr val="bg1">
                    <a:lumMod val="10000"/>
                  </a:schemeClr>
                </a:solidFill>
                <a:latin typeface="+mn-lt"/>
              </a:rPr>
              <a:t> </a:t>
            </a:r>
            <a:r>
              <a:rPr lang="en-US" sz="1600" dirty="0" err="1">
                <a:solidFill>
                  <a:schemeClr val="bg1">
                    <a:lumMod val="10000"/>
                  </a:schemeClr>
                </a:solidFill>
                <a:latin typeface="+mn-lt"/>
              </a:rPr>
              <a:t>mục</a:t>
            </a:r>
            <a:r>
              <a:rPr lang="en-US" sz="1600" dirty="0">
                <a:solidFill>
                  <a:schemeClr val="bg1">
                    <a:lumMod val="10000"/>
                  </a:schemeClr>
                </a:solidFill>
                <a:latin typeface="+mn-lt"/>
              </a:rPr>
              <a:t> </a:t>
            </a:r>
            <a:r>
              <a:rPr lang="en-US" sz="1600" dirty="0" err="1">
                <a:solidFill>
                  <a:schemeClr val="bg1">
                    <a:lumMod val="10000"/>
                  </a:schemeClr>
                </a:solidFill>
                <a:latin typeface="+mn-lt"/>
              </a:rPr>
              <a:t>tiêu</a:t>
            </a:r>
            <a:r>
              <a:rPr lang="en-US" sz="1600" dirty="0">
                <a:solidFill>
                  <a:schemeClr val="bg1">
                    <a:lumMod val="10000"/>
                  </a:schemeClr>
                </a:solidFill>
                <a:latin typeface="+mn-lt"/>
              </a:rPr>
              <a:t> </a:t>
            </a:r>
            <a:r>
              <a:rPr lang="en-US" sz="1600" dirty="0" err="1">
                <a:solidFill>
                  <a:schemeClr val="bg1">
                    <a:lumMod val="10000"/>
                  </a:schemeClr>
                </a:solidFill>
                <a:latin typeface="+mn-lt"/>
              </a:rPr>
              <a:t>quan</a:t>
            </a:r>
            <a:r>
              <a:rPr lang="en-US" sz="1600" dirty="0">
                <a:solidFill>
                  <a:schemeClr val="bg1">
                    <a:lumMod val="10000"/>
                  </a:schemeClr>
                </a:solidFill>
                <a:latin typeface="+mn-lt"/>
              </a:rPr>
              <a:t> </a:t>
            </a:r>
            <a:r>
              <a:rPr lang="en-US" sz="1600" dirty="0" err="1">
                <a:solidFill>
                  <a:schemeClr val="bg1">
                    <a:lumMod val="10000"/>
                  </a:schemeClr>
                </a:solidFill>
                <a:latin typeface="+mn-lt"/>
              </a:rPr>
              <a:t>trọng</a:t>
            </a:r>
            <a:r>
              <a:rPr lang="en-US" sz="1600" dirty="0">
                <a:solidFill>
                  <a:schemeClr val="bg1">
                    <a:lumMod val="10000"/>
                  </a:schemeClr>
                </a:solidFill>
                <a:latin typeface="+mn-lt"/>
              </a:rPr>
              <a:t> </a:t>
            </a:r>
            <a:r>
              <a:rPr lang="en-US" sz="1600" dirty="0" err="1">
                <a:solidFill>
                  <a:schemeClr val="bg1">
                    <a:lumMod val="10000"/>
                  </a:schemeClr>
                </a:solidFill>
                <a:latin typeface="+mn-lt"/>
              </a:rPr>
              <a:t>của</a:t>
            </a:r>
            <a:r>
              <a:rPr lang="en-US" sz="1600" dirty="0">
                <a:solidFill>
                  <a:schemeClr val="bg1">
                    <a:lumMod val="10000"/>
                  </a:schemeClr>
                </a:solidFill>
                <a:latin typeface="+mn-lt"/>
              </a:rPr>
              <a:t> </a:t>
            </a:r>
            <a:r>
              <a:rPr lang="en-US" sz="1600" dirty="0" err="1">
                <a:solidFill>
                  <a:schemeClr val="bg1">
                    <a:lumMod val="10000"/>
                  </a:schemeClr>
                </a:solidFill>
                <a:latin typeface="+mn-lt"/>
              </a:rPr>
              <a:t>biện</a:t>
            </a:r>
            <a:r>
              <a:rPr lang="en-US" sz="1600" dirty="0">
                <a:solidFill>
                  <a:schemeClr val="bg1">
                    <a:lumMod val="10000"/>
                  </a:schemeClr>
                </a:solidFill>
                <a:latin typeface="+mn-lt"/>
              </a:rPr>
              <a:t> </a:t>
            </a:r>
            <a:r>
              <a:rPr lang="en-US" sz="1600" dirty="0" err="1">
                <a:solidFill>
                  <a:schemeClr val="bg1">
                    <a:lumMod val="10000"/>
                  </a:schemeClr>
                </a:solidFill>
                <a:latin typeface="+mn-lt"/>
              </a:rPr>
              <a:t>hộ</a:t>
            </a:r>
            <a:r>
              <a:rPr lang="en-US" sz="1600" dirty="0">
                <a:solidFill>
                  <a:schemeClr val="bg1">
                    <a:lumMod val="10000"/>
                  </a:schemeClr>
                </a:solidFill>
                <a:latin typeface="+mn-lt"/>
              </a:rPr>
              <a:t>, </a:t>
            </a:r>
            <a:r>
              <a:rPr lang="en-US" sz="1600" dirty="0" err="1">
                <a:solidFill>
                  <a:schemeClr val="bg1">
                    <a:lumMod val="10000"/>
                  </a:schemeClr>
                </a:solidFill>
                <a:latin typeface="+mn-lt"/>
              </a:rPr>
              <a:t>cán</a:t>
            </a:r>
            <a:r>
              <a:rPr lang="en-US" sz="1600" dirty="0">
                <a:solidFill>
                  <a:schemeClr val="bg1">
                    <a:lumMod val="10000"/>
                  </a:schemeClr>
                </a:solidFill>
                <a:latin typeface="+mn-lt"/>
              </a:rPr>
              <a:t> </a:t>
            </a:r>
            <a:r>
              <a:rPr lang="en-US" sz="1600" dirty="0" err="1">
                <a:solidFill>
                  <a:schemeClr val="bg1">
                    <a:lumMod val="10000"/>
                  </a:schemeClr>
                </a:solidFill>
                <a:latin typeface="+mn-lt"/>
              </a:rPr>
              <a:t>bộ</a:t>
            </a:r>
            <a:r>
              <a:rPr lang="en-US" sz="1600" dirty="0">
                <a:solidFill>
                  <a:schemeClr val="bg1">
                    <a:lumMod val="10000"/>
                  </a:schemeClr>
                </a:solidFill>
                <a:latin typeface="+mn-lt"/>
              </a:rPr>
              <a:t> QLTH </a:t>
            </a:r>
            <a:r>
              <a:rPr lang="en-US" sz="1600" dirty="0" err="1">
                <a:solidFill>
                  <a:schemeClr val="bg1">
                    <a:lumMod val="10000"/>
                  </a:schemeClr>
                </a:solidFill>
                <a:latin typeface="+mn-lt"/>
              </a:rPr>
              <a:t>cần</a:t>
            </a:r>
            <a:r>
              <a:rPr lang="en-US" sz="1600" dirty="0">
                <a:solidFill>
                  <a:schemeClr val="bg1">
                    <a:lumMod val="10000"/>
                  </a:schemeClr>
                </a:solidFill>
                <a:latin typeface="+mn-lt"/>
              </a:rPr>
              <a:t> </a:t>
            </a:r>
            <a:r>
              <a:rPr lang="en-US" sz="1600" dirty="0" err="1">
                <a:solidFill>
                  <a:schemeClr val="bg1">
                    <a:lumMod val="10000"/>
                  </a:schemeClr>
                </a:solidFill>
                <a:latin typeface="+mn-lt"/>
              </a:rPr>
              <a:t>chú</a:t>
            </a:r>
            <a:r>
              <a:rPr lang="en-US" sz="1600" dirty="0">
                <a:solidFill>
                  <a:schemeClr val="bg1">
                    <a:lumMod val="10000"/>
                  </a:schemeClr>
                </a:solidFill>
                <a:latin typeface="+mn-lt"/>
              </a:rPr>
              <a:t> </a:t>
            </a:r>
            <a:r>
              <a:rPr lang="en-US" sz="1600" dirty="0" err="1">
                <a:solidFill>
                  <a:schemeClr val="bg1">
                    <a:lumMod val="10000"/>
                  </a:schemeClr>
                </a:solidFill>
                <a:latin typeface="+mn-lt"/>
              </a:rPr>
              <a:t>ý</a:t>
            </a:r>
            <a:r>
              <a:rPr lang="en-US" sz="1600" dirty="0">
                <a:solidFill>
                  <a:schemeClr val="bg1">
                    <a:lumMod val="10000"/>
                  </a:schemeClr>
                </a:solidFill>
                <a:latin typeface="+mn-lt"/>
              </a:rPr>
              <a:t> </a:t>
            </a:r>
            <a:r>
              <a:rPr lang="en-US" sz="1600" dirty="0" err="1">
                <a:solidFill>
                  <a:schemeClr val="bg1">
                    <a:lumMod val="10000"/>
                  </a:schemeClr>
                </a:solidFill>
                <a:latin typeface="+mn-lt"/>
              </a:rPr>
              <a:t>để</a:t>
            </a:r>
            <a:r>
              <a:rPr lang="en-US" sz="1600" dirty="0">
                <a:solidFill>
                  <a:schemeClr val="bg1">
                    <a:lumMod val="10000"/>
                  </a:schemeClr>
                </a:solidFill>
                <a:latin typeface="+mn-lt"/>
              </a:rPr>
              <a:t> </a:t>
            </a:r>
            <a:r>
              <a:rPr lang="en-US" sz="1600" dirty="0" err="1">
                <a:solidFill>
                  <a:schemeClr val="bg1">
                    <a:lumMod val="10000"/>
                  </a:schemeClr>
                </a:solidFill>
                <a:latin typeface="+mn-lt"/>
              </a:rPr>
              <a:t>hành</a:t>
            </a:r>
            <a:r>
              <a:rPr lang="en-US" sz="1600" dirty="0">
                <a:solidFill>
                  <a:schemeClr val="bg1">
                    <a:lumMod val="10000"/>
                  </a:schemeClr>
                </a:solidFill>
                <a:latin typeface="+mn-lt"/>
              </a:rPr>
              <a:t> </a:t>
            </a:r>
            <a:r>
              <a:rPr lang="en-US" sz="1600" dirty="0" err="1">
                <a:solidFill>
                  <a:schemeClr val="bg1">
                    <a:lumMod val="10000"/>
                  </a:schemeClr>
                </a:solidFill>
                <a:latin typeface="+mn-lt"/>
              </a:rPr>
              <a:t>động</a:t>
            </a:r>
            <a:r>
              <a:rPr lang="en-US" sz="1600" dirty="0">
                <a:solidFill>
                  <a:schemeClr val="bg1">
                    <a:lumMod val="10000"/>
                  </a:schemeClr>
                </a:solidFill>
                <a:latin typeface="+mn-lt"/>
              </a:rPr>
              <a:t> </a:t>
            </a:r>
            <a:r>
              <a:rPr lang="en-US" sz="1600" dirty="0" err="1">
                <a:solidFill>
                  <a:schemeClr val="bg1">
                    <a:lumMod val="10000"/>
                  </a:schemeClr>
                </a:solidFill>
                <a:latin typeface="+mn-lt"/>
              </a:rPr>
              <a:t>để</a:t>
            </a:r>
            <a:r>
              <a:rPr lang="en-US" sz="1600" dirty="0">
                <a:solidFill>
                  <a:schemeClr val="bg1">
                    <a:lumMod val="10000"/>
                  </a:schemeClr>
                </a:solidFill>
                <a:latin typeface="+mn-lt"/>
              </a:rPr>
              <a:t> </a:t>
            </a:r>
            <a:r>
              <a:rPr lang="en-US" sz="1600" dirty="0" err="1">
                <a:solidFill>
                  <a:schemeClr val="bg1">
                    <a:lumMod val="10000"/>
                  </a:schemeClr>
                </a:solidFill>
                <a:latin typeface="+mn-lt"/>
              </a:rPr>
              <a:t>hướng</a:t>
            </a:r>
            <a:r>
              <a:rPr lang="en-US" sz="1600" dirty="0">
                <a:solidFill>
                  <a:schemeClr val="bg1">
                    <a:lumMod val="10000"/>
                  </a:schemeClr>
                </a:solidFill>
                <a:latin typeface="+mn-lt"/>
              </a:rPr>
              <a:t> </a:t>
            </a:r>
            <a:r>
              <a:rPr lang="en-US" sz="1600" dirty="0" err="1">
                <a:solidFill>
                  <a:schemeClr val="bg1">
                    <a:lumMod val="10000"/>
                  </a:schemeClr>
                </a:solidFill>
                <a:latin typeface="+mn-lt"/>
              </a:rPr>
              <a:t>tới</a:t>
            </a:r>
            <a:r>
              <a:rPr lang="en-US" sz="1600" dirty="0">
                <a:solidFill>
                  <a:schemeClr val="bg1">
                    <a:lumMod val="10000"/>
                  </a:schemeClr>
                </a:solidFill>
                <a:latin typeface="+mn-lt"/>
              </a:rPr>
              <a:t> </a:t>
            </a:r>
            <a:r>
              <a:rPr lang="en-US" sz="1600" dirty="0" err="1">
                <a:solidFill>
                  <a:schemeClr val="bg1">
                    <a:lumMod val="10000"/>
                  </a:schemeClr>
                </a:solidFill>
                <a:latin typeface="+mn-lt"/>
              </a:rPr>
              <a:t>bảo</a:t>
            </a:r>
            <a:r>
              <a:rPr lang="en-US" sz="1600" dirty="0">
                <a:solidFill>
                  <a:schemeClr val="bg1">
                    <a:lumMod val="10000"/>
                  </a:schemeClr>
                </a:solidFill>
                <a:latin typeface="+mn-lt"/>
              </a:rPr>
              <a:t> </a:t>
            </a:r>
            <a:r>
              <a:rPr lang="en-US" sz="1600" dirty="0" err="1">
                <a:solidFill>
                  <a:schemeClr val="bg1">
                    <a:lumMod val="10000"/>
                  </a:schemeClr>
                </a:solidFill>
                <a:latin typeface="+mn-lt"/>
              </a:rPr>
              <a:t>vệ</a:t>
            </a:r>
            <a:r>
              <a:rPr lang="en-US" sz="1600" dirty="0">
                <a:solidFill>
                  <a:schemeClr val="bg1">
                    <a:lumMod val="10000"/>
                  </a:schemeClr>
                </a:solidFill>
                <a:latin typeface="+mn-lt"/>
              </a:rPr>
              <a:t> </a:t>
            </a:r>
            <a:r>
              <a:rPr lang="en-US" sz="1600" dirty="0" err="1">
                <a:solidFill>
                  <a:schemeClr val="bg1">
                    <a:lumMod val="10000"/>
                  </a:schemeClr>
                </a:solidFill>
                <a:latin typeface="+mn-lt"/>
              </a:rPr>
              <a:t>quyền</a:t>
            </a:r>
            <a:r>
              <a:rPr lang="en-US" sz="1600" dirty="0">
                <a:solidFill>
                  <a:schemeClr val="bg1">
                    <a:lumMod val="10000"/>
                  </a:schemeClr>
                </a:solidFill>
                <a:latin typeface="+mn-lt"/>
              </a:rPr>
              <a:t> </a:t>
            </a:r>
            <a:r>
              <a:rPr lang="en-US" sz="1600" dirty="0" err="1">
                <a:solidFill>
                  <a:schemeClr val="bg1">
                    <a:lumMod val="10000"/>
                  </a:schemeClr>
                </a:solidFill>
                <a:latin typeface="+mn-lt"/>
              </a:rPr>
              <a:t>lợi</a:t>
            </a:r>
            <a:r>
              <a:rPr lang="en-US" sz="1600" dirty="0">
                <a:solidFill>
                  <a:schemeClr val="bg1">
                    <a:lumMod val="10000"/>
                  </a:schemeClr>
                </a:solidFill>
                <a:latin typeface="+mn-lt"/>
              </a:rPr>
              <a:t> </a:t>
            </a:r>
            <a:r>
              <a:rPr lang="en-US" sz="1600" dirty="0" err="1">
                <a:solidFill>
                  <a:schemeClr val="bg1">
                    <a:lumMod val="10000"/>
                  </a:schemeClr>
                </a:solidFill>
                <a:latin typeface="+mn-lt"/>
              </a:rPr>
              <a:t>của</a:t>
            </a:r>
            <a:r>
              <a:rPr lang="en-US" sz="1600" dirty="0">
                <a:solidFill>
                  <a:schemeClr val="bg1">
                    <a:lumMod val="10000"/>
                  </a:schemeClr>
                </a:solidFill>
                <a:latin typeface="+mn-lt"/>
              </a:rPr>
              <a:t> NB, </a:t>
            </a:r>
            <a:r>
              <a:rPr lang="en-US" sz="1600" dirty="0" err="1">
                <a:solidFill>
                  <a:schemeClr val="bg1">
                    <a:lumMod val="10000"/>
                  </a:schemeClr>
                </a:solidFill>
                <a:latin typeface="+mn-lt"/>
              </a:rPr>
              <a:t>giúp</a:t>
            </a:r>
            <a:r>
              <a:rPr lang="en-US" sz="1600" dirty="0">
                <a:solidFill>
                  <a:schemeClr val="bg1">
                    <a:lumMod val="10000"/>
                  </a:schemeClr>
                </a:solidFill>
                <a:latin typeface="+mn-lt"/>
              </a:rPr>
              <a:t> </a:t>
            </a:r>
            <a:r>
              <a:rPr lang="en-US" sz="1600" dirty="0" err="1">
                <a:solidFill>
                  <a:schemeClr val="bg1">
                    <a:lumMod val="10000"/>
                  </a:schemeClr>
                </a:solidFill>
                <a:latin typeface="+mn-lt"/>
              </a:rPr>
              <a:t>họ</a:t>
            </a:r>
            <a:r>
              <a:rPr lang="en-US" sz="1600" dirty="0">
                <a:solidFill>
                  <a:schemeClr val="bg1">
                    <a:lumMod val="10000"/>
                  </a:schemeClr>
                </a:solidFill>
                <a:latin typeface="+mn-lt"/>
              </a:rPr>
              <a:t> </a:t>
            </a:r>
            <a:r>
              <a:rPr lang="en-US" sz="1600" dirty="0" err="1">
                <a:solidFill>
                  <a:schemeClr val="bg1">
                    <a:lumMod val="10000"/>
                  </a:schemeClr>
                </a:solidFill>
                <a:latin typeface="+mn-lt"/>
              </a:rPr>
              <a:t>tiếp</a:t>
            </a:r>
            <a:r>
              <a:rPr lang="en-US" sz="1600" dirty="0">
                <a:solidFill>
                  <a:schemeClr val="bg1">
                    <a:lumMod val="10000"/>
                  </a:schemeClr>
                </a:solidFill>
                <a:latin typeface="+mn-lt"/>
              </a:rPr>
              <a:t> </a:t>
            </a:r>
            <a:r>
              <a:rPr lang="en-US" sz="1600" dirty="0" err="1">
                <a:solidFill>
                  <a:schemeClr val="bg1">
                    <a:lumMod val="10000"/>
                  </a:schemeClr>
                </a:solidFill>
                <a:latin typeface="+mn-lt"/>
              </a:rPr>
              <a:t>nhận</a:t>
            </a:r>
            <a:r>
              <a:rPr lang="en-US" sz="1600" dirty="0">
                <a:solidFill>
                  <a:schemeClr val="bg1">
                    <a:lumMod val="10000"/>
                  </a:schemeClr>
                </a:solidFill>
                <a:latin typeface="+mn-lt"/>
              </a:rPr>
              <a:t> </a:t>
            </a:r>
            <a:r>
              <a:rPr lang="en-US" sz="1600" dirty="0" err="1">
                <a:solidFill>
                  <a:schemeClr val="bg1">
                    <a:lumMod val="10000"/>
                  </a:schemeClr>
                </a:solidFill>
                <a:latin typeface="+mn-lt"/>
              </a:rPr>
              <a:t>được</a:t>
            </a:r>
            <a:r>
              <a:rPr lang="en-US" sz="1600" dirty="0">
                <a:solidFill>
                  <a:schemeClr val="bg1">
                    <a:lumMod val="10000"/>
                  </a:schemeClr>
                </a:solidFill>
                <a:latin typeface="+mn-lt"/>
              </a:rPr>
              <a:t> </a:t>
            </a:r>
            <a:r>
              <a:rPr lang="en-US" sz="1600" dirty="0" err="1">
                <a:solidFill>
                  <a:schemeClr val="bg1">
                    <a:lumMod val="10000"/>
                  </a:schemeClr>
                </a:solidFill>
                <a:latin typeface="+mn-lt"/>
              </a:rPr>
              <a:t>các</a:t>
            </a:r>
            <a:r>
              <a:rPr lang="en-US" sz="1600" dirty="0">
                <a:solidFill>
                  <a:schemeClr val="bg1">
                    <a:lumMod val="10000"/>
                  </a:schemeClr>
                </a:solidFill>
                <a:latin typeface="+mn-lt"/>
              </a:rPr>
              <a:t> </a:t>
            </a:r>
            <a:r>
              <a:rPr lang="en-US" sz="1600" dirty="0" err="1">
                <a:solidFill>
                  <a:schemeClr val="bg1">
                    <a:lumMod val="10000"/>
                  </a:schemeClr>
                </a:solidFill>
                <a:latin typeface="+mn-lt"/>
              </a:rPr>
              <a:t>nguồn</a:t>
            </a:r>
            <a:r>
              <a:rPr lang="en-US" sz="1600" dirty="0">
                <a:solidFill>
                  <a:schemeClr val="bg1">
                    <a:lumMod val="10000"/>
                  </a:schemeClr>
                </a:solidFill>
                <a:latin typeface="+mn-lt"/>
              </a:rPr>
              <a:t> </a:t>
            </a:r>
            <a:r>
              <a:rPr lang="en-US" sz="1600" dirty="0" err="1">
                <a:solidFill>
                  <a:schemeClr val="bg1">
                    <a:lumMod val="10000"/>
                  </a:schemeClr>
                </a:solidFill>
                <a:latin typeface="+mn-lt"/>
              </a:rPr>
              <a:t>lực</a:t>
            </a:r>
            <a:r>
              <a:rPr lang="en-US" sz="1600" dirty="0">
                <a:solidFill>
                  <a:schemeClr val="bg1">
                    <a:lumMod val="10000"/>
                  </a:schemeClr>
                </a:solidFill>
                <a:latin typeface="+mn-lt"/>
              </a:rPr>
              <a:t> </a:t>
            </a:r>
            <a:r>
              <a:rPr lang="en-US" sz="1600" dirty="0" err="1">
                <a:solidFill>
                  <a:schemeClr val="bg1">
                    <a:lumMod val="10000"/>
                  </a:schemeClr>
                </a:solidFill>
                <a:latin typeface="+mn-lt"/>
              </a:rPr>
              <a:t>mà</a:t>
            </a:r>
            <a:r>
              <a:rPr lang="en-US" sz="1600" dirty="0">
                <a:solidFill>
                  <a:schemeClr val="bg1">
                    <a:lumMod val="10000"/>
                  </a:schemeClr>
                </a:solidFill>
                <a:latin typeface="+mn-lt"/>
              </a:rPr>
              <a:t> </a:t>
            </a:r>
            <a:r>
              <a:rPr lang="en-US" sz="1600" dirty="0" err="1">
                <a:solidFill>
                  <a:schemeClr val="bg1">
                    <a:lumMod val="10000"/>
                  </a:schemeClr>
                </a:solidFill>
                <a:latin typeface="+mn-lt"/>
              </a:rPr>
              <a:t>lẽ</a:t>
            </a:r>
            <a:r>
              <a:rPr lang="en-US" sz="1600" dirty="0">
                <a:solidFill>
                  <a:schemeClr val="bg1">
                    <a:lumMod val="10000"/>
                  </a:schemeClr>
                </a:solidFill>
                <a:latin typeface="+mn-lt"/>
              </a:rPr>
              <a:t> </a:t>
            </a:r>
            <a:r>
              <a:rPr lang="en-US" sz="1600" dirty="0" err="1">
                <a:solidFill>
                  <a:schemeClr val="bg1">
                    <a:lumMod val="10000"/>
                  </a:schemeClr>
                </a:solidFill>
                <a:latin typeface="+mn-lt"/>
              </a:rPr>
              <a:t>ra</a:t>
            </a:r>
            <a:r>
              <a:rPr lang="en-US" sz="1600" dirty="0">
                <a:solidFill>
                  <a:schemeClr val="bg1">
                    <a:lumMod val="10000"/>
                  </a:schemeClr>
                </a:solidFill>
                <a:latin typeface="+mn-lt"/>
              </a:rPr>
              <a:t> </a:t>
            </a:r>
            <a:r>
              <a:rPr lang="en-US" sz="1600" dirty="0" err="1">
                <a:solidFill>
                  <a:schemeClr val="bg1">
                    <a:lumMod val="10000"/>
                  </a:schemeClr>
                </a:solidFill>
                <a:latin typeface="+mn-lt"/>
              </a:rPr>
              <a:t>họ</a:t>
            </a:r>
            <a:r>
              <a:rPr lang="en-US" sz="1600" dirty="0">
                <a:solidFill>
                  <a:schemeClr val="bg1">
                    <a:lumMod val="10000"/>
                  </a:schemeClr>
                </a:solidFill>
                <a:latin typeface="+mn-lt"/>
              </a:rPr>
              <a:t> </a:t>
            </a:r>
            <a:r>
              <a:rPr lang="en-US" sz="1600" dirty="0" err="1">
                <a:solidFill>
                  <a:schemeClr val="bg1">
                    <a:lumMod val="10000"/>
                  </a:schemeClr>
                </a:solidFill>
                <a:latin typeface="+mn-lt"/>
              </a:rPr>
              <a:t>được</a:t>
            </a:r>
            <a:r>
              <a:rPr lang="en-US" sz="1600" dirty="0">
                <a:solidFill>
                  <a:schemeClr val="bg1">
                    <a:lumMod val="10000"/>
                  </a:schemeClr>
                </a:solidFill>
                <a:latin typeface="+mn-lt"/>
              </a:rPr>
              <a:t> </a:t>
            </a:r>
            <a:r>
              <a:rPr lang="en-US" sz="1600" dirty="0" err="1">
                <a:solidFill>
                  <a:schemeClr val="bg1">
                    <a:lumMod val="10000"/>
                  </a:schemeClr>
                </a:solidFill>
                <a:latin typeface="+mn-lt"/>
              </a:rPr>
              <a:t>hưởng</a:t>
            </a:r>
            <a:r>
              <a:rPr lang="en-US" sz="1600" dirty="0">
                <a:solidFill>
                  <a:schemeClr val="bg1">
                    <a:lumMod val="10000"/>
                  </a:schemeClr>
                </a:solidFill>
                <a:latin typeface="+mn-lt"/>
              </a:rPr>
              <a:t> </a:t>
            </a:r>
            <a:r>
              <a:rPr lang="en-US" sz="1600" dirty="0" err="1">
                <a:solidFill>
                  <a:schemeClr val="bg1">
                    <a:lumMod val="10000"/>
                  </a:schemeClr>
                </a:solidFill>
                <a:latin typeface="+mn-lt"/>
              </a:rPr>
              <a:t>nhưng</a:t>
            </a:r>
            <a:r>
              <a:rPr lang="en-US" sz="1600" dirty="0">
                <a:solidFill>
                  <a:schemeClr val="bg1">
                    <a:lumMod val="10000"/>
                  </a:schemeClr>
                </a:solidFill>
                <a:latin typeface="+mn-lt"/>
              </a:rPr>
              <a:t> </a:t>
            </a:r>
            <a:r>
              <a:rPr lang="en-US" sz="1600" dirty="0" err="1">
                <a:solidFill>
                  <a:schemeClr val="bg1">
                    <a:lumMod val="10000"/>
                  </a:schemeClr>
                </a:solidFill>
                <a:latin typeface="+mn-lt"/>
              </a:rPr>
              <a:t>lại</a:t>
            </a:r>
            <a:r>
              <a:rPr lang="en-US" sz="1600" dirty="0">
                <a:solidFill>
                  <a:schemeClr val="bg1">
                    <a:lumMod val="10000"/>
                  </a:schemeClr>
                </a:solidFill>
                <a:latin typeface="+mn-lt"/>
              </a:rPr>
              <a:t> </a:t>
            </a:r>
            <a:r>
              <a:rPr lang="en-US" sz="1600" dirty="0" err="1">
                <a:solidFill>
                  <a:schemeClr val="bg1">
                    <a:lumMod val="10000"/>
                  </a:schemeClr>
                </a:solidFill>
                <a:latin typeface="+mn-lt"/>
              </a:rPr>
              <a:t>chưa</a:t>
            </a:r>
            <a:r>
              <a:rPr lang="en-US" sz="1600" dirty="0">
                <a:solidFill>
                  <a:schemeClr val="bg1">
                    <a:lumMod val="10000"/>
                  </a:schemeClr>
                </a:solidFill>
                <a:latin typeface="+mn-lt"/>
              </a:rPr>
              <a:t> </a:t>
            </a:r>
            <a:r>
              <a:rPr lang="en-US" sz="1600" dirty="0" err="1">
                <a:solidFill>
                  <a:schemeClr val="bg1">
                    <a:lumMod val="10000"/>
                  </a:schemeClr>
                </a:solidFill>
                <a:latin typeface="+mn-lt"/>
              </a:rPr>
              <a:t>được</a:t>
            </a:r>
            <a:r>
              <a:rPr lang="en-US" sz="1600" dirty="0">
                <a:solidFill>
                  <a:schemeClr val="bg1">
                    <a:lumMod val="10000"/>
                  </a:schemeClr>
                </a:solidFill>
                <a:latin typeface="+mn-lt"/>
              </a:rPr>
              <a:t> </a:t>
            </a:r>
            <a:r>
              <a:rPr lang="en-US" sz="1600" dirty="0" err="1">
                <a:solidFill>
                  <a:schemeClr val="bg1">
                    <a:lumMod val="10000"/>
                  </a:schemeClr>
                </a:solidFill>
                <a:latin typeface="+mn-lt"/>
              </a:rPr>
              <a:t>hưởng</a:t>
            </a:r>
            <a:r>
              <a:rPr lang="en-US" sz="1600" dirty="0">
                <a:solidFill>
                  <a:schemeClr val="bg1">
                    <a:lumMod val="10000"/>
                  </a:schemeClr>
                </a:solidFill>
                <a:latin typeface="+mn-lt"/>
              </a:rPr>
              <a:t>.</a:t>
            </a:r>
          </a:p>
          <a:p>
            <a:pPr marL="177800" indent="0">
              <a:buNone/>
            </a:pPr>
            <a:r>
              <a:rPr lang="en-US" sz="1600" dirty="0">
                <a:solidFill>
                  <a:schemeClr val="bg1">
                    <a:lumMod val="10000"/>
                  </a:schemeClr>
                </a:solidFill>
                <a:latin typeface="+mn-lt"/>
              </a:rPr>
              <a:t>- </a:t>
            </a:r>
            <a:r>
              <a:rPr lang="en-US" sz="1600" b="1" i="1" dirty="0" err="1">
                <a:solidFill>
                  <a:schemeClr val="bg1">
                    <a:lumMod val="10000"/>
                  </a:schemeClr>
                </a:solidFill>
                <a:latin typeface="+mn-lt"/>
              </a:rPr>
              <a:t>Tập</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trung</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vào</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nhu</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cầu</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và</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quyền</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của</a:t>
            </a:r>
            <a:r>
              <a:rPr lang="en-US" sz="1600" b="1" i="1" dirty="0">
                <a:solidFill>
                  <a:schemeClr val="bg1">
                    <a:lumMod val="10000"/>
                  </a:schemeClr>
                </a:solidFill>
                <a:latin typeface="+mn-lt"/>
              </a:rPr>
              <a:t> NB:</a:t>
            </a:r>
            <a:r>
              <a:rPr lang="en-US" sz="1600" dirty="0">
                <a:solidFill>
                  <a:schemeClr val="bg1">
                    <a:lumMod val="10000"/>
                  </a:schemeClr>
                </a:solidFill>
                <a:latin typeface="+mn-lt"/>
              </a:rPr>
              <a:t> </a:t>
            </a:r>
            <a:r>
              <a:rPr lang="en-US" sz="1600" dirty="0" err="1">
                <a:solidFill>
                  <a:schemeClr val="bg1">
                    <a:lumMod val="10000"/>
                  </a:schemeClr>
                </a:solidFill>
                <a:latin typeface="+mn-lt"/>
              </a:rPr>
              <a:t>quyền</a:t>
            </a:r>
            <a:r>
              <a:rPr lang="en-US" sz="1600" dirty="0">
                <a:solidFill>
                  <a:schemeClr val="bg1">
                    <a:lumMod val="10000"/>
                  </a:schemeClr>
                </a:solidFill>
                <a:latin typeface="+mn-lt"/>
              </a:rPr>
              <a:t> </a:t>
            </a:r>
            <a:r>
              <a:rPr lang="en-US" sz="1600" dirty="0" err="1">
                <a:solidFill>
                  <a:schemeClr val="bg1">
                    <a:lumMod val="10000"/>
                  </a:schemeClr>
                </a:solidFill>
                <a:latin typeface="+mn-lt"/>
              </a:rPr>
              <a:t>lợi</a:t>
            </a:r>
            <a:r>
              <a:rPr lang="en-US" sz="1600" dirty="0">
                <a:solidFill>
                  <a:schemeClr val="bg1">
                    <a:lumMod val="10000"/>
                  </a:schemeClr>
                </a:solidFill>
                <a:latin typeface="+mn-lt"/>
              </a:rPr>
              <a:t> </a:t>
            </a:r>
            <a:r>
              <a:rPr lang="en-US" sz="1600" dirty="0" err="1">
                <a:solidFill>
                  <a:schemeClr val="bg1">
                    <a:lumMod val="10000"/>
                  </a:schemeClr>
                </a:solidFill>
                <a:latin typeface="+mn-lt"/>
              </a:rPr>
              <a:t>của</a:t>
            </a:r>
            <a:r>
              <a:rPr lang="en-US" sz="1600" dirty="0">
                <a:solidFill>
                  <a:schemeClr val="bg1">
                    <a:lumMod val="10000"/>
                  </a:schemeClr>
                </a:solidFill>
                <a:latin typeface="+mn-lt"/>
              </a:rPr>
              <a:t> NB </a:t>
            </a:r>
            <a:r>
              <a:rPr lang="en-US" sz="1600" dirty="0" err="1">
                <a:solidFill>
                  <a:schemeClr val="bg1">
                    <a:lumMod val="10000"/>
                  </a:schemeClr>
                </a:solidFill>
                <a:latin typeface="+mn-lt"/>
              </a:rPr>
              <a:t>phải</a:t>
            </a:r>
            <a:r>
              <a:rPr lang="en-US" sz="1600" dirty="0">
                <a:solidFill>
                  <a:schemeClr val="bg1">
                    <a:lumMod val="10000"/>
                  </a:schemeClr>
                </a:solidFill>
                <a:latin typeface="+mn-lt"/>
              </a:rPr>
              <a:t> </a:t>
            </a:r>
            <a:r>
              <a:rPr lang="en-US" sz="1600" dirty="0" err="1">
                <a:solidFill>
                  <a:schemeClr val="bg1">
                    <a:lumMod val="10000"/>
                  </a:schemeClr>
                </a:solidFill>
                <a:latin typeface="+mn-lt"/>
              </a:rPr>
              <a:t>được</a:t>
            </a:r>
            <a:r>
              <a:rPr lang="en-US" sz="1600" dirty="0">
                <a:solidFill>
                  <a:schemeClr val="bg1">
                    <a:lumMod val="10000"/>
                  </a:schemeClr>
                </a:solidFill>
                <a:latin typeface="+mn-lt"/>
              </a:rPr>
              <a:t> </a:t>
            </a:r>
            <a:r>
              <a:rPr lang="en-US" sz="1600" dirty="0" err="1">
                <a:solidFill>
                  <a:schemeClr val="bg1">
                    <a:lumMod val="10000"/>
                  </a:schemeClr>
                </a:solidFill>
                <a:latin typeface="+mn-lt"/>
              </a:rPr>
              <a:t>bảo</a:t>
            </a:r>
            <a:r>
              <a:rPr lang="en-US" sz="1600" dirty="0">
                <a:solidFill>
                  <a:schemeClr val="bg1">
                    <a:lumMod val="10000"/>
                  </a:schemeClr>
                </a:solidFill>
                <a:latin typeface="+mn-lt"/>
              </a:rPr>
              <a:t> </a:t>
            </a:r>
            <a:r>
              <a:rPr lang="en-US" sz="1600" dirty="0" err="1">
                <a:solidFill>
                  <a:schemeClr val="bg1">
                    <a:lumMod val="10000"/>
                  </a:schemeClr>
                </a:solidFill>
                <a:latin typeface="+mn-lt"/>
              </a:rPr>
              <a:t>vê</a:t>
            </a:r>
            <a:r>
              <a:rPr lang="en-US" sz="1600" dirty="0">
                <a:solidFill>
                  <a:schemeClr val="bg1">
                    <a:lumMod val="10000"/>
                  </a:schemeClr>
                </a:solidFill>
                <a:latin typeface="+mn-lt"/>
              </a:rPr>
              <a:t>̣, </a:t>
            </a:r>
            <a:r>
              <a:rPr lang="en-US" sz="1600" dirty="0" err="1">
                <a:solidFill>
                  <a:schemeClr val="bg1">
                    <a:lumMod val="10000"/>
                  </a:schemeClr>
                </a:solidFill>
                <a:latin typeface="+mn-lt"/>
              </a:rPr>
              <a:t>khi</a:t>
            </a:r>
            <a:r>
              <a:rPr lang="en-US" sz="1600" dirty="0">
                <a:solidFill>
                  <a:schemeClr val="bg1">
                    <a:lumMod val="10000"/>
                  </a:schemeClr>
                </a:solidFill>
                <a:latin typeface="+mn-lt"/>
              </a:rPr>
              <a:t> </a:t>
            </a:r>
            <a:r>
              <a:rPr lang="en-US" sz="1600" dirty="0" err="1">
                <a:solidFill>
                  <a:schemeClr val="bg1">
                    <a:lumMod val="10000"/>
                  </a:schemeClr>
                </a:solidFill>
                <a:latin typeface="+mn-lt"/>
              </a:rPr>
              <a:t>thực</a:t>
            </a:r>
            <a:r>
              <a:rPr lang="en-US" sz="1600" dirty="0">
                <a:solidFill>
                  <a:schemeClr val="bg1">
                    <a:lumMod val="10000"/>
                  </a:schemeClr>
                </a:solidFill>
                <a:latin typeface="+mn-lt"/>
              </a:rPr>
              <a:t> </a:t>
            </a:r>
            <a:r>
              <a:rPr lang="en-US" sz="1600" dirty="0" err="1">
                <a:solidFill>
                  <a:schemeClr val="bg1">
                    <a:lumMod val="10000"/>
                  </a:schemeClr>
                </a:solidFill>
                <a:latin typeface="+mn-lt"/>
              </a:rPr>
              <a:t>hiện</a:t>
            </a:r>
            <a:r>
              <a:rPr lang="en-US" sz="1600" dirty="0">
                <a:solidFill>
                  <a:schemeClr val="bg1">
                    <a:lumMod val="10000"/>
                  </a:schemeClr>
                </a:solidFill>
                <a:latin typeface="+mn-lt"/>
              </a:rPr>
              <a:t> </a:t>
            </a:r>
            <a:r>
              <a:rPr lang="en-US" sz="1600" dirty="0" err="1">
                <a:solidFill>
                  <a:schemeClr val="bg1">
                    <a:lumMod val="10000"/>
                  </a:schemeClr>
                </a:solidFill>
                <a:latin typeface="+mn-lt"/>
              </a:rPr>
              <a:t>biện</a:t>
            </a:r>
            <a:r>
              <a:rPr lang="en-US" sz="1600" dirty="0">
                <a:solidFill>
                  <a:schemeClr val="bg1">
                    <a:lumMod val="10000"/>
                  </a:schemeClr>
                </a:solidFill>
                <a:latin typeface="+mn-lt"/>
              </a:rPr>
              <a:t> </a:t>
            </a:r>
            <a:r>
              <a:rPr lang="en-US" sz="1600" dirty="0" err="1">
                <a:solidFill>
                  <a:schemeClr val="bg1">
                    <a:lumMod val="10000"/>
                  </a:schemeClr>
                </a:solidFill>
                <a:latin typeface="+mn-lt"/>
              </a:rPr>
              <a:t>hộ</a:t>
            </a:r>
            <a:r>
              <a:rPr lang="en-US" sz="1600" dirty="0">
                <a:solidFill>
                  <a:schemeClr val="bg1">
                    <a:lumMod val="10000"/>
                  </a:schemeClr>
                </a:solidFill>
                <a:latin typeface="+mn-lt"/>
              </a:rPr>
              <a:t> </a:t>
            </a:r>
            <a:r>
              <a:rPr lang="en-US" sz="1600" dirty="0" err="1">
                <a:solidFill>
                  <a:schemeClr val="bg1">
                    <a:lumMod val="10000"/>
                  </a:schemeClr>
                </a:solidFill>
                <a:latin typeface="+mn-lt"/>
              </a:rPr>
              <a:t>các</a:t>
            </a:r>
            <a:r>
              <a:rPr lang="en-US" sz="1600" dirty="0">
                <a:solidFill>
                  <a:schemeClr val="bg1">
                    <a:lumMod val="10000"/>
                  </a:schemeClr>
                </a:solidFill>
                <a:latin typeface="+mn-lt"/>
              </a:rPr>
              <a:t> </a:t>
            </a:r>
            <a:r>
              <a:rPr lang="en-US" sz="1600" dirty="0" err="1">
                <a:solidFill>
                  <a:schemeClr val="bg1">
                    <a:lumMod val="10000"/>
                  </a:schemeClr>
                </a:solidFill>
                <a:latin typeface="+mn-lt"/>
              </a:rPr>
              <a:t>quyền</a:t>
            </a:r>
            <a:r>
              <a:rPr lang="en-US" sz="1600" dirty="0">
                <a:solidFill>
                  <a:schemeClr val="bg1">
                    <a:lumMod val="10000"/>
                  </a:schemeClr>
                </a:solidFill>
                <a:latin typeface="+mn-lt"/>
              </a:rPr>
              <a:t> </a:t>
            </a:r>
            <a:r>
              <a:rPr lang="en-US" sz="1600" dirty="0" err="1">
                <a:solidFill>
                  <a:schemeClr val="bg1">
                    <a:lumMod val="10000"/>
                  </a:schemeClr>
                </a:solidFill>
                <a:latin typeface="+mn-lt"/>
              </a:rPr>
              <a:t>hoặc</a:t>
            </a:r>
            <a:r>
              <a:rPr lang="en-US" sz="1600" dirty="0">
                <a:solidFill>
                  <a:schemeClr val="bg1">
                    <a:lumMod val="10000"/>
                  </a:schemeClr>
                </a:solidFill>
                <a:latin typeface="+mn-lt"/>
              </a:rPr>
              <a:t> </a:t>
            </a:r>
            <a:r>
              <a:rPr lang="en-US" sz="1600" dirty="0" err="1">
                <a:solidFill>
                  <a:schemeClr val="bg1">
                    <a:lumMod val="10000"/>
                  </a:schemeClr>
                </a:solidFill>
                <a:latin typeface="+mn-lt"/>
              </a:rPr>
              <a:t>dịch</a:t>
            </a:r>
            <a:r>
              <a:rPr lang="en-US" sz="1600" dirty="0">
                <a:solidFill>
                  <a:schemeClr val="bg1">
                    <a:lumMod val="10000"/>
                  </a:schemeClr>
                </a:solidFill>
                <a:latin typeface="+mn-lt"/>
              </a:rPr>
              <a:t> </a:t>
            </a:r>
            <a:r>
              <a:rPr lang="en-US" sz="1600" dirty="0" err="1">
                <a:solidFill>
                  <a:schemeClr val="bg1">
                    <a:lumMod val="10000"/>
                  </a:schemeClr>
                </a:solidFill>
                <a:latin typeface="+mn-lt"/>
              </a:rPr>
              <a:t>vụ</a:t>
            </a:r>
            <a:r>
              <a:rPr lang="en-US" sz="1600" dirty="0">
                <a:solidFill>
                  <a:schemeClr val="bg1">
                    <a:lumMod val="10000"/>
                  </a:schemeClr>
                </a:solidFill>
                <a:latin typeface="+mn-lt"/>
              </a:rPr>
              <a:t> </a:t>
            </a:r>
            <a:r>
              <a:rPr lang="en-US" sz="1600" dirty="0" err="1">
                <a:solidFill>
                  <a:schemeClr val="bg1">
                    <a:lumMod val="10000"/>
                  </a:schemeClr>
                </a:solidFill>
                <a:latin typeface="+mn-lt"/>
              </a:rPr>
              <a:t>cho</a:t>
            </a:r>
            <a:r>
              <a:rPr lang="en-US" sz="1600" dirty="0">
                <a:solidFill>
                  <a:schemeClr val="bg1">
                    <a:lumMod val="10000"/>
                  </a:schemeClr>
                </a:solidFill>
                <a:latin typeface="+mn-lt"/>
              </a:rPr>
              <a:t> NB, </a:t>
            </a:r>
            <a:r>
              <a:rPr lang="en-US" sz="1600" dirty="0" err="1">
                <a:solidFill>
                  <a:schemeClr val="bg1">
                    <a:lumMod val="10000"/>
                  </a:schemeClr>
                </a:solidFill>
                <a:latin typeface="+mn-lt"/>
              </a:rPr>
              <a:t>cán</a:t>
            </a:r>
            <a:r>
              <a:rPr lang="en-US" sz="1600" dirty="0">
                <a:solidFill>
                  <a:schemeClr val="bg1">
                    <a:lumMod val="10000"/>
                  </a:schemeClr>
                </a:solidFill>
                <a:latin typeface="+mn-lt"/>
              </a:rPr>
              <a:t> </a:t>
            </a:r>
            <a:r>
              <a:rPr lang="en-US" sz="1600" dirty="0" err="1">
                <a:solidFill>
                  <a:schemeClr val="bg1">
                    <a:lumMod val="10000"/>
                  </a:schemeClr>
                </a:solidFill>
                <a:latin typeface="+mn-lt"/>
              </a:rPr>
              <a:t>bộ</a:t>
            </a:r>
            <a:r>
              <a:rPr lang="en-US" sz="1600" dirty="0">
                <a:solidFill>
                  <a:schemeClr val="bg1">
                    <a:lumMod val="10000"/>
                  </a:schemeClr>
                </a:solidFill>
                <a:latin typeface="+mn-lt"/>
              </a:rPr>
              <a:t> QLTH </a:t>
            </a:r>
            <a:r>
              <a:rPr lang="en-US" sz="1600" dirty="0" err="1">
                <a:solidFill>
                  <a:schemeClr val="bg1">
                    <a:lumMod val="10000"/>
                  </a:schemeClr>
                </a:solidFill>
                <a:latin typeface="+mn-lt"/>
              </a:rPr>
              <a:t>cần</a:t>
            </a:r>
            <a:r>
              <a:rPr lang="en-US" sz="1600" dirty="0">
                <a:solidFill>
                  <a:schemeClr val="bg1">
                    <a:lumMod val="10000"/>
                  </a:schemeClr>
                </a:solidFill>
                <a:latin typeface="+mn-lt"/>
              </a:rPr>
              <a:t> </a:t>
            </a:r>
            <a:r>
              <a:rPr lang="en-US" sz="1600" dirty="0" err="1">
                <a:solidFill>
                  <a:schemeClr val="bg1">
                    <a:lumMod val="10000"/>
                  </a:schemeClr>
                </a:solidFill>
                <a:latin typeface="+mn-lt"/>
              </a:rPr>
              <a:t>lấy</a:t>
            </a:r>
            <a:r>
              <a:rPr lang="en-US" sz="1600" dirty="0">
                <a:solidFill>
                  <a:schemeClr val="bg1">
                    <a:lumMod val="10000"/>
                  </a:schemeClr>
                </a:solidFill>
                <a:latin typeface="+mn-lt"/>
              </a:rPr>
              <a:t> </a:t>
            </a:r>
            <a:r>
              <a:rPr lang="en-US" sz="1600" dirty="0" err="1">
                <a:solidFill>
                  <a:schemeClr val="bg1">
                    <a:lumMod val="10000"/>
                  </a:schemeClr>
                </a:solidFill>
                <a:latin typeface="+mn-lt"/>
              </a:rPr>
              <a:t>lợi</a:t>
            </a:r>
            <a:r>
              <a:rPr lang="en-US" sz="1600" dirty="0">
                <a:solidFill>
                  <a:schemeClr val="bg1">
                    <a:lumMod val="10000"/>
                  </a:schemeClr>
                </a:solidFill>
                <a:latin typeface="+mn-lt"/>
              </a:rPr>
              <a:t> </a:t>
            </a:r>
            <a:r>
              <a:rPr lang="en-US" sz="1600" dirty="0" err="1">
                <a:solidFill>
                  <a:schemeClr val="bg1">
                    <a:lumMod val="10000"/>
                  </a:schemeClr>
                </a:solidFill>
                <a:latin typeface="+mn-lt"/>
              </a:rPr>
              <a:t>ích</a:t>
            </a:r>
            <a:r>
              <a:rPr lang="en-US" sz="1600" dirty="0">
                <a:solidFill>
                  <a:schemeClr val="bg1">
                    <a:lumMod val="10000"/>
                  </a:schemeClr>
                </a:solidFill>
                <a:latin typeface="+mn-lt"/>
              </a:rPr>
              <a:t> </a:t>
            </a:r>
            <a:r>
              <a:rPr lang="en-US" sz="1600" dirty="0" err="1">
                <a:solidFill>
                  <a:schemeClr val="bg1">
                    <a:lumMod val="10000"/>
                  </a:schemeClr>
                </a:solidFill>
                <a:latin typeface="+mn-lt"/>
              </a:rPr>
              <a:t>và</a:t>
            </a:r>
            <a:r>
              <a:rPr lang="en-US" sz="1600" dirty="0">
                <a:solidFill>
                  <a:schemeClr val="bg1">
                    <a:lumMod val="10000"/>
                  </a:schemeClr>
                </a:solidFill>
                <a:latin typeface="+mn-lt"/>
              </a:rPr>
              <a:t> </a:t>
            </a:r>
            <a:r>
              <a:rPr lang="en-US" sz="1600" dirty="0" err="1">
                <a:solidFill>
                  <a:schemeClr val="bg1">
                    <a:lumMod val="10000"/>
                  </a:schemeClr>
                </a:solidFill>
                <a:latin typeface="+mn-lt"/>
              </a:rPr>
              <a:t>nhu</a:t>
            </a:r>
            <a:r>
              <a:rPr lang="en-US" sz="1600" dirty="0">
                <a:solidFill>
                  <a:schemeClr val="bg1">
                    <a:lumMod val="10000"/>
                  </a:schemeClr>
                </a:solidFill>
                <a:latin typeface="+mn-lt"/>
              </a:rPr>
              <a:t> </a:t>
            </a:r>
            <a:r>
              <a:rPr lang="en-US" sz="1600" dirty="0" err="1">
                <a:solidFill>
                  <a:schemeClr val="bg1">
                    <a:lumMod val="10000"/>
                  </a:schemeClr>
                </a:solidFill>
                <a:latin typeface="+mn-lt"/>
              </a:rPr>
              <a:t>cầu</a:t>
            </a:r>
            <a:r>
              <a:rPr lang="en-US" sz="1600" dirty="0">
                <a:solidFill>
                  <a:schemeClr val="bg1">
                    <a:lumMod val="10000"/>
                  </a:schemeClr>
                </a:solidFill>
                <a:latin typeface="+mn-lt"/>
              </a:rPr>
              <a:t> </a:t>
            </a:r>
            <a:r>
              <a:rPr lang="en-US" sz="1600" dirty="0" err="1">
                <a:solidFill>
                  <a:schemeClr val="bg1">
                    <a:lumMod val="10000"/>
                  </a:schemeClr>
                </a:solidFill>
                <a:latin typeface="+mn-lt"/>
              </a:rPr>
              <a:t>của</a:t>
            </a:r>
            <a:r>
              <a:rPr lang="en-US" sz="1600" dirty="0">
                <a:solidFill>
                  <a:schemeClr val="bg1">
                    <a:lumMod val="10000"/>
                  </a:schemeClr>
                </a:solidFill>
                <a:latin typeface="+mn-lt"/>
              </a:rPr>
              <a:t> NB </a:t>
            </a:r>
            <a:r>
              <a:rPr lang="en-US" sz="1600" dirty="0" err="1">
                <a:solidFill>
                  <a:schemeClr val="bg1">
                    <a:lumMod val="10000"/>
                  </a:schemeClr>
                </a:solidFill>
                <a:latin typeface="+mn-lt"/>
              </a:rPr>
              <a:t>là</a:t>
            </a:r>
            <a:r>
              <a:rPr lang="en-US" sz="1600" dirty="0">
                <a:solidFill>
                  <a:schemeClr val="bg1">
                    <a:lumMod val="10000"/>
                  </a:schemeClr>
                </a:solidFill>
                <a:latin typeface="+mn-lt"/>
              </a:rPr>
              <a:t> </a:t>
            </a:r>
            <a:r>
              <a:rPr lang="en-US" sz="1600" dirty="0" err="1">
                <a:solidFill>
                  <a:schemeClr val="bg1">
                    <a:lumMod val="10000"/>
                  </a:schemeClr>
                </a:solidFill>
                <a:latin typeface="+mn-lt"/>
              </a:rPr>
              <a:t>yếu</a:t>
            </a:r>
            <a:r>
              <a:rPr lang="en-US" sz="1600" dirty="0">
                <a:solidFill>
                  <a:schemeClr val="bg1">
                    <a:lumMod val="10000"/>
                  </a:schemeClr>
                </a:solidFill>
                <a:latin typeface="+mn-lt"/>
              </a:rPr>
              <a:t> </a:t>
            </a:r>
            <a:r>
              <a:rPr lang="en-US" sz="1600" dirty="0" err="1">
                <a:solidFill>
                  <a:schemeClr val="bg1">
                    <a:lumMod val="10000"/>
                  </a:schemeClr>
                </a:solidFill>
                <a:latin typeface="+mn-lt"/>
              </a:rPr>
              <a:t>tố</a:t>
            </a:r>
            <a:r>
              <a:rPr lang="en-US" sz="1600" dirty="0">
                <a:solidFill>
                  <a:schemeClr val="bg1">
                    <a:lumMod val="10000"/>
                  </a:schemeClr>
                </a:solidFill>
                <a:latin typeface="+mn-lt"/>
              </a:rPr>
              <a:t> </a:t>
            </a:r>
            <a:r>
              <a:rPr lang="en-US" sz="1600" dirty="0" err="1">
                <a:solidFill>
                  <a:schemeClr val="bg1">
                    <a:lumMod val="10000"/>
                  </a:schemeClr>
                </a:solidFill>
                <a:latin typeface="+mn-lt"/>
              </a:rPr>
              <a:t>nền</a:t>
            </a:r>
            <a:r>
              <a:rPr lang="en-US" sz="1600" dirty="0">
                <a:solidFill>
                  <a:schemeClr val="bg1">
                    <a:lumMod val="10000"/>
                  </a:schemeClr>
                </a:solidFill>
                <a:latin typeface="+mn-lt"/>
              </a:rPr>
              <a:t> </a:t>
            </a:r>
            <a:r>
              <a:rPr lang="en-US" sz="1600" dirty="0" err="1">
                <a:solidFill>
                  <a:schemeClr val="bg1">
                    <a:lumMod val="10000"/>
                  </a:schemeClr>
                </a:solidFill>
                <a:latin typeface="+mn-lt"/>
              </a:rPr>
              <a:t>tảng</a:t>
            </a:r>
            <a:r>
              <a:rPr lang="en-US" sz="1600" dirty="0">
                <a:solidFill>
                  <a:schemeClr val="bg1">
                    <a:lumMod val="10000"/>
                  </a:schemeClr>
                </a:solidFill>
                <a:latin typeface="+mn-lt"/>
              </a:rPr>
              <a:t> </a:t>
            </a:r>
            <a:r>
              <a:rPr lang="en-US" sz="1600" dirty="0" err="1">
                <a:solidFill>
                  <a:schemeClr val="bg1">
                    <a:lumMod val="10000"/>
                  </a:schemeClr>
                </a:solidFill>
                <a:latin typeface="+mn-lt"/>
              </a:rPr>
              <a:t>để</a:t>
            </a:r>
            <a:r>
              <a:rPr lang="en-US" sz="1600" dirty="0">
                <a:solidFill>
                  <a:schemeClr val="bg1">
                    <a:lumMod val="10000"/>
                  </a:schemeClr>
                </a:solidFill>
                <a:latin typeface="+mn-lt"/>
              </a:rPr>
              <a:t> </a:t>
            </a:r>
            <a:r>
              <a:rPr lang="en-US" sz="1600" dirty="0" err="1">
                <a:solidFill>
                  <a:schemeClr val="bg1">
                    <a:lumMod val="10000"/>
                  </a:schemeClr>
                </a:solidFill>
                <a:latin typeface="+mn-lt"/>
              </a:rPr>
              <a:t>đàm</a:t>
            </a:r>
            <a:r>
              <a:rPr lang="en-US" sz="1600" dirty="0">
                <a:solidFill>
                  <a:schemeClr val="bg1">
                    <a:lumMod val="10000"/>
                  </a:schemeClr>
                </a:solidFill>
                <a:latin typeface="+mn-lt"/>
              </a:rPr>
              <a:t> </a:t>
            </a:r>
            <a:r>
              <a:rPr lang="en-US" sz="1600" dirty="0" err="1">
                <a:solidFill>
                  <a:schemeClr val="bg1">
                    <a:lumMod val="10000"/>
                  </a:schemeClr>
                </a:solidFill>
                <a:latin typeface="+mn-lt"/>
              </a:rPr>
              <a:t>phán</a:t>
            </a:r>
            <a:r>
              <a:rPr lang="en-US" sz="1600" dirty="0">
                <a:solidFill>
                  <a:schemeClr val="bg1">
                    <a:lumMod val="10000"/>
                  </a:schemeClr>
                </a:solidFill>
                <a:latin typeface="+mn-lt"/>
              </a:rPr>
              <a:t> </a:t>
            </a:r>
            <a:r>
              <a:rPr lang="en-US" sz="1600" dirty="0" err="1">
                <a:solidFill>
                  <a:schemeClr val="bg1">
                    <a:lumMod val="10000"/>
                  </a:schemeClr>
                </a:solidFill>
                <a:latin typeface="+mn-lt"/>
              </a:rPr>
              <a:t>thương</a:t>
            </a:r>
            <a:r>
              <a:rPr lang="en-US" sz="1600" dirty="0">
                <a:solidFill>
                  <a:schemeClr val="bg1">
                    <a:lumMod val="10000"/>
                  </a:schemeClr>
                </a:solidFill>
                <a:latin typeface="+mn-lt"/>
              </a:rPr>
              <a:t> </a:t>
            </a:r>
            <a:r>
              <a:rPr lang="en-US" sz="1600" dirty="0" err="1">
                <a:solidFill>
                  <a:schemeClr val="bg1">
                    <a:lumMod val="10000"/>
                  </a:schemeClr>
                </a:solidFill>
                <a:latin typeface="+mn-lt"/>
              </a:rPr>
              <a:t>lượng</a:t>
            </a:r>
            <a:r>
              <a:rPr lang="en-US" sz="1600" dirty="0">
                <a:solidFill>
                  <a:schemeClr val="bg1">
                    <a:lumMod val="10000"/>
                  </a:schemeClr>
                </a:solidFill>
                <a:latin typeface="+mn-lt"/>
              </a:rPr>
              <a:t> </a:t>
            </a:r>
            <a:r>
              <a:rPr lang="en-US" sz="1600" dirty="0" err="1">
                <a:solidFill>
                  <a:schemeClr val="bg1">
                    <a:lumMod val="10000"/>
                  </a:schemeClr>
                </a:solidFill>
                <a:latin typeface="+mn-lt"/>
              </a:rPr>
              <a:t>với</a:t>
            </a:r>
            <a:r>
              <a:rPr lang="en-US" sz="1600" dirty="0">
                <a:solidFill>
                  <a:schemeClr val="bg1">
                    <a:lumMod val="10000"/>
                  </a:schemeClr>
                </a:solidFill>
                <a:latin typeface="+mn-lt"/>
              </a:rPr>
              <a:t> </a:t>
            </a:r>
            <a:r>
              <a:rPr lang="en-US" sz="1600" dirty="0" err="1">
                <a:solidFill>
                  <a:schemeClr val="bg1">
                    <a:lumMod val="10000"/>
                  </a:schemeClr>
                </a:solidFill>
                <a:latin typeface="+mn-lt"/>
              </a:rPr>
              <a:t>các</a:t>
            </a:r>
            <a:r>
              <a:rPr lang="en-US" sz="1600" dirty="0">
                <a:solidFill>
                  <a:schemeClr val="bg1">
                    <a:lumMod val="10000"/>
                  </a:schemeClr>
                </a:solidFill>
                <a:latin typeface="+mn-lt"/>
              </a:rPr>
              <a:t> </a:t>
            </a:r>
            <a:r>
              <a:rPr lang="en-US" sz="1600" dirty="0" err="1">
                <a:solidFill>
                  <a:schemeClr val="bg1">
                    <a:lumMod val="10000"/>
                  </a:schemeClr>
                </a:solidFill>
                <a:latin typeface="+mn-lt"/>
              </a:rPr>
              <a:t>cơ</a:t>
            </a:r>
            <a:r>
              <a:rPr lang="en-US" sz="1600" dirty="0">
                <a:solidFill>
                  <a:schemeClr val="bg1">
                    <a:lumMod val="10000"/>
                  </a:schemeClr>
                </a:solidFill>
                <a:latin typeface="+mn-lt"/>
              </a:rPr>
              <a:t> </a:t>
            </a:r>
            <a:r>
              <a:rPr lang="en-US" sz="1600" dirty="0" err="1">
                <a:solidFill>
                  <a:schemeClr val="bg1">
                    <a:lumMod val="10000"/>
                  </a:schemeClr>
                </a:solidFill>
                <a:latin typeface="+mn-lt"/>
              </a:rPr>
              <a:t>quan</a:t>
            </a:r>
            <a:r>
              <a:rPr lang="en-US" sz="1600" dirty="0">
                <a:solidFill>
                  <a:schemeClr val="bg1">
                    <a:lumMod val="10000"/>
                  </a:schemeClr>
                </a:solidFill>
                <a:latin typeface="+mn-lt"/>
              </a:rPr>
              <a:t> </a:t>
            </a:r>
            <a:r>
              <a:rPr lang="en-US" sz="1600" dirty="0" err="1">
                <a:solidFill>
                  <a:schemeClr val="bg1">
                    <a:lumMod val="10000"/>
                  </a:schemeClr>
                </a:solidFill>
                <a:latin typeface="+mn-lt"/>
              </a:rPr>
              <a:t>cung</a:t>
            </a:r>
            <a:r>
              <a:rPr lang="en-US" sz="1600" dirty="0">
                <a:solidFill>
                  <a:schemeClr val="bg1">
                    <a:lumMod val="10000"/>
                  </a:schemeClr>
                </a:solidFill>
                <a:latin typeface="+mn-lt"/>
              </a:rPr>
              <a:t> </a:t>
            </a:r>
            <a:r>
              <a:rPr lang="en-US" sz="1600" dirty="0" err="1">
                <a:solidFill>
                  <a:schemeClr val="bg1">
                    <a:lumMod val="10000"/>
                  </a:schemeClr>
                </a:solidFill>
                <a:latin typeface="+mn-lt"/>
              </a:rPr>
              <a:t>cấp</a:t>
            </a:r>
            <a:r>
              <a:rPr lang="en-US" sz="1600" dirty="0">
                <a:solidFill>
                  <a:schemeClr val="bg1">
                    <a:lumMod val="10000"/>
                  </a:schemeClr>
                </a:solidFill>
                <a:latin typeface="+mn-lt"/>
              </a:rPr>
              <a:t> </a:t>
            </a:r>
            <a:r>
              <a:rPr lang="en-US" sz="1600" dirty="0" err="1">
                <a:solidFill>
                  <a:schemeClr val="bg1">
                    <a:lumMod val="10000"/>
                  </a:schemeClr>
                </a:solidFill>
                <a:latin typeface="+mn-lt"/>
              </a:rPr>
              <a:t>dịch</a:t>
            </a:r>
            <a:r>
              <a:rPr lang="en-US" sz="1600" dirty="0">
                <a:solidFill>
                  <a:schemeClr val="bg1">
                    <a:lumMod val="10000"/>
                  </a:schemeClr>
                </a:solidFill>
                <a:latin typeface="+mn-lt"/>
              </a:rPr>
              <a:t> </a:t>
            </a:r>
            <a:r>
              <a:rPr lang="en-US" sz="1600" dirty="0" err="1">
                <a:solidFill>
                  <a:schemeClr val="bg1">
                    <a:lumMod val="10000"/>
                  </a:schemeClr>
                </a:solidFill>
                <a:latin typeface="+mn-lt"/>
              </a:rPr>
              <a:t>vụ</a:t>
            </a:r>
            <a:r>
              <a:rPr lang="en-US" sz="1600" dirty="0">
                <a:solidFill>
                  <a:schemeClr val="bg1">
                    <a:lumMod val="10000"/>
                  </a:schemeClr>
                </a:solidFill>
                <a:latin typeface="+mn-lt"/>
              </a:rPr>
              <a:t>.</a:t>
            </a:r>
            <a:endParaRPr lang="en-VN" sz="1600" dirty="0">
              <a:solidFill>
                <a:schemeClr val="bg1">
                  <a:lumMod val="10000"/>
                </a:schemeClr>
              </a:solidFill>
              <a:latin typeface="+mn-lt"/>
            </a:endParaRPr>
          </a:p>
          <a:p>
            <a:pPr marL="177800" indent="0">
              <a:buNone/>
            </a:pPr>
            <a:r>
              <a:rPr lang="en-VN" sz="1600" dirty="0">
                <a:solidFill>
                  <a:schemeClr val="bg1">
                    <a:lumMod val="10000"/>
                  </a:schemeClr>
                </a:solidFill>
                <a:latin typeface="+mn-lt"/>
              </a:rPr>
              <a:t> </a:t>
            </a:r>
            <a:endParaRPr lang="en-US" sz="1600" dirty="0">
              <a:solidFill>
                <a:schemeClr val="bg1">
                  <a:lumMod val="10000"/>
                </a:schemeClr>
              </a:solidFill>
              <a:latin typeface="+mn-lt"/>
            </a:endParaRPr>
          </a:p>
          <a:p>
            <a:endParaRPr lang="en-VN" sz="1600" dirty="0">
              <a:solidFill>
                <a:schemeClr val="bg1">
                  <a:lumMod val="10000"/>
                </a:schemeClr>
              </a:solidFill>
              <a:latin typeface="+mn-lt"/>
            </a:endParaRPr>
          </a:p>
        </p:txBody>
      </p:sp>
    </p:spTree>
    <p:extLst>
      <p:ext uri="{BB962C8B-B14F-4D97-AF65-F5344CB8AC3E}">
        <p14:creationId xmlns:p14="http://schemas.microsoft.com/office/powerpoint/2010/main" val="22042096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B13B1-EC4D-91CB-E304-0AA8EDB650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6CA43A-2CE1-A16D-D8F7-8206568CA3C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600" smtClean="0">
                <a:solidFill>
                  <a:schemeClr val="bg1">
                    <a:lumMod val="10000"/>
                  </a:schemeClr>
                </a:solidFill>
                <a:latin typeface="+mn-lt"/>
              </a:rPr>
              <a:t>43</a:t>
            </a:fld>
            <a:endParaRPr lang="en" sz="1600">
              <a:solidFill>
                <a:schemeClr val="bg1">
                  <a:lumMod val="10000"/>
                </a:schemeClr>
              </a:solidFill>
              <a:latin typeface="+mn-lt"/>
            </a:endParaRPr>
          </a:p>
        </p:txBody>
      </p:sp>
      <p:sp>
        <p:nvSpPr>
          <p:cNvPr id="3" name="Title 2">
            <a:extLst>
              <a:ext uri="{FF2B5EF4-FFF2-40B4-BE49-F238E27FC236}">
                <a16:creationId xmlns:a16="http://schemas.microsoft.com/office/drawing/2014/main" id="{001F59BC-7611-F3FD-2A64-B2AD3A17E50A}"/>
              </a:ext>
            </a:extLst>
          </p:cNvPr>
          <p:cNvSpPr>
            <a:spLocks noGrp="1"/>
          </p:cNvSpPr>
          <p:nvPr>
            <p:ph type="title"/>
          </p:nvPr>
        </p:nvSpPr>
        <p:spPr/>
        <p:txBody>
          <a:bodyPr/>
          <a:lstStyle/>
          <a:p>
            <a:r>
              <a:rPr lang="en-VN" sz="1600" dirty="0">
                <a:solidFill>
                  <a:schemeClr val="bg1">
                    <a:lumMod val="10000"/>
                  </a:schemeClr>
                </a:solidFill>
                <a:latin typeface="+mn-lt"/>
              </a:rPr>
              <a:t>Ý nghĩa và nguyên tắc thực hiện</a:t>
            </a:r>
          </a:p>
        </p:txBody>
      </p:sp>
      <p:sp>
        <p:nvSpPr>
          <p:cNvPr id="6" name="Text Placeholder 3">
            <a:extLst>
              <a:ext uri="{FF2B5EF4-FFF2-40B4-BE49-F238E27FC236}">
                <a16:creationId xmlns:a16="http://schemas.microsoft.com/office/drawing/2014/main" id="{4678615C-4516-9274-9306-24488B8BF398}"/>
              </a:ext>
            </a:extLst>
          </p:cNvPr>
          <p:cNvSpPr txBox="1">
            <a:spLocks/>
          </p:cNvSpPr>
          <p:nvPr/>
        </p:nvSpPr>
        <p:spPr>
          <a:xfrm>
            <a:off x="720000" y="1034682"/>
            <a:ext cx="8093614" cy="36637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Font typeface="Nunito Light"/>
              <a:buNone/>
            </a:pPr>
            <a:r>
              <a:rPr lang="en-VN" sz="1600" b="1" dirty="0">
                <a:solidFill>
                  <a:schemeClr val="bg1">
                    <a:lumMod val="10000"/>
                  </a:schemeClr>
                </a:solidFill>
                <a:latin typeface="+mn-lt"/>
              </a:rPr>
              <a:t>Nguyên tắc</a:t>
            </a:r>
          </a:p>
          <a:p>
            <a:pPr marL="177800" indent="0">
              <a:buNone/>
            </a:pPr>
            <a:r>
              <a:rPr lang="en-US" sz="1600" b="1" i="1" dirty="0" err="1">
                <a:solidFill>
                  <a:schemeClr val="bg1">
                    <a:lumMod val="10000"/>
                  </a:schemeClr>
                </a:solidFill>
                <a:latin typeface="+mn-lt"/>
              </a:rPr>
              <a:t>Đảm</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bảo</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sự</a:t>
            </a:r>
            <a:r>
              <a:rPr lang="en-US" sz="1600" b="1" i="1" dirty="0">
                <a:solidFill>
                  <a:schemeClr val="bg1">
                    <a:lumMod val="10000"/>
                  </a:schemeClr>
                </a:solidFill>
                <a:latin typeface="+mn-lt"/>
              </a:rPr>
              <a:t> </a:t>
            </a:r>
            <a:r>
              <a:rPr lang="vi-VN" sz="1600" dirty="0">
                <a:solidFill>
                  <a:schemeClr val="bg1">
                    <a:lumMod val="10000"/>
                  </a:schemeClr>
                </a:solidFill>
                <a:latin typeface="+mn-lt"/>
              </a:rPr>
              <a:t> </a:t>
            </a:r>
            <a:r>
              <a:rPr lang="vi-VN" sz="1600" b="1" i="1" dirty="0">
                <a:solidFill>
                  <a:schemeClr val="bg1">
                    <a:lumMod val="10000"/>
                  </a:schemeClr>
                </a:solidFill>
                <a:latin typeface="+mn-lt"/>
              </a:rPr>
              <a:t>tham gia của NB và gia đình NB </a:t>
            </a:r>
            <a:r>
              <a:rPr lang="vi-VN" sz="1600" dirty="0">
                <a:solidFill>
                  <a:schemeClr val="bg1">
                    <a:lumMod val="10000"/>
                  </a:schemeClr>
                </a:solidFill>
                <a:latin typeface="+mn-lt"/>
              </a:rPr>
              <a:t>Việc biện hộ không phải làm thay mà là thu hút họ tham gia vào quá trình đàm phán và thương lượng để có được chính sách và dịch vụ phù hợp. Điều này khuyến khích họ tự đứng lên bảo vệ quyền lợi của chính mình. Cán bộ QLTH đóng vai trò hỗ trợ và trao quyền để NB tự giải quyết vấn đề của họ.</a:t>
            </a:r>
          </a:p>
          <a:p>
            <a:pPr marL="177800" indent="0">
              <a:buNone/>
            </a:pPr>
            <a:r>
              <a:rPr lang="en-US" sz="1600" b="1" i="1" dirty="0" err="1">
                <a:solidFill>
                  <a:schemeClr val="bg1">
                    <a:lumMod val="10000"/>
                  </a:schemeClr>
                </a:solidFill>
                <a:latin typeface="+mn-lt"/>
              </a:rPr>
              <a:t>Tôn</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trọng</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các</a:t>
            </a:r>
            <a:r>
              <a:rPr lang="en-US" sz="1600" b="1" i="1" dirty="0">
                <a:solidFill>
                  <a:schemeClr val="bg1">
                    <a:lumMod val="10000"/>
                  </a:schemeClr>
                </a:solidFill>
                <a:latin typeface="+mn-lt"/>
              </a:rPr>
              <a:t> </a:t>
            </a:r>
            <a:r>
              <a:rPr lang="en-US" sz="1600" b="1" i="1" dirty="0" err="1">
                <a:solidFill>
                  <a:schemeClr val="bg1">
                    <a:lumMod val="10000"/>
                  </a:schemeClr>
                </a:solidFill>
                <a:latin typeface="+mn-lt"/>
              </a:rPr>
              <a:t>bên</a:t>
            </a:r>
            <a:r>
              <a:rPr lang="en-US" sz="1600" b="1" i="1" dirty="0">
                <a:solidFill>
                  <a:schemeClr val="bg1">
                    <a:lumMod val="10000"/>
                  </a:schemeClr>
                </a:solidFill>
                <a:latin typeface="+mn-lt"/>
              </a:rPr>
              <a:t>: </a:t>
            </a:r>
            <a:r>
              <a:rPr lang="en-US" sz="1600" dirty="0" err="1">
                <a:solidFill>
                  <a:schemeClr val="bg1">
                    <a:lumMod val="10000"/>
                  </a:schemeClr>
                </a:solidFill>
                <a:latin typeface="+mn-lt"/>
              </a:rPr>
              <a:t>Bảo</a:t>
            </a:r>
            <a:r>
              <a:rPr lang="en-US" sz="1600" dirty="0">
                <a:solidFill>
                  <a:schemeClr val="bg1">
                    <a:lumMod val="10000"/>
                  </a:schemeClr>
                </a:solidFill>
                <a:latin typeface="+mn-lt"/>
              </a:rPr>
              <a:t> </a:t>
            </a:r>
            <a:r>
              <a:rPr lang="en-US" sz="1600" dirty="0" err="1">
                <a:solidFill>
                  <a:schemeClr val="bg1">
                    <a:lumMod val="10000"/>
                  </a:schemeClr>
                </a:solidFill>
                <a:latin typeface="+mn-lt"/>
              </a:rPr>
              <a:t>vệ</a:t>
            </a:r>
            <a:r>
              <a:rPr lang="en-US" sz="1600" dirty="0">
                <a:solidFill>
                  <a:schemeClr val="bg1">
                    <a:lumMod val="10000"/>
                  </a:schemeClr>
                </a:solidFill>
                <a:latin typeface="+mn-lt"/>
              </a:rPr>
              <a:t> </a:t>
            </a:r>
            <a:r>
              <a:rPr lang="en-US" sz="1600" dirty="0" err="1">
                <a:solidFill>
                  <a:schemeClr val="bg1">
                    <a:lumMod val="10000"/>
                  </a:schemeClr>
                </a:solidFill>
                <a:latin typeface="+mn-lt"/>
              </a:rPr>
              <a:t>cho</a:t>
            </a:r>
            <a:r>
              <a:rPr lang="en-US" sz="1600" dirty="0">
                <a:solidFill>
                  <a:schemeClr val="bg1">
                    <a:lumMod val="10000"/>
                  </a:schemeClr>
                </a:solidFill>
                <a:latin typeface="+mn-lt"/>
              </a:rPr>
              <a:t> </a:t>
            </a:r>
            <a:r>
              <a:rPr lang="en-US" sz="1600" dirty="0" err="1">
                <a:solidFill>
                  <a:schemeClr val="bg1">
                    <a:lumMod val="10000"/>
                  </a:schemeClr>
                </a:solidFill>
                <a:latin typeface="+mn-lt"/>
              </a:rPr>
              <a:t>quyền</a:t>
            </a:r>
            <a:r>
              <a:rPr lang="en-US" sz="1600" dirty="0">
                <a:solidFill>
                  <a:schemeClr val="bg1">
                    <a:lumMod val="10000"/>
                  </a:schemeClr>
                </a:solidFill>
                <a:latin typeface="+mn-lt"/>
              </a:rPr>
              <a:t> </a:t>
            </a:r>
            <a:r>
              <a:rPr lang="en-US" sz="1600" dirty="0" err="1">
                <a:solidFill>
                  <a:schemeClr val="bg1">
                    <a:lumMod val="10000"/>
                  </a:schemeClr>
                </a:solidFill>
                <a:latin typeface="+mn-lt"/>
              </a:rPr>
              <a:t>lợi</a:t>
            </a:r>
            <a:r>
              <a:rPr lang="en-US" sz="1600" dirty="0">
                <a:solidFill>
                  <a:schemeClr val="bg1">
                    <a:lumMod val="10000"/>
                  </a:schemeClr>
                </a:solidFill>
                <a:latin typeface="+mn-lt"/>
              </a:rPr>
              <a:t> </a:t>
            </a:r>
            <a:r>
              <a:rPr lang="en-US" sz="1600" dirty="0" err="1">
                <a:solidFill>
                  <a:schemeClr val="bg1">
                    <a:lumMod val="10000"/>
                  </a:schemeClr>
                </a:solidFill>
                <a:latin typeface="+mn-lt"/>
              </a:rPr>
              <a:t>cho</a:t>
            </a:r>
            <a:r>
              <a:rPr lang="en-US" sz="1600" dirty="0">
                <a:solidFill>
                  <a:schemeClr val="bg1">
                    <a:lumMod val="10000"/>
                  </a:schemeClr>
                </a:solidFill>
                <a:latin typeface="+mn-lt"/>
              </a:rPr>
              <a:t> NB </a:t>
            </a:r>
            <a:r>
              <a:rPr lang="en-US" sz="1600" dirty="0" err="1">
                <a:solidFill>
                  <a:schemeClr val="bg1">
                    <a:lumMod val="10000"/>
                  </a:schemeClr>
                </a:solidFill>
                <a:latin typeface="+mn-lt"/>
              </a:rPr>
              <a:t>trong</a:t>
            </a:r>
            <a:r>
              <a:rPr lang="en-US" sz="1600" dirty="0">
                <a:solidFill>
                  <a:schemeClr val="bg1">
                    <a:lumMod val="10000"/>
                  </a:schemeClr>
                </a:solidFill>
                <a:latin typeface="+mn-lt"/>
              </a:rPr>
              <a:t> </a:t>
            </a:r>
            <a:r>
              <a:rPr lang="en-US" sz="1600" dirty="0" err="1">
                <a:solidFill>
                  <a:schemeClr val="bg1">
                    <a:lumMod val="10000"/>
                  </a:schemeClr>
                </a:solidFill>
                <a:latin typeface="+mn-lt"/>
              </a:rPr>
              <a:t>khuôn</a:t>
            </a:r>
            <a:r>
              <a:rPr lang="en-US" sz="1600" dirty="0">
                <a:solidFill>
                  <a:schemeClr val="bg1">
                    <a:lumMod val="10000"/>
                  </a:schemeClr>
                </a:solidFill>
                <a:latin typeface="+mn-lt"/>
              </a:rPr>
              <a:t> </a:t>
            </a:r>
            <a:r>
              <a:rPr lang="en-US" sz="1600" dirty="0" err="1">
                <a:solidFill>
                  <a:schemeClr val="bg1">
                    <a:lumMod val="10000"/>
                  </a:schemeClr>
                </a:solidFill>
                <a:latin typeface="+mn-lt"/>
              </a:rPr>
              <a:t>khổ</a:t>
            </a:r>
            <a:r>
              <a:rPr lang="en-US" sz="1600" dirty="0">
                <a:solidFill>
                  <a:schemeClr val="bg1">
                    <a:lumMod val="10000"/>
                  </a:schemeClr>
                </a:solidFill>
                <a:latin typeface="+mn-lt"/>
              </a:rPr>
              <a:t> </a:t>
            </a:r>
            <a:r>
              <a:rPr lang="en-US" sz="1600" dirty="0" err="1">
                <a:solidFill>
                  <a:schemeClr val="bg1">
                    <a:lumMod val="10000"/>
                  </a:schemeClr>
                </a:solidFill>
                <a:latin typeface="+mn-lt"/>
              </a:rPr>
              <a:t>của</a:t>
            </a:r>
            <a:r>
              <a:rPr lang="en-US" sz="1600" dirty="0">
                <a:solidFill>
                  <a:schemeClr val="bg1">
                    <a:lumMod val="10000"/>
                  </a:schemeClr>
                </a:solidFill>
                <a:latin typeface="+mn-lt"/>
              </a:rPr>
              <a:t> </a:t>
            </a:r>
            <a:r>
              <a:rPr lang="en-US" sz="1600" dirty="0" err="1">
                <a:solidFill>
                  <a:schemeClr val="bg1">
                    <a:lumMod val="10000"/>
                  </a:schemeClr>
                </a:solidFill>
                <a:latin typeface="+mn-lt"/>
              </a:rPr>
              <a:t>luật</a:t>
            </a:r>
            <a:r>
              <a:rPr lang="en-US" sz="1600" dirty="0">
                <a:solidFill>
                  <a:schemeClr val="bg1">
                    <a:lumMod val="10000"/>
                  </a:schemeClr>
                </a:solidFill>
                <a:latin typeface="+mn-lt"/>
              </a:rPr>
              <a:t> </a:t>
            </a:r>
            <a:r>
              <a:rPr lang="en-US" sz="1600" dirty="0" err="1">
                <a:solidFill>
                  <a:schemeClr val="bg1">
                    <a:lumMod val="10000"/>
                  </a:schemeClr>
                </a:solidFill>
                <a:latin typeface="+mn-lt"/>
              </a:rPr>
              <a:t>pháp</a:t>
            </a:r>
            <a:r>
              <a:rPr lang="en-US" sz="1600" dirty="0">
                <a:solidFill>
                  <a:schemeClr val="bg1">
                    <a:lumMod val="10000"/>
                  </a:schemeClr>
                </a:solidFill>
                <a:latin typeface="+mn-lt"/>
              </a:rPr>
              <a:t>. </a:t>
            </a:r>
            <a:r>
              <a:rPr lang="en-US" sz="1600" dirty="0" err="1">
                <a:solidFill>
                  <a:schemeClr val="bg1">
                    <a:lumMod val="10000"/>
                  </a:schemeClr>
                </a:solidFill>
                <a:latin typeface="+mn-lt"/>
              </a:rPr>
              <a:t>Biện</a:t>
            </a:r>
            <a:r>
              <a:rPr lang="en-US" sz="1600" dirty="0">
                <a:solidFill>
                  <a:schemeClr val="bg1">
                    <a:lumMod val="10000"/>
                  </a:schemeClr>
                </a:solidFill>
                <a:latin typeface="+mn-lt"/>
              </a:rPr>
              <a:t> </a:t>
            </a:r>
            <a:r>
              <a:rPr lang="en-US" sz="1600" dirty="0" err="1">
                <a:solidFill>
                  <a:schemeClr val="bg1">
                    <a:lumMod val="10000"/>
                  </a:schemeClr>
                </a:solidFill>
                <a:latin typeface="+mn-lt"/>
              </a:rPr>
              <a:t>hô</a:t>
            </a:r>
            <a:r>
              <a:rPr lang="en-US" sz="1600" dirty="0">
                <a:solidFill>
                  <a:schemeClr val="bg1">
                    <a:lumMod val="10000"/>
                  </a:schemeClr>
                </a:solidFill>
                <a:latin typeface="+mn-lt"/>
              </a:rPr>
              <a:t>̣ là </a:t>
            </a:r>
            <a:r>
              <a:rPr lang="en-US" sz="1600" dirty="0" err="1">
                <a:solidFill>
                  <a:schemeClr val="bg1">
                    <a:lumMod val="10000"/>
                  </a:schemeClr>
                </a:solidFill>
                <a:latin typeface="+mn-lt"/>
              </a:rPr>
              <a:t>làm</a:t>
            </a:r>
            <a:r>
              <a:rPr lang="en-US" sz="1600" dirty="0">
                <a:solidFill>
                  <a:schemeClr val="bg1">
                    <a:lumMod val="10000"/>
                  </a:schemeClr>
                </a:solidFill>
                <a:latin typeface="+mn-lt"/>
              </a:rPr>
              <a:t> </a:t>
            </a:r>
            <a:r>
              <a:rPr lang="en-US" sz="1600" dirty="0" err="1">
                <a:solidFill>
                  <a:schemeClr val="bg1">
                    <a:lumMod val="10000"/>
                  </a:schemeClr>
                </a:solidFill>
                <a:latin typeface="+mn-lt"/>
              </a:rPr>
              <a:t>việc</a:t>
            </a:r>
            <a:r>
              <a:rPr lang="en-US" sz="1600" dirty="0">
                <a:solidFill>
                  <a:schemeClr val="bg1">
                    <a:lumMod val="10000"/>
                  </a:schemeClr>
                </a:solidFill>
                <a:latin typeface="+mn-lt"/>
              </a:rPr>
              <a:t> </a:t>
            </a:r>
            <a:r>
              <a:rPr lang="en-US" sz="1600" dirty="0" err="1">
                <a:solidFill>
                  <a:schemeClr val="bg1">
                    <a:lumMod val="10000"/>
                  </a:schemeClr>
                </a:solidFill>
                <a:latin typeface="+mn-lt"/>
              </a:rPr>
              <a:t>đại</a:t>
            </a:r>
            <a:r>
              <a:rPr lang="en-US" sz="1600" dirty="0">
                <a:solidFill>
                  <a:schemeClr val="bg1">
                    <a:lumMod val="10000"/>
                  </a:schemeClr>
                </a:solidFill>
                <a:latin typeface="+mn-lt"/>
              </a:rPr>
              <a:t> </a:t>
            </a:r>
            <a:r>
              <a:rPr lang="en-US" sz="1600" dirty="0" err="1">
                <a:solidFill>
                  <a:schemeClr val="bg1">
                    <a:lumMod val="10000"/>
                  </a:schemeClr>
                </a:solidFill>
                <a:latin typeface="+mn-lt"/>
              </a:rPr>
              <a:t>diện</a:t>
            </a:r>
            <a:r>
              <a:rPr lang="en-US" sz="1600" dirty="0">
                <a:solidFill>
                  <a:schemeClr val="bg1">
                    <a:lumMod val="10000"/>
                  </a:schemeClr>
                </a:solidFill>
                <a:latin typeface="+mn-lt"/>
              </a:rPr>
              <a:t> </a:t>
            </a:r>
            <a:r>
              <a:rPr lang="en-US" sz="1600" dirty="0" err="1">
                <a:solidFill>
                  <a:schemeClr val="bg1">
                    <a:lumMod val="10000"/>
                  </a:schemeClr>
                </a:solidFill>
                <a:latin typeface="+mn-lt"/>
              </a:rPr>
              <a:t>cho</a:t>
            </a:r>
            <a:r>
              <a:rPr lang="en-US" sz="1600" dirty="0">
                <a:solidFill>
                  <a:schemeClr val="bg1">
                    <a:lumMod val="10000"/>
                  </a:schemeClr>
                </a:solidFill>
                <a:latin typeface="+mn-lt"/>
              </a:rPr>
              <a:t> NB, </a:t>
            </a:r>
            <a:r>
              <a:rPr lang="en-US" sz="1600" dirty="0" err="1">
                <a:solidFill>
                  <a:schemeClr val="bg1">
                    <a:lumMod val="10000"/>
                  </a:schemeClr>
                </a:solidFill>
                <a:latin typeface="+mn-lt"/>
              </a:rPr>
              <a:t>đứng</a:t>
            </a:r>
            <a:r>
              <a:rPr lang="en-US" sz="1600" dirty="0">
                <a:solidFill>
                  <a:schemeClr val="bg1">
                    <a:lumMod val="10000"/>
                  </a:schemeClr>
                </a:solidFill>
                <a:latin typeface="+mn-lt"/>
              </a:rPr>
              <a:t> </a:t>
            </a:r>
            <a:r>
              <a:rPr lang="en-US" sz="1600" dirty="0" err="1">
                <a:solidFill>
                  <a:schemeClr val="bg1">
                    <a:lumMod val="10000"/>
                  </a:schemeClr>
                </a:solidFill>
                <a:latin typeface="+mn-lt"/>
              </a:rPr>
              <a:t>vê</a:t>
            </a:r>
            <a:r>
              <a:rPr lang="en-US" sz="1600" dirty="0">
                <a:solidFill>
                  <a:schemeClr val="bg1">
                    <a:lumMod val="10000"/>
                  </a:schemeClr>
                </a:solidFill>
                <a:latin typeface="+mn-lt"/>
              </a:rPr>
              <a:t>̀ </a:t>
            </a:r>
            <a:r>
              <a:rPr lang="en-US" sz="1600" dirty="0" err="1">
                <a:solidFill>
                  <a:schemeClr val="bg1">
                    <a:lumMod val="10000"/>
                  </a:schemeClr>
                </a:solidFill>
                <a:latin typeface="+mn-lt"/>
              </a:rPr>
              <a:t>phía</a:t>
            </a:r>
            <a:r>
              <a:rPr lang="en-US" sz="1600" dirty="0">
                <a:solidFill>
                  <a:schemeClr val="bg1">
                    <a:lumMod val="10000"/>
                  </a:schemeClr>
                </a:solidFill>
                <a:latin typeface="+mn-lt"/>
              </a:rPr>
              <a:t> NB, </a:t>
            </a:r>
            <a:r>
              <a:rPr lang="en-US" sz="1600" dirty="0" err="1">
                <a:solidFill>
                  <a:schemeClr val="bg1">
                    <a:lumMod val="10000"/>
                  </a:schemeClr>
                </a:solidFill>
                <a:latin typeface="+mn-lt"/>
              </a:rPr>
              <a:t>nhưng</a:t>
            </a:r>
            <a:r>
              <a:rPr lang="en-US" sz="1600" dirty="0">
                <a:solidFill>
                  <a:schemeClr val="bg1">
                    <a:lumMod val="10000"/>
                  </a:schemeClr>
                </a:solidFill>
                <a:latin typeface="+mn-lt"/>
              </a:rPr>
              <a:t> </a:t>
            </a:r>
            <a:r>
              <a:rPr lang="en-US" sz="1600" dirty="0" err="1">
                <a:solidFill>
                  <a:schemeClr val="bg1">
                    <a:lumMod val="10000"/>
                  </a:schemeClr>
                </a:solidFill>
                <a:latin typeface="+mn-lt"/>
              </a:rPr>
              <a:t>cũng</a:t>
            </a:r>
            <a:r>
              <a:rPr lang="en-US" sz="1600" dirty="0">
                <a:solidFill>
                  <a:schemeClr val="bg1">
                    <a:lumMod val="10000"/>
                  </a:schemeClr>
                </a:solidFill>
                <a:latin typeface="+mn-lt"/>
              </a:rPr>
              <a:t> </a:t>
            </a:r>
            <a:r>
              <a:rPr lang="en-US" sz="1600" dirty="0" err="1">
                <a:solidFill>
                  <a:schemeClr val="bg1">
                    <a:lumMod val="10000"/>
                  </a:schemeClr>
                </a:solidFill>
                <a:latin typeface="+mn-lt"/>
              </a:rPr>
              <a:t>không</a:t>
            </a:r>
            <a:r>
              <a:rPr lang="en-US" sz="1600" dirty="0">
                <a:solidFill>
                  <a:schemeClr val="bg1">
                    <a:lumMod val="10000"/>
                  </a:schemeClr>
                </a:solidFill>
                <a:latin typeface="+mn-lt"/>
              </a:rPr>
              <a:t> </a:t>
            </a:r>
            <a:r>
              <a:rPr lang="en-US" sz="1600" dirty="0" err="1">
                <a:solidFill>
                  <a:schemeClr val="bg1">
                    <a:lumMod val="10000"/>
                  </a:schemeClr>
                </a:solidFill>
                <a:latin typeface="+mn-lt"/>
              </a:rPr>
              <a:t>chống</a:t>
            </a:r>
            <a:r>
              <a:rPr lang="en-US" sz="1600" dirty="0">
                <a:solidFill>
                  <a:schemeClr val="bg1">
                    <a:lumMod val="10000"/>
                  </a:schemeClr>
                </a:solidFill>
                <a:latin typeface="+mn-lt"/>
              </a:rPr>
              <a:t> </a:t>
            </a:r>
            <a:r>
              <a:rPr lang="en-US" sz="1600" dirty="0" err="1">
                <a:solidFill>
                  <a:schemeClr val="bg1">
                    <a:lumMod val="10000"/>
                  </a:schemeClr>
                </a:solidFill>
                <a:latin typeface="+mn-lt"/>
              </a:rPr>
              <a:t>đối</a:t>
            </a:r>
            <a:r>
              <a:rPr lang="en-US" sz="1600" dirty="0">
                <a:solidFill>
                  <a:schemeClr val="bg1">
                    <a:lumMod val="10000"/>
                  </a:schemeClr>
                </a:solidFill>
                <a:latin typeface="+mn-lt"/>
              </a:rPr>
              <a:t> </a:t>
            </a:r>
            <a:r>
              <a:rPr lang="en-US" sz="1600" dirty="0" err="1">
                <a:solidFill>
                  <a:schemeClr val="bg1">
                    <a:lumMod val="10000"/>
                  </a:schemeClr>
                </a:solidFill>
                <a:latin typeface="+mn-lt"/>
              </a:rPr>
              <a:t>lại</a:t>
            </a:r>
            <a:r>
              <a:rPr lang="en-US" sz="1600" dirty="0">
                <a:solidFill>
                  <a:schemeClr val="bg1">
                    <a:lumMod val="10000"/>
                  </a:schemeClr>
                </a:solidFill>
                <a:latin typeface="+mn-lt"/>
              </a:rPr>
              <a:t> </a:t>
            </a:r>
            <a:r>
              <a:rPr lang="en-US" sz="1600" dirty="0" err="1">
                <a:solidFill>
                  <a:schemeClr val="bg1">
                    <a:lumMod val="10000"/>
                  </a:schemeClr>
                </a:solidFill>
                <a:latin typeface="+mn-lt"/>
              </a:rPr>
              <a:t>tô</a:t>
            </a:r>
            <a:r>
              <a:rPr lang="en-US" sz="1600" dirty="0">
                <a:solidFill>
                  <a:schemeClr val="bg1">
                    <a:lumMod val="10000"/>
                  </a:schemeClr>
                </a:solidFill>
                <a:latin typeface="+mn-lt"/>
              </a:rPr>
              <a:t>̉ </a:t>
            </a:r>
            <a:r>
              <a:rPr lang="en-US" sz="1600" dirty="0" err="1">
                <a:solidFill>
                  <a:schemeClr val="bg1">
                    <a:lumMod val="10000"/>
                  </a:schemeClr>
                </a:solidFill>
                <a:latin typeface="+mn-lt"/>
              </a:rPr>
              <a:t>chức</a:t>
            </a:r>
            <a:r>
              <a:rPr lang="en-US" sz="1600" dirty="0">
                <a:solidFill>
                  <a:schemeClr val="bg1">
                    <a:lumMod val="10000"/>
                  </a:schemeClr>
                </a:solidFill>
                <a:latin typeface="+mn-lt"/>
              </a:rPr>
              <a:t>, </a:t>
            </a:r>
            <a:r>
              <a:rPr lang="en-US" sz="1600" dirty="0" err="1">
                <a:solidFill>
                  <a:schemeClr val="bg1">
                    <a:lumMod val="10000"/>
                  </a:schemeClr>
                </a:solidFill>
                <a:latin typeface="+mn-lt"/>
              </a:rPr>
              <a:t>cơ</a:t>
            </a:r>
            <a:r>
              <a:rPr lang="en-US" sz="1600" dirty="0">
                <a:solidFill>
                  <a:schemeClr val="bg1">
                    <a:lumMod val="10000"/>
                  </a:schemeClr>
                </a:solidFill>
                <a:latin typeface="+mn-lt"/>
              </a:rPr>
              <a:t> </a:t>
            </a:r>
            <a:r>
              <a:rPr lang="en-US" sz="1600" dirty="0" err="1">
                <a:solidFill>
                  <a:schemeClr val="bg1">
                    <a:lumMod val="10000"/>
                  </a:schemeClr>
                </a:solidFill>
                <a:latin typeface="+mn-lt"/>
              </a:rPr>
              <a:t>quan</a:t>
            </a:r>
            <a:r>
              <a:rPr lang="en-US" sz="1600" dirty="0">
                <a:solidFill>
                  <a:schemeClr val="bg1">
                    <a:lumMod val="10000"/>
                  </a:schemeClr>
                </a:solidFill>
                <a:latin typeface="+mn-lt"/>
              </a:rPr>
              <a:t> </a:t>
            </a:r>
            <a:r>
              <a:rPr lang="en-US" sz="1600" dirty="0" err="1">
                <a:solidFill>
                  <a:schemeClr val="bg1">
                    <a:lumMod val="10000"/>
                  </a:schemeClr>
                </a:solidFill>
                <a:latin typeface="+mn-lt"/>
              </a:rPr>
              <a:t>có</a:t>
            </a:r>
            <a:r>
              <a:rPr lang="en-US" sz="1600" dirty="0">
                <a:solidFill>
                  <a:schemeClr val="bg1">
                    <a:lumMod val="10000"/>
                  </a:schemeClr>
                </a:solidFill>
                <a:latin typeface="+mn-lt"/>
              </a:rPr>
              <a:t> </a:t>
            </a:r>
            <a:r>
              <a:rPr lang="en-US" sz="1600" dirty="0" err="1">
                <a:solidFill>
                  <a:schemeClr val="bg1">
                    <a:lumMod val="10000"/>
                  </a:schemeClr>
                </a:solidFill>
                <a:latin typeface="+mn-lt"/>
              </a:rPr>
              <a:t>trách</a:t>
            </a:r>
            <a:r>
              <a:rPr lang="en-US" sz="1600" dirty="0">
                <a:solidFill>
                  <a:schemeClr val="bg1">
                    <a:lumMod val="10000"/>
                  </a:schemeClr>
                </a:solidFill>
                <a:latin typeface="+mn-lt"/>
              </a:rPr>
              <a:t> </a:t>
            </a:r>
            <a:r>
              <a:rPr lang="en-US" sz="1600" dirty="0" err="1">
                <a:solidFill>
                  <a:schemeClr val="bg1">
                    <a:lumMod val="10000"/>
                  </a:schemeClr>
                </a:solidFill>
                <a:latin typeface="+mn-lt"/>
              </a:rPr>
              <a:t>nhiệm</a:t>
            </a:r>
            <a:r>
              <a:rPr lang="en-US" sz="1600" dirty="0">
                <a:solidFill>
                  <a:schemeClr val="bg1">
                    <a:lumMod val="10000"/>
                  </a:schemeClr>
                </a:solidFill>
                <a:latin typeface="+mn-lt"/>
              </a:rPr>
              <a:t> </a:t>
            </a:r>
            <a:r>
              <a:rPr lang="en-US" sz="1600" dirty="0" err="1">
                <a:solidFill>
                  <a:schemeClr val="bg1">
                    <a:lumMod val="10000"/>
                  </a:schemeClr>
                </a:solidFill>
                <a:latin typeface="+mn-lt"/>
              </a:rPr>
              <a:t>mà</a:t>
            </a:r>
            <a:r>
              <a:rPr lang="en-US" sz="1600" dirty="0">
                <a:solidFill>
                  <a:schemeClr val="bg1">
                    <a:lumMod val="10000"/>
                  </a:schemeClr>
                </a:solidFill>
                <a:latin typeface="+mn-lt"/>
              </a:rPr>
              <a:t> </a:t>
            </a:r>
            <a:r>
              <a:rPr lang="en-US" sz="1600" dirty="0" err="1">
                <a:solidFill>
                  <a:schemeClr val="bg1">
                    <a:lumMod val="10000"/>
                  </a:schemeClr>
                </a:solidFill>
                <a:latin typeface="+mn-lt"/>
              </a:rPr>
              <a:t>chỉ</a:t>
            </a:r>
            <a:r>
              <a:rPr lang="en-US" sz="1600" dirty="0">
                <a:solidFill>
                  <a:schemeClr val="bg1">
                    <a:lumMod val="10000"/>
                  </a:schemeClr>
                </a:solidFill>
                <a:latin typeface="+mn-lt"/>
              </a:rPr>
              <a:t> </a:t>
            </a:r>
            <a:r>
              <a:rPr lang="en-US" sz="1600" dirty="0" err="1">
                <a:solidFill>
                  <a:schemeClr val="bg1">
                    <a:lumMod val="10000"/>
                  </a:schemeClr>
                </a:solidFill>
                <a:latin typeface="+mn-lt"/>
              </a:rPr>
              <a:t>là</a:t>
            </a:r>
            <a:r>
              <a:rPr lang="en-US" sz="1600" dirty="0">
                <a:solidFill>
                  <a:schemeClr val="bg1">
                    <a:lumMod val="10000"/>
                  </a:schemeClr>
                </a:solidFill>
                <a:latin typeface="+mn-lt"/>
              </a:rPr>
              <a:t> </a:t>
            </a:r>
            <a:r>
              <a:rPr lang="en-US" sz="1600" dirty="0" err="1">
                <a:solidFill>
                  <a:schemeClr val="bg1">
                    <a:lumMod val="10000"/>
                  </a:schemeClr>
                </a:solidFill>
                <a:latin typeface="+mn-lt"/>
              </a:rPr>
              <a:t>tìm</a:t>
            </a:r>
            <a:r>
              <a:rPr lang="en-US" sz="1600" dirty="0">
                <a:solidFill>
                  <a:schemeClr val="bg1">
                    <a:lumMod val="10000"/>
                  </a:schemeClr>
                </a:solidFill>
                <a:latin typeface="+mn-lt"/>
              </a:rPr>
              <a:t> </a:t>
            </a:r>
            <a:r>
              <a:rPr lang="en-US" sz="1600" dirty="0" err="1">
                <a:solidFill>
                  <a:schemeClr val="bg1">
                    <a:lumMod val="10000"/>
                  </a:schemeClr>
                </a:solidFill>
                <a:latin typeface="+mn-lt"/>
              </a:rPr>
              <a:t>ra</a:t>
            </a:r>
            <a:r>
              <a:rPr lang="en-US" sz="1600" dirty="0">
                <a:solidFill>
                  <a:schemeClr val="bg1">
                    <a:lumMod val="10000"/>
                  </a:schemeClr>
                </a:solidFill>
                <a:latin typeface="+mn-lt"/>
              </a:rPr>
              <a:t> </a:t>
            </a:r>
            <a:r>
              <a:rPr lang="en-US" sz="1600" dirty="0" err="1">
                <a:solidFill>
                  <a:schemeClr val="bg1">
                    <a:lumMod val="10000"/>
                  </a:schemeClr>
                </a:solidFill>
                <a:latin typeface="+mn-lt"/>
              </a:rPr>
              <a:t>một</a:t>
            </a:r>
            <a:r>
              <a:rPr lang="en-US" sz="1600" dirty="0">
                <a:solidFill>
                  <a:schemeClr val="bg1">
                    <a:lumMod val="10000"/>
                  </a:schemeClr>
                </a:solidFill>
                <a:latin typeface="+mn-lt"/>
              </a:rPr>
              <a:t> </a:t>
            </a:r>
            <a:r>
              <a:rPr lang="en-US" sz="1600" dirty="0" err="1">
                <a:solidFill>
                  <a:schemeClr val="bg1">
                    <a:lumMod val="10000"/>
                  </a:schemeClr>
                </a:solidFill>
                <a:latin typeface="+mn-lt"/>
              </a:rPr>
              <a:t>giải</a:t>
            </a:r>
            <a:r>
              <a:rPr lang="en-US" sz="1600" dirty="0">
                <a:solidFill>
                  <a:schemeClr val="bg1">
                    <a:lumMod val="10000"/>
                  </a:schemeClr>
                </a:solidFill>
                <a:latin typeface="+mn-lt"/>
              </a:rPr>
              <a:t> </a:t>
            </a:r>
            <a:r>
              <a:rPr lang="en-US" sz="1600" dirty="0" err="1">
                <a:solidFill>
                  <a:schemeClr val="bg1">
                    <a:lumMod val="10000"/>
                  </a:schemeClr>
                </a:solidFill>
                <a:latin typeface="+mn-lt"/>
              </a:rPr>
              <a:t>pháp</a:t>
            </a:r>
            <a:r>
              <a:rPr lang="en-US" sz="1600" dirty="0">
                <a:solidFill>
                  <a:schemeClr val="bg1">
                    <a:lumMod val="10000"/>
                  </a:schemeClr>
                </a:solidFill>
                <a:latin typeface="+mn-lt"/>
              </a:rPr>
              <a:t> </a:t>
            </a:r>
            <a:r>
              <a:rPr lang="en-US" sz="1600" dirty="0" err="1">
                <a:solidFill>
                  <a:schemeClr val="bg1">
                    <a:lumMod val="10000"/>
                  </a:schemeClr>
                </a:solidFill>
                <a:latin typeface="+mn-lt"/>
              </a:rPr>
              <a:t>hữu</a:t>
            </a:r>
            <a:r>
              <a:rPr lang="en-US" sz="1600" dirty="0">
                <a:solidFill>
                  <a:schemeClr val="bg1">
                    <a:lumMod val="10000"/>
                  </a:schemeClr>
                </a:solidFill>
                <a:latin typeface="+mn-lt"/>
              </a:rPr>
              <a:t> </a:t>
            </a:r>
            <a:r>
              <a:rPr lang="en-US" sz="1600" dirty="0" err="1">
                <a:solidFill>
                  <a:schemeClr val="bg1">
                    <a:lumMod val="10000"/>
                  </a:schemeClr>
                </a:solidFill>
                <a:latin typeface="+mn-lt"/>
              </a:rPr>
              <a:t>hiệu</a:t>
            </a:r>
            <a:r>
              <a:rPr lang="en-US" sz="1600" dirty="0">
                <a:solidFill>
                  <a:schemeClr val="bg1">
                    <a:lumMod val="10000"/>
                  </a:schemeClr>
                </a:solidFill>
                <a:latin typeface="+mn-lt"/>
              </a:rPr>
              <a:t> </a:t>
            </a:r>
            <a:r>
              <a:rPr lang="en-US" sz="1600" dirty="0" err="1">
                <a:solidFill>
                  <a:schemeClr val="bg1">
                    <a:lumMod val="10000"/>
                  </a:schemeClr>
                </a:solidFill>
                <a:latin typeface="+mn-lt"/>
              </a:rPr>
              <a:t>cho</a:t>
            </a:r>
            <a:r>
              <a:rPr lang="en-US" sz="1600" dirty="0">
                <a:solidFill>
                  <a:schemeClr val="bg1">
                    <a:lumMod val="10000"/>
                  </a:schemeClr>
                </a:solidFill>
                <a:latin typeface="+mn-lt"/>
              </a:rPr>
              <a:t> </a:t>
            </a:r>
            <a:r>
              <a:rPr lang="en-US" sz="1600" dirty="0" err="1">
                <a:solidFill>
                  <a:schemeClr val="bg1">
                    <a:lumMod val="10000"/>
                  </a:schemeClr>
                </a:solidFill>
                <a:latin typeface="+mn-lt"/>
              </a:rPr>
              <a:t>cả</a:t>
            </a:r>
            <a:r>
              <a:rPr lang="en-US" sz="1600" dirty="0">
                <a:solidFill>
                  <a:schemeClr val="bg1">
                    <a:lumMod val="10000"/>
                  </a:schemeClr>
                </a:solidFill>
                <a:latin typeface="+mn-lt"/>
              </a:rPr>
              <a:t> </a:t>
            </a:r>
            <a:r>
              <a:rPr lang="en-US" sz="1600" dirty="0" err="1">
                <a:solidFill>
                  <a:schemeClr val="bg1">
                    <a:lumMod val="10000"/>
                  </a:schemeClr>
                </a:solidFill>
                <a:latin typeface="+mn-lt"/>
              </a:rPr>
              <a:t>hai</a:t>
            </a:r>
            <a:r>
              <a:rPr lang="en-US" sz="1600" dirty="0">
                <a:solidFill>
                  <a:schemeClr val="bg1">
                    <a:lumMod val="10000"/>
                  </a:schemeClr>
                </a:solidFill>
                <a:latin typeface="+mn-lt"/>
              </a:rPr>
              <a:t> </a:t>
            </a:r>
            <a:r>
              <a:rPr lang="en-US" sz="1600" dirty="0" err="1">
                <a:solidFill>
                  <a:schemeClr val="bg1">
                    <a:lumMod val="10000"/>
                  </a:schemeClr>
                </a:solidFill>
                <a:latin typeface="+mn-lt"/>
              </a:rPr>
              <a:t>phía</a:t>
            </a:r>
            <a:r>
              <a:rPr lang="en-US" sz="1600" dirty="0">
                <a:solidFill>
                  <a:schemeClr val="bg1">
                    <a:lumMod val="10000"/>
                  </a:schemeClr>
                </a:solidFill>
                <a:latin typeface="+mn-lt"/>
              </a:rPr>
              <a:t>.</a:t>
            </a:r>
            <a:endParaRPr lang="en-VN" sz="1600" dirty="0">
              <a:solidFill>
                <a:schemeClr val="bg1">
                  <a:lumMod val="10000"/>
                </a:schemeClr>
              </a:solidFill>
              <a:latin typeface="+mn-lt"/>
            </a:endParaRPr>
          </a:p>
          <a:p>
            <a:pPr marL="177800" indent="0">
              <a:buNone/>
            </a:pPr>
            <a:endParaRPr lang="en-VN" sz="1600" dirty="0">
              <a:solidFill>
                <a:schemeClr val="bg1">
                  <a:lumMod val="10000"/>
                </a:schemeClr>
              </a:solidFill>
              <a:latin typeface="+mn-lt"/>
            </a:endParaRPr>
          </a:p>
        </p:txBody>
      </p:sp>
    </p:spTree>
    <p:extLst>
      <p:ext uri="{BB962C8B-B14F-4D97-AF65-F5344CB8AC3E}">
        <p14:creationId xmlns:p14="http://schemas.microsoft.com/office/powerpoint/2010/main" val="930055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600" smtClean="0">
                <a:solidFill>
                  <a:schemeClr val="bg1">
                    <a:lumMod val="10000"/>
                  </a:schemeClr>
                </a:solidFill>
                <a:latin typeface="Arial" panose="020B0604020202020204" pitchFamily="34" charset="0"/>
                <a:cs typeface="Arial" panose="020B0604020202020204" pitchFamily="34" charset="0"/>
              </a:rPr>
              <a:t>44</a:t>
            </a:fld>
            <a:endParaRPr lang="en" sz="1600">
              <a:solidFill>
                <a:schemeClr val="bg1">
                  <a:lumMod val="10000"/>
                </a:schemeClr>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330386" y="978404"/>
            <a:ext cx="8456998" cy="3663793"/>
          </a:xfrm>
        </p:spPr>
        <p:txBody>
          <a:bodyPr/>
          <a:lstStyle/>
          <a:p>
            <a:pPr marL="177800" indent="0">
              <a:buNone/>
            </a:pPr>
            <a:r>
              <a:rPr lang="en-VN" sz="1800" b="1" dirty="0">
                <a:solidFill>
                  <a:schemeClr val="bg1">
                    <a:lumMod val="10000"/>
                  </a:schemeClr>
                </a:solidFill>
                <a:latin typeface="Arial" panose="020B0604020202020204" pitchFamily="34" charset="0"/>
                <a:cs typeface="Arial" panose="020B0604020202020204" pitchFamily="34" charset="0"/>
              </a:rPr>
              <a:t>Bước 1: Chuẩn bị biện hộ</a:t>
            </a:r>
          </a:p>
          <a:p>
            <a:pPr marL="177800" indent="0">
              <a:buNone/>
            </a:pPr>
            <a:r>
              <a:rPr lang="en-US" sz="1800" dirty="0">
                <a:solidFill>
                  <a:schemeClr val="bg1">
                    <a:lumMod val="10000"/>
                  </a:schemeClr>
                </a:solidFill>
                <a:latin typeface="Arial" panose="020B0604020202020204" pitchFamily="34" charset="0"/>
                <a:cs typeface="Arial" panose="020B0604020202020204" pitchFamily="34" charset="0"/>
              </a:rPr>
              <a:t>-</a:t>
            </a:r>
            <a:r>
              <a:rPr lang="en-US" sz="1800" dirty="0" err="1">
                <a:solidFill>
                  <a:schemeClr val="bg1">
                    <a:lumMod val="10000"/>
                  </a:schemeClr>
                </a:solidFill>
                <a:latin typeface="Arial" panose="020B0604020202020204" pitchFamily="34" charset="0"/>
                <a:cs typeface="Arial" panose="020B0604020202020204" pitchFamily="34" charset="0"/>
              </a:rPr>
              <a:t>Biện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hô</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cho</a:t>
            </a:r>
            <a:r>
              <a:rPr lang="en-US" sz="1800" dirty="0">
                <a:solidFill>
                  <a:schemeClr val="bg1">
                    <a:lumMod val="10000"/>
                  </a:schemeClr>
                </a:solidFill>
                <a:latin typeface="Arial" panose="020B0604020202020204" pitchFamily="34" charset="0"/>
                <a:cs typeface="Arial" panose="020B0604020202020204" pitchFamily="34" charset="0"/>
              </a:rPr>
              <a:t> ai? </a:t>
            </a:r>
            <a:r>
              <a:rPr lang="en-US" sz="1800" dirty="0" err="1">
                <a:solidFill>
                  <a:schemeClr val="bg1">
                    <a:lumMod val="10000"/>
                  </a:schemeClr>
                </a:solidFill>
                <a:latin typeface="Arial" panose="020B0604020202020204" pitchFamily="34" charset="0"/>
                <a:cs typeface="Arial" panose="020B0604020202020204" pitchFamily="34" charset="0"/>
              </a:rPr>
              <a:t>vấn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đề</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gì</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cần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biện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hộ</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Cán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bộ</a:t>
            </a:r>
            <a:r>
              <a:rPr lang="en-US" sz="1800" dirty="0">
                <a:solidFill>
                  <a:schemeClr val="bg1">
                    <a:lumMod val="10000"/>
                  </a:schemeClr>
                </a:solidFill>
                <a:latin typeface="Arial" panose="020B0604020202020204" pitchFamily="34" charset="0"/>
                <a:cs typeface="Arial" panose="020B0604020202020204" pitchFamily="34" charset="0"/>
              </a:rPr>
              <a:t> QLTH </a:t>
            </a:r>
            <a:r>
              <a:rPr lang="en-US" sz="1800" dirty="0" err="1">
                <a:solidFill>
                  <a:schemeClr val="bg1">
                    <a:lumMod val="10000"/>
                  </a:schemeClr>
                </a:solidFill>
                <a:latin typeface="Arial" panose="020B0604020202020204" pitchFamily="34" charset="0"/>
                <a:cs typeface="Arial" panose="020B0604020202020204" pitchFamily="34" charset="0"/>
              </a:rPr>
              <a:t>nên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trao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đổi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bàn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bạc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với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một</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số</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đồng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nghiệp</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những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người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có</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chuyên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môn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dựa</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vào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các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thông</a:t>
            </a:r>
            <a:r>
              <a:rPr lang="en-US" sz="1800" dirty="0">
                <a:solidFill>
                  <a:schemeClr val="bg1">
                    <a:lumMod val="10000"/>
                  </a:schemeClr>
                </a:solidFill>
                <a:latin typeface="Arial" panose="020B0604020202020204" pitchFamily="34" charset="0"/>
                <a:cs typeface="Arial" panose="020B0604020202020204" pitchFamily="34" charset="0"/>
              </a:rPr>
              <a:t> tin </a:t>
            </a:r>
            <a:r>
              <a:rPr lang="en-US" sz="1800" dirty="0" err="1">
                <a:solidFill>
                  <a:schemeClr val="bg1">
                    <a:lumMod val="10000"/>
                  </a:schemeClr>
                </a:solidFill>
                <a:latin typeface="Arial" panose="020B0604020202020204" pitchFamily="34" charset="0"/>
                <a:cs typeface="Arial" panose="020B0604020202020204" pitchFamily="34" charset="0"/>
              </a:rPr>
              <a:t>quan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trọng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liên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quan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đến</a:t>
            </a:r>
            <a:r>
              <a:rPr lang="en-US" sz="1800" dirty="0">
                <a:solidFill>
                  <a:schemeClr val="bg1">
                    <a:lumMod val="10000"/>
                  </a:schemeClr>
                </a:solidFill>
                <a:latin typeface="Arial" panose="020B0604020202020204" pitchFamily="34" charset="0"/>
                <a:cs typeface="Arial" panose="020B0604020202020204" pitchFamily="34" charset="0"/>
              </a:rPr>
              <a:t> NB. ( </a:t>
            </a:r>
            <a:r>
              <a:rPr lang="en-US" sz="1800" dirty="0" err="1">
                <a:solidFill>
                  <a:schemeClr val="bg1">
                    <a:lumMod val="10000"/>
                  </a:schemeClr>
                </a:solidFill>
                <a:latin typeface="Arial" panose="020B0604020202020204" pitchFamily="34" charset="0"/>
                <a:cs typeface="Arial" panose="020B0604020202020204" pitchFamily="34" charset="0"/>
              </a:rPr>
              <a:t>Trong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một</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số</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trường</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hợp</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cần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báo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cáo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với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người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lãnh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đạo</a:t>
            </a:r>
            <a:r>
              <a:rPr lang="en-US" sz="1800" dirty="0">
                <a:solidFill>
                  <a:schemeClr val="bg1">
                    <a:lumMod val="10000"/>
                  </a:schemeClr>
                </a:solidFill>
                <a:latin typeface="Arial" panose="020B0604020202020204" pitchFamily="34" charset="0"/>
                <a:cs typeface="Arial" panose="020B0604020202020204" pitchFamily="34" charset="0"/>
              </a:rPr>
              <a:t>).</a:t>
            </a:r>
          </a:p>
          <a:p>
            <a:pPr marL="177800" indent="0">
              <a:buNone/>
            </a:pP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Mục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tiêu</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của</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quá</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trình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biện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hộ</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là</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gì</a:t>
            </a:r>
            <a:r>
              <a:rPr lang="en-US" sz="1800" dirty="0">
                <a:solidFill>
                  <a:schemeClr val="bg1">
                    <a:lumMod val="10000"/>
                  </a:schemeClr>
                </a:solidFill>
                <a:latin typeface="Arial" panose="020B0604020202020204" pitchFamily="34" charset="0"/>
                <a:cs typeface="Arial" panose="020B0604020202020204" pitchFamily="34" charset="0"/>
              </a:rPr>
              <a:t>?</a:t>
            </a:r>
          </a:p>
          <a:p>
            <a:pPr marL="177800" indent="0">
              <a:buNone/>
            </a:pP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Quyền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lực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nằm</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ở</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đâu</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Tìm</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hiểu</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xem</a:t>
            </a:r>
            <a:r>
              <a:rPr lang="en-US" sz="1800" dirty="0">
                <a:solidFill>
                  <a:schemeClr val="bg1">
                    <a:lumMod val="10000"/>
                  </a:schemeClr>
                </a:solidFill>
                <a:latin typeface="Arial" panose="020B0604020202020204" pitchFamily="34" charset="0"/>
                <a:cs typeface="Arial" panose="020B0604020202020204" pitchFamily="34" charset="0"/>
              </a:rPr>
              <a:t> ai </a:t>
            </a:r>
            <a:r>
              <a:rPr lang="en-US" sz="1800" dirty="0" err="1">
                <a:solidFill>
                  <a:schemeClr val="bg1">
                    <a:lumMod val="10000"/>
                  </a:schemeClr>
                </a:solidFill>
                <a:latin typeface="Arial" panose="020B0604020202020204" pitchFamily="34" charset="0"/>
                <a:cs typeface="Arial" panose="020B0604020202020204" pitchFamily="34" charset="0"/>
              </a:rPr>
              <a:t>là</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người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có</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sức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mạnh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làm</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thay</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đổi</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vấn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đề</a:t>
            </a:r>
            <a:r>
              <a:rPr lang="en-US" sz="1800" dirty="0">
                <a:solidFill>
                  <a:schemeClr val="bg1">
                    <a:lumMod val="10000"/>
                  </a:schemeClr>
                </a:solidFill>
                <a:latin typeface="Arial" panose="020B0604020202020204" pitchFamily="34" charset="0"/>
                <a:cs typeface="Arial" panose="020B0604020202020204" pitchFamily="34" charset="0"/>
              </a:rPr>
              <a:t>.</a:t>
            </a:r>
          </a:p>
          <a:p>
            <a:pPr marL="177800" indent="0">
              <a:buNone/>
            </a:pP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Cách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thức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tiếp</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cận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thực</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hiện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biện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hô</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như</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thê</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nào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để</a:t>
            </a:r>
            <a:r>
              <a:rPr lang="en-US" sz="1800" dirty="0">
                <a:solidFill>
                  <a:schemeClr val="bg1">
                    <a:lumMod val="10000"/>
                  </a:schemeClr>
                </a:solidFill>
                <a:latin typeface="Arial" panose="020B0604020202020204" pitchFamily="34" charset="0"/>
                <a:cs typeface="Arial" panose="020B0604020202020204" pitchFamily="34" charset="0"/>
              </a:rPr>
              <a:t> quá </a:t>
            </a:r>
            <a:r>
              <a:rPr lang="en-US" sz="1800" dirty="0" err="1">
                <a:solidFill>
                  <a:schemeClr val="bg1">
                    <a:lumMod val="10000"/>
                  </a:schemeClr>
                </a:solidFill>
                <a:latin typeface="Arial" panose="020B0604020202020204" pitchFamily="34" charset="0"/>
                <a:cs typeface="Arial" panose="020B0604020202020204" pitchFamily="34" charset="0"/>
              </a:rPr>
              <a:t>trình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biện</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hô</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đảm</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bảo</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thành</a:t>
            </a:r>
            <a:r>
              <a:rPr lang="en-US" sz="1800" dirty="0">
                <a:solidFill>
                  <a:schemeClr val="bg1">
                    <a:lumMod val="10000"/>
                  </a:schemeClr>
                </a:solidFill>
                <a:latin typeface="Arial" panose="020B0604020202020204" pitchFamily="34" charset="0"/>
                <a:cs typeface="Arial" panose="020B0604020202020204" pitchFamily="34" charset="0"/>
              </a:rPr>
              <a:t> </a:t>
            </a:r>
            <a:r>
              <a:rPr lang="en-US" sz="1800" dirty="0" err="1">
                <a:solidFill>
                  <a:schemeClr val="bg1">
                    <a:lumMod val="10000"/>
                  </a:schemeClr>
                </a:solidFill>
                <a:latin typeface="Arial" panose="020B0604020202020204" pitchFamily="34" charset="0"/>
                <a:cs typeface="Arial" panose="020B0604020202020204" pitchFamily="34" charset="0"/>
              </a:rPr>
              <a:t>công</a:t>
            </a:r>
            <a:r>
              <a:rPr lang="en-US" sz="1800" dirty="0">
                <a:solidFill>
                  <a:schemeClr val="bg1">
                    <a:lumMod val="10000"/>
                  </a:schemeClr>
                </a:solidFill>
                <a:latin typeface="Arial" panose="020B0604020202020204" pitchFamily="34" charset="0"/>
                <a:cs typeface="Arial" panose="020B0604020202020204" pitchFamily="34" charset="0"/>
              </a:rPr>
              <a:t>.</a:t>
            </a:r>
            <a:endParaRPr lang="en-VN" sz="1800" dirty="0">
              <a:solidFill>
                <a:schemeClr val="bg1">
                  <a:lumMod val="10000"/>
                </a:schemeClr>
              </a:solidFill>
              <a:latin typeface="Arial" panose="020B0604020202020204" pitchFamily="34" charset="0"/>
              <a:cs typeface="Arial" panose="020B0604020202020204" pitchFamily="34" charset="0"/>
            </a:endParaRPr>
          </a:p>
          <a:p>
            <a:pPr marL="177800" indent="0">
              <a:buNone/>
            </a:pPr>
            <a:endParaRPr lang="en-US" sz="1800" dirty="0">
              <a:solidFill>
                <a:schemeClr val="bg1">
                  <a:lumMod val="10000"/>
                </a:schemeClr>
              </a:solidFill>
              <a:latin typeface="Arial" panose="020B0604020202020204" pitchFamily="34" charset="0"/>
              <a:cs typeface="Arial" panose="020B0604020202020204" pitchFamily="34" charset="0"/>
            </a:endParaRPr>
          </a:p>
          <a:p>
            <a:pPr marL="177800" indent="0">
              <a:buNone/>
            </a:pPr>
            <a:endParaRPr lang="en-VN" sz="1800" dirty="0">
              <a:solidFill>
                <a:schemeClr val="bg1">
                  <a:lumMod val="10000"/>
                </a:schemeClr>
              </a:solidFill>
              <a:latin typeface="Arial" panose="020B0604020202020204" pitchFamily="34" charset="0"/>
              <a:cs typeface="Arial" panose="020B0604020202020204" pitchFamily="34" charset="0"/>
            </a:endParaRPr>
          </a:p>
        </p:txBody>
      </p:sp>
      <p:sp>
        <p:nvSpPr>
          <p:cNvPr id="9" name="Title 2">
            <a:extLst>
              <a:ext uri="{FF2B5EF4-FFF2-40B4-BE49-F238E27FC236}">
                <a16:creationId xmlns:a16="http://schemas.microsoft.com/office/drawing/2014/main" id="{5D8AB899-CFD6-4F3D-3245-BE7FA80AA434}"/>
              </a:ext>
            </a:extLst>
          </p:cNvPr>
          <p:cNvSpPr>
            <a:spLocks noGrp="1"/>
          </p:cNvSpPr>
          <p:nvPr>
            <p:ph type="title"/>
          </p:nvPr>
        </p:nvSpPr>
        <p:spPr>
          <a:xfrm>
            <a:off x="720000" y="318276"/>
            <a:ext cx="3019081" cy="572700"/>
          </a:xfrm>
        </p:spPr>
        <p:txBody>
          <a:bodyPr/>
          <a:lstStyle/>
          <a:p>
            <a:r>
              <a:rPr lang="en-VN" sz="2000" dirty="0">
                <a:solidFill>
                  <a:schemeClr val="bg1">
                    <a:lumMod val="10000"/>
                  </a:schemeClr>
                </a:solidFill>
                <a:latin typeface="Arial" panose="020B0604020202020204" pitchFamily="34" charset="0"/>
                <a:cs typeface="Arial" panose="020B0604020202020204" pitchFamily="34" charset="0"/>
              </a:rPr>
              <a:t>Cách thực hiện</a:t>
            </a:r>
          </a:p>
        </p:txBody>
      </p:sp>
    </p:spTree>
    <p:extLst>
      <p:ext uri="{BB962C8B-B14F-4D97-AF65-F5344CB8AC3E}">
        <p14:creationId xmlns:p14="http://schemas.microsoft.com/office/powerpoint/2010/main" val="2136739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E2C4B-C73D-1673-68B6-1AC6E236B1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FA7C9B-DBFA-49F2-424D-0EF542764B1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800" smtClean="0">
                <a:solidFill>
                  <a:schemeClr val="bg1">
                    <a:lumMod val="10000"/>
                  </a:schemeClr>
                </a:solidFill>
                <a:latin typeface="+mn-lt"/>
              </a:rPr>
              <a:t>45</a:t>
            </a:fld>
            <a:endParaRPr lang="en" sz="1800">
              <a:solidFill>
                <a:schemeClr val="bg1">
                  <a:lumMod val="10000"/>
                </a:schemeClr>
              </a:solidFill>
              <a:latin typeface="+mn-lt"/>
            </a:endParaRPr>
          </a:p>
        </p:txBody>
      </p:sp>
      <p:sp>
        <p:nvSpPr>
          <p:cNvPr id="9" name="Title 2">
            <a:extLst>
              <a:ext uri="{FF2B5EF4-FFF2-40B4-BE49-F238E27FC236}">
                <a16:creationId xmlns:a16="http://schemas.microsoft.com/office/drawing/2014/main" id="{E849FB9B-13EE-AC65-88B9-03029C40DA56}"/>
              </a:ext>
            </a:extLst>
          </p:cNvPr>
          <p:cNvSpPr>
            <a:spLocks noGrp="1"/>
          </p:cNvSpPr>
          <p:nvPr>
            <p:ph type="title"/>
          </p:nvPr>
        </p:nvSpPr>
        <p:spPr>
          <a:xfrm>
            <a:off x="720000" y="318276"/>
            <a:ext cx="3019081" cy="572700"/>
          </a:xfrm>
        </p:spPr>
        <p:txBody>
          <a:bodyPr/>
          <a:lstStyle/>
          <a:p>
            <a:r>
              <a:rPr lang="en-VN" sz="1800" dirty="0">
                <a:solidFill>
                  <a:schemeClr val="bg1">
                    <a:lumMod val="10000"/>
                  </a:schemeClr>
                </a:solidFill>
                <a:latin typeface="+mn-lt"/>
              </a:rPr>
              <a:t>Cách thực hiện</a:t>
            </a:r>
          </a:p>
        </p:txBody>
      </p:sp>
      <p:sp>
        <p:nvSpPr>
          <p:cNvPr id="10" name="Text Placeholder 3">
            <a:extLst>
              <a:ext uri="{FF2B5EF4-FFF2-40B4-BE49-F238E27FC236}">
                <a16:creationId xmlns:a16="http://schemas.microsoft.com/office/drawing/2014/main" id="{8FD325E9-D9D8-2016-949A-F5E2183FE281}"/>
              </a:ext>
            </a:extLst>
          </p:cNvPr>
          <p:cNvSpPr txBox="1">
            <a:spLocks/>
          </p:cNvSpPr>
          <p:nvPr/>
        </p:nvSpPr>
        <p:spPr>
          <a:xfrm>
            <a:off x="720000" y="1106512"/>
            <a:ext cx="7819264" cy="36637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Font typeface="Nunito Light"/>
              <a:buNone/>
            </a:pPr>
            <a:r>
              <a:rPr lang="en-US" sz="1800" dirty="0">
                <a:solidFill>
                  <a:schemeClr val="bg1">
                    <a:lumMod val="10000"/>
                  </a:schemeClr>
                </a:solidFill>
                <a:latin typeface="+mn-lt"/>
              </a:rPr>
              <a:t>- </a:t>
            </a:r>
            <a:r>
              <a:rPr lang="en-US" sz="1800" dirty="0" err="1">
                <a:solidFill>
                  <a:schemeClr val="bg1">
                    <a:lumMod val="10000"/>
                  </a:schemeClr>
                </a:solidFill>
                <a:latin typeface="+mn-lt"/>
              </a:rPr>
              <a:t>Nghiên</a:t>
            </a:r>
            <a:r>
              <a:rPr lang="en-US" sz="1800" dirty="0">
                <a:solidFill>
                  <a:schemeClr val="bg1">
                    <a:lumMod val="10000"/>
                  </a:schemeClr>
                </a:solidFill>
                <a:latin typeface="+mn-lt"/>
              </a:rPr>
              <a:t> </a:t>
            </a:r>
            <a:r>
              <a:rPr lang="en-US" sz="1800" dirty="0" err="1">
                <a:solidFill>
                  <a:schemeClr val="bg1">
                    <a:lumMod val="10000"/>
                  </a:schemeClr>
                </a:solidFill>
                <a:latin typeface="+mn-lt"/>
              </a:rPr>
              <a:t>cứu</a:t>
            </a:r>
            <a:r>
              <a:rPr lang="en-US" sz="1800" dirty="0">
                <a:solidFill>
                  <a:schemeClr val="bg1">
                    <a:lumMod val="10000"/>
                  </a:schemeClr>
                </a:solidFill>
                <a:latin typeface="+mn-lt"/>
              </a:rPr>
              <a:t>, </a:t>
            </a:r>
            <a:r>
              <a:rPr lang="en-US" sz="1800" dirty="0" err="1">
                <a:solidFill>
                  <a:schemeClr val="bg1">
                    <a:lumMod val="10000"/>
                  </a:schemeClr>
                </a:solidFill>
                <a:latin typeface="+mn-lt"/>
              </a:rPr>
              <a:t>thu</a:t>
            </a:r>
            <a:r>
              <a:rPr lang="en-US" sz="1800" dirty="0">
                <a:solidFill>
                  <a:schemeClr val="bg1">
                    <a:lumMod val="10000"/>
                  </a:schemeClr>
                </a:solidFill>
                <a:latin typeface="+mn-lt"/>
              </a:rPr>
              <a:t> </a:t>
            </a:r>
            <a:r>
              <a:rPr lang="en-US" sz="1800" dirty="0" err="1">
                <a:solidFill>
                  <a:schemeClr val="bg1">
                    <a:lumMod val="10000"/>
                  </a:schemeClr>
                </a:solidFill>
                <a:latin typeface="+mn-lt"/>
              </a:rPr>
              <a:t>thập</a:t>
            </a:r>
            <a:r>
              <a:rPr lang="en-US" sz="1800" dirty="0">
                <a:solidFill>
                  <a:schemeClr val="bg1">
                    <a:lumMod val="10000"/>
                  </a:schemeClr>
                </a:solidFill>
                <a:latin typeface="+mn-lt"/>
              </a:rPr>
              <a:t> </a:t>
            </a:r>
            <a:r>
              <a:rPr lang="en-US" sz="1800" dirty="0" err="1">
                <a:solidFill>
                  <a:schemeClr val="bg1">
                    <a:lumMod val="10000"/>
                  </a:schemeClr>
                </a:solidFill>
                <a:latin typeface="+mn-lt"/>
              </a:rPr>
              <a:t>thông</a:t>
            </a:r>
            <a:r>
              <a:rPr lang="en-US" sz="1800" dirty="0">
                <a:solidFill>
                  <a:schemeClr val="bg1">
                    <a:lumMod val="10000"/>
                  </a:schemeClr>
                </a:solidFill>
                <a:latin typeface="+mn-lt"/>
              </a:rPr>
              <a:t> tin, </a:t>
            </a:r>
            <a:r>
              <a:rPr lang="en-US" sz="1800" dirty="0" err="1">
                <a:solidFill>
                  <a:schemeClr val="bg1">
                    <a:lumMod val="10000"/>
                  </a:schemeClr>
                </a:solidFill>
                <a:latin typeface="+mn-lt"/>
              </a:rPr>
              <a:t>nhu</a:t>
            </a:r>
            <a:r>
              <a:rPr lang="en-US" sz="1800" dirty="0">
                <a:solidFill>
                  <a:schemeClr val="bg1">
                    <a:lumMod val="10000"/>
                  </a:schemeClr>
                </a:solidFill>
                <a:latin typeface="+mn-lt"/>
              </a:rPr>
              <a:t> </a:t>
            </a:r>
            <a:r>
              <a:rPr lang="en-US" sz="1800" dirty="0" err="1">
                <a:solidFill>
                  <a:schemeClr val="bg1">
                    <a:lumMod val="10000"/>
                  </a:schemeClr>
                </a:solidFill>
                <a:latin typeface="+mn-lt"/>
              </a:rPr>
              <a:t>cầu</a:t>
            </a:r>
            <a:r>
              <a:rPr lang="en-US" sz="1800" dirty="0">
                <a:solidFill>
                  <a:schemeClr val="bg1">
                    <a:lumMod val="10000"/>
                  </a:schemeClr>
                </a:solidFill>
                <a:latin typeface="+mn-lt"/>
              </a:rPr>
              <a:t> NB </a:t>
            </a:r>
            <a:r>
              <a:rPr lang="en-US" sz="1800" dirty="0" err="1">
                <a:solidFill>
                  <a:schemeClr val="bg1">
                    <a:lumMod val="10000"/>
                  </a:schemeClr>
                </a:solidFill>
                <a:latin typeface="+mn-lt"/>
              </a:rPr>
              <a:t>và</a:t>
            </a:r>
            <a:r>
              <a:rPr lang="en-US" sz="1800" dirty="0">
                <a:solidFill>
                  <a:schemeClr val="bg1">
                    <a:lumMod val="10000"/>
                  </a:schemeClr>
                </a:solidFill>
                <a:latin typeface="+mn-lt"/>
              </a:rPr>
              <a:t>   </a:t>
            </a:r>
            <a:r>
              <a:rPr lang="en-US" sz="1800" dirty="0" err="1">
                <a:solidFill>
                  <a:schemeClr val="bg1">
                    <a:lumMod val="10000"/>
                  </a:schemeClr>
                </a:solidFill>
                <a:latin typeface="+mn-lt"/>
              </a:rPr>
              <a:t>cơ</a:t>
            </a:r>
            <a:r>
              <a:rPr lang="en-US" sz="1800" dirty="0">
                <a:solidFill>
                  <a:schemeClr val="bg1">
                    <a:lumMod val="10000"/>
                  </a:schemeClr>
                </a:solidFill>
                <a:latin typeface="+mn-lt"/>
              </a:rPr>
              <a:t> </a:t>
            </a:r>
            <a:r>
              <a:rPr lang="en-US" sz="1800" dirty="0" err="1">
                <a:solidFill>
                  <a:schemeClr val="bg1">
                    <a:lumMod val="10000"/>
                  </a:schemeClr>
                </a:solidFill>
                <a:latin typeface="+mn-lt"/>
              </a:rPr>
              <a:t>sở</a:t>
            </a:r>
            <a:r>
              <a:rPr lang="en-US" sz="1800" dirty="0">
                <a:solidFill>
                  <a:schemeClr val="bg1">
                    <a:lumMod val="10000"/>
                  </a:schemeClr>
                </a:solidFill>
                <a:latin typeface="+mn-lt"/>
              </a:rPr>
              <a:t> </a:t>
            </a:r>
            <a:r>
              <a:rPr lang="en-US" sz="1800" dirty="0" err="1">
                <a:solidFill>
                  <a:schemeClr val="bg1">
                    <a:lumMod val="10000"/>
                  </a:schemeClr>
                </a:solidFill>
                <a:latin typeface="+mn-lt"/>
              </a:rPr>
              <a:t>cung</a:t>
            </a:r>
            <a:r>
              <a:rPr lang="en-US" sz="1800" dirty="0">
                <a:solidFill>
                  <a:schemeClr val="bg1">
                    <a:lumMod val="10000"/>
                  </a:schemeClr>
                </a:solidFill>
                <a:latin typeface="+mn-lt"/>
              </a:rPr>
              <a:t> </a:t>
            </a:r>
            <a:r>
              <a:rPr lang="en-US" sz="1800" dirty="0" err="1">
                <a:solidFill>
                  <a:schemeClr val="bg1">
                    <a:lumMod val="10000"/>
                  </a:schemeClr>
                </a:solidFill>
                <a:latin typeface="+mn-lt"/>
              </a:rPr>
              <a:t>cấp</a:t>
            </a:r>
            <a:r>
              <a:rPr lang="en-US" sz="1800" dirty="0">
                <a:solidFill>
                  <a:schemeClr val="bg1">
                    <a:lumMod val="10000"/>
                  </a:schemeClr>
                </a:solidFill>
                <a:latin typeface="+mn-lt"/>
              </a:rPr>
              <a:t> </a:t>
            </a:r>
            <a:r>
              <a:rPr lang="en-US" sz="1800" dirty="0" err="1">
                <a:solidFill>
                  <a:schemeClr val="bg1">
                    <a:lumMod val="10000"/>
                  </a:schemeClr>
                </a:solidFill>
                <a:latin typeface="+mn-lt"/>
              </a:rPr>
              <a:t>dịch</a:t>
            </a:r>
            <a:r>
              <a:rPr lang="en-US" sz="1800" dirty="0">
                <a:solidFill>
                  <a:schemeClr val="bg1">
                    <a:lumMod val="10000"/>
                  </a:schemeClr>
                </a:solidFill>
                <a:latin typeface="+mn-lt"/>
              </a:rPr>
              <a:t> </a:t>
            </a:r>
            <a:r>
              <a:rPr lang="en-US" sz="1800" dirty="0" err="1">
                <a:solidFill>
                  <a:schemeClr val="bg1">
                    <a:lumMod val="10000"/>
                  </a:schemeClr>
                </a:solidFill>
                <a:latin typeface="+mn-lt"/>
              </a:rPr>
              <a:t>vụ</a:t>
            </a:r>
            <a:r>
              <a:rPr lang="en-US" sz="1800" dirty="0">
                <a:solidFill>
                  <a:schemeClr val="bg1">
                    <a:lumMod val="10000"/>
                  </a:schemeClr>
                </a:solidFill>
                <a:latin typeface="+mn-lt"/>
              </a:rPr>
              <a:t>.</a:t>
            </a:r>
            <a:r>
              <a:rPr lang="en-VN" sz="1800" dirty="0">
                <a:solidFill>
                  <a:schemeClr val="bg1">
                    <a:lumMod val="10000"/>
                  </a:schemeClr>
                </a:solidFill>
                <a:latin typeface="+mn-lt"/>
              </a:rPr>
              <a:t> </a:t>
            </a:r>
          </a:p>
          <a:p>
            <a:pPr marL="177800" indent="0">
              <a:buFont typeface="Nunito Light"/>
              <a:buNone/>
            </a:pPr>
            <a:r>
              <a:rPr lang="en-US" sz="1800" dirty="0">
                <a:solidFill>
                  <a:schemeClr val="bg1">
                    <a:lumMod val="10000"/>
                  </a:schemeClr>
                </a:solidFill>
                <a:latin typeface="+mn-lt"/>
              </a:rPr>
              <a:t>- </a:t>
            </a:r>
            <a:r>
              <a:rPr lang="en-US" sz="1800" dirty="0" err="1">
                <a:solidFill>
                  <a:schemeClr val="bg1">
                    <a:lumMod val="10000"/>
                  </a:schemeClr>
                </a:solidFill>
                <a:latin typeface="+mn-lt"/>
              </a:rPr>
              <a:t>Nghiên</a:t>
            </a:r>
            <a:r>
              <a:rPr lang="en-US" sz="1800" dirty="0">
                <a:solidFill>
                  <a:schemeClr val="bg1">
                    <a:lumMod val="10000"/>
                  </a:schemeClr>
                </a:solidFill>
                <a:latin typeface="+mn-lt"/>
              </a:rPr>
              <a:t> </a:t>
            </a:r>
            <a:r>
              <a:rPr lang="en-US" sz="1800" dirty="0" err="1">
                <a:solidFill>
                  <a:schemeClr val="bg1">
                    <a:lumMod val="10000"/>
                  </a:schemeClr>
                </a:solidFill>
                <a:latin typeface="+mn-lt"/>
              </a:rPr>
              <a:t>cứu</a:t>
            </a:r>
            <a:r>
              <a:rPr lang="en-US" sz="1800" dirty="0">
                <a:solidFill>
                  <a:schemeClr val="bg1">
                    <a:lumMod val="10000"/>
                  </a:schemeClr>
                </a:solidFill>
                <a:latin typeface="+mn-lt"/>
              </a:rPr>
              <a:t>, </a:t>
            </a:r>
            <a:r>
              <a:rPr lang="en-US" sz="1800" dirty="0" err="1">
                <a:solidFill>
                  <a:schemeClr val="bg1">
                    <a:lumMod val="10000"/>
                  </a:schemeClr>
                </a:solidFill>
                <a:latin typeface="+mn-lt"/>
              </a:rPr>
              <a:t>thu</a:t>
            </a:r>
            <a:r>
              <a:rPr lang="en-US" sz="1800" dirty="0">
                <a:solidFill>
                  <a:schemeClr val="bg1">
                    <a:lumMod val="10000"/>
                  </a:schemeClr>
                </a:solidFill>
                <a:latin typeface="+mn-lt"/>
              </a:rPr>
              <a:t> </a:t>
            </a:r>
            <a:r>
              <a:rPr lang="en-US" sz="1800" dirty="0" err="1">
                <a:solidFill>
                  <a:schemeClr val="bg1">
                    <a:lumMod val="10000"/>
                  </a:schemeClr>
                </a:solidFill>
                <a:latin typeface="+mn-lt"/>
              </a:rPr>
              <a:t>thập</a:t>
            </a:r>
            <a:r>
              <a:rPr lang="en-US" sz="1800" dirty="0">
                <a:solidFill>
                  <a:schemeClr val="bg1">
                    <a:lumMod val="10000"/>
                  </a:schemeClr>
                </a:solidFill>
                <a:latin typeface="+mn-lt"/>
              </a:rPr>
              <a:t> </a:t>
            </a:r>
            <a:r>
              <a:rPr lang="en-US" sz="1800" dirty="0" err="1">
                <a:solidFill>
                  <a:schemeClr val="bg1">
                    <a:lumMod val="10000"/>
                  </a:schemeClr>
                </a:solidFill>
                <a:latin typeface="+mn-lt"/>
              </a:rPr>
              <a:t>thông</a:t>
            </a:r>
            <a:r>
              <a:rPr lang="en-US" sz="1800" dirty="0">
                <a:solidFill>
                  <a:schemeClr val="bg1">
                    <a:lumMod val="10000"/>
                  </a:schemeClr>
                </a:solidFill>
                <a:latin typeface="+mn-lt"/>
              </a:rPr>
              <a:t> tin, </a:t>
            </a:r>
            <a:r>
              <a:rPr lang="en-US" sz="1800" dirty="0" err="1">
                <a:solidFill>
                  <a:schemeClr val="bg1">
                    <a:lumMod val="10000"/>
                  </a:schemeClr>
                </a:solidFill>
                <a:latin typeface="+mn-lt"/>
              </a:rPr>
              <a:t>nhu</a:t>
            </a:r>
            <a:r>
              <a:rPr lang="en-US" sz="1800" dirty="0">
                <a:solidFill>
                  <a:schemeClr val="bg1">
                    <a:lumMod val="10000"/>
                  </a:schemeClr>
                </a:solidFill>
                <a:latin typeface="+mn-lt"/>
              </a:rPr>
              <a:t> </a:t>
            </a:r>
            <a:r>
              <a:rPr lang="en-US" sz="1800" dirty="0" err="1">
                <a:solidFill>
                  <a:schemeClr val="bg1">
                    <a:lumMod val="10000"/>
                  </a:schemeClr>
                </a:solidFill>
                <a:latin typeface="+mn-lt"/>
              </a:rPr>
              <a:t>cầu</a:t>
            </a:r>
            <a:r>
              <a:rPr lang="en-US" sz="1800" dirty="0">
                <a:solidFill>
                  <a:schemeClr val="bg1">
                    <a:lumMod val="10000"/>
                  </a:schemeClr>
                </a:solidFill>
                <a:latin typeface="+mn-lt"/>
              </a:rPr>
              <a:t> NB </a:t>
            </a:r>
            <a:r>
              <a:rPr lang="en-US" sz="1800" dirty="0" err="1">
                <a:solidFill>
                  <a:schemeClr val="bg1">
                    <a:lumMod val="10000"/>
                  </a:schemeClr>
                </a:solidFill>
                <a:latin typeface="+mn-lt"/>
              </a:rPr>
              <a:t>và</a:t>
            </a:r>
            <a:r>
              <a:rPr lang="en-US" sz="1800" dirty="0">
                <a:solidFill>
                  <a:schemeClr val="bg1">
                    <a:lumMod val="10000"/>
                  </a:schemeClr>
                </a:solidFill>
                <a:latin typeface="+mn-lt"/>
              </a:rPr>
              <a:t>   </a:t>
            </a:r>
            <a:r>
              <a:rPr lang="en-US" sz="1800" dirty="0" err="1">
                <a:solidFill>
                  <a:schemeClr val="bg1">
                    <a:lumMod val="10000"/>
                  </a:schemeClr>
                </a:solidFill>
                <a:latin typeface="+mn-lt"/>
              </a:rPr>
              <a:t>cơ</a:t>
            </a:r>
            <a:r>
              <a:rPr lang="en-US" sz="1800" dirty="0">
                <a:solidFill>
                  <a:schemeClr val="bg1">
                    <a:lumMod val="10000"/>
                  </a:schemeClr>
                </a:solidFill>
                <a:latin typeface="+mn-lt"/>
              </a:rPr>
              <a:t> </a:t>
            </a:r>
            <a:r>
              <a:rPr lang="en-US" sz="1800" dirty="0" err="1">
                <a:solidFill>
                  <a:schemeClr val="bg1">
                    <a:lumMod val="10000"/>
                  </a:schemeClr>
                </a:solidFill>
                <a:latin typeface="+mn-lt"/>
              </a:rPr>
              <a:t>sở</a:t>
            </a:r>
            <a:r>
              <a:rPr lang="en-US" sz="1800" dirty="0">
                <a:solidFill>
                  <a:schemeClr val="bg1">
                    <a:lumMod val="10000"/>
                  </a:schemeClr>
                </a:solidFill>
                <a:latin typeface="+mn-lt"/>
              </a:rPr>
              <a:t> </a:t>
            </a:r>
            <a:r>
              <a:rPr lang="en-US" sz="1800" dirty="0" err="1">
                <a:solidFill>
                  <a:schemeClr val="bg1">
                    <a:lumMod val="10000"/>
                  </a:schemeClr>
                </a:solidFill>
                <a:latin typeface="+mn-lt"/>
              </a:rPr>
              <a:t>cung</a:t>
            </a:r>
            <a:r>
              <a:rPr lang="en-US" sz="1800" dirty="0">
                <a:solidFill>
                  <a:schemeClr val="bg1">
                    <a:lumMod val="10000"/>
                  </a:schemeClr>
                </a:solidFill>
                <a:latin typeface="+mn-lt"/>
              </a:rPr>
              <a:t> </a:t>
            </a:r>
            <a:r>
              <a:rPr lang="en-US" sz="1800" dirty="0" err="1">
                <a:solidFill>
                  <a:schemeClr val="bg1">
                    <a:lumMod val="10000"/>
                  </a:schemeClr>
                </a:solidFill>
                <a:latin typeface="+mn-lt"/>
              </a:rPr>
              <a:t>cấp</a:t>
            </a:r>
            <a:r>
              <a:rPr lang="en-US" sz="1800" dirty="0">
                <a:solidFill>
                  <a:schemeClr val="bg1">
                    <a:lumMod val="10000"/>
                  </a:schemeClr>
                </a:solidFill>
                <a:latin typeface="+mn-lt"/>
              </a:rPr>
              <a:t> </a:t>
            </a:r>
            <a:r>
              <a:rPr lang="en-US" sz="1800" dirty="0" err="1">
                <a:solidFill>
                  <a:schemeClr val="bg1">
                    <a:lumMod val="10000"/>
                  </a:schemeClr>
                </a:solidFill>
                <a:latin typeface="+mn-lt"/>
              </a:rPr>
              <a:t>dịch</a:t>
            </a:r>
            <a:r>
              <a:rPr lang="en-US" sz="1800" dirty="0">
                <a:solidFill>
                  <a:schemeClr val="bg1">
                    <a:lumMod val="10000"/>
                  </a:schemeClr>
                </a:solidFill>
                <a:latin typeface="+mn-lt"/>
              </a:rPr>
              <a:t> </a:t>
            </a:r>
            <a:r>
              <a:rPr lang="en-US" sz="1800" dirty="0" err="1">
                <a:solidFill>
                  <a:schemeClr val="bg1">
                    <a:lumMod val="10000"/>
                  </a:schemeClr>
                </a:solidFill>
                <a:latin typeface="+mn-lt"/>
              </a:rPr>
              <a:t>vụ</a:t>
            </a:r>
            <a:r>
              <a:rPr lang="en-US" sz="1800" dirty="0">
                <a:solidFill>
                  <a:schemeClr val="bg1">
                    <a:lumMod val="10000"/>
                  </a:schemeClr>
                </a:solidFill>
                <a:latin typeface="+mn-lt"/>
              </a:rPr>
              <a:t>.</a:t>
            </a:r>
            <a:r>
              <a:rPr lang="en-VN" sz="1800" dirty="0">
                <a:solidFill>
                  <a:schemeClr val="bg1">
                    <a:lumMod val="10000"/>
                  </a:schemeClr>
                </a:solidFill>
                <a:latin typeface="+mn-lt"/>
              </a:rPr>
              <a:t> </a:t>
            </a:r>
            <a:endParaRPr lang="en-US" sz="1800" dirty="0">
              <a:solidFill>
                <a:schemeClr val="bg1">
                  <a:lumMod val="10000"/>
                </a:schemeClr>
              </a:solidFill>
              <a:latin typeface="+mn-lt"/>
            </a:endParaRPr>
          </a:p>
          <a:p>
            <a:pPr marL="177800" indent="0">
              <a:buNone/>
            </a:pPr>
            <a:r>
              <a:rPr lang="en-US" sz="1800" dirty="0">
                <a:solidFill>
                  <a:schemeClr val="bg1">
                    <a:lumMod val="10000"/>
                  </a:schemeClr>
                </a:solidFill>
                <a:latin typeface="+mn-lt"/>
              </a:rPr>
              <a:t>- </a:t>
            </a:r>
            <a:r>
              <a:rPr lang="en-US" sz="1800" dirty="0" err="1">
                <a:solidFill>
                  <a:schemeClr val="bg1">
                    <a:lumMod val="10000"/>
                  </a:schemeClr>
                </a:solidFill>
                <a:latin typeface="+mn-lt"/>
              </a:rPr>
              <a:t>Xác</a:t>
            </a:r>
            <a:r>
              <a:rPr lang="en-US" sz="1800" dirty="0">
                <a:solidFill>
                  <a:schemeClr val="bg1">
                    <a:lumMod val="10000"/>
                  </a:schemeClr>
                </a:solidFill>
                <a:latin typeface="+mn-lt"/>
              </a:rPr>
              <a:t> </a:t>
            </a:r>
            <a:r>
              <a:rPr lang="en-US" sz="1800" dirty="0" err="1">
                <a:solidFill>
                  <a:schemeClr val="bg1">
                    <a:lumMod val="10000"/>
                  </a:schemeClr>
                </a:solidFill>
                <a:latin typeface="+mn-lt"/>
              </a:rPr>
              <a:t>định</a:t>
            </a:r>
            <a:r>
              <a:rPr lang="en-US" sz="1800" dirty="0">
                <a:solidFill>
                  <a:schemeClr val="bg1">
                    <a:lumMod val="10000"/>
                  </a:schemeClr>
                </a:solidFill>
                <a:latin typeface="+mn-lt"/>
              </a:rPr>
              <a:t> </a:t>
            </a:r>
            <a:r>
              <a:rPr lang="en-US" sz="1800" dirty="0" err="1">
                <a:solidFill>
                  <a:schemeClr val="bg1">
                    <a:lumMod val="10000"/>
                  </a:schemeClr>
                </a:solidFill>
                <a:latin typeface="+mn-lt"/>
              </a:rPr>
              <a:t>cách</a:t>
            </a:r>
            <a:r>
              <a:rPr lang="en-US" sz="1800" dirty="0">
                <a:solidFill>
                  <a:schemeClr val="bg1">
                    <a:lumMod val="10000"/>
                  </a:schemeClr>
                </a:solidFill>
                <a:latin typeface="+mn-lt"/>
              </a:rPr>
              <a:t> </a:t>
            </a:r>
            <a:r>
              <a:rPr lang="en-US" sz="1800" dirty="0" err="1">
                <a:solidFill>
                  <a:schemeClr val="bg1">
                    <a:lumMod val="10000"/>
                  </a:schemeClr>
                </a:solidFill>
                <a:latin typeface="+mn-lt"/>
              </a:rPr>
              <a:t>thức</a:t>
            </a:r>
            <a:r>
              <a:rPr lang="en-US" sz="1800" dirty="0">
                <a:solidFill>
                  <a:schemeClr val="bg1">
                    <a:lumMod val="10000"/>
                  </a:schemeClr>
                </a:solidFill>
                <a:latin typeface="+mn-lt"/>
              </a:rPr>
              <a:t> </a:t>
            </a:r>
            <a:r>
              <a:rPr lang="en-US" sz="1800" dirty="0" err="1">
                <a:solidFill>
                  <a:schemeClr val="bg1">
                    <a:lumMod val="10000"/>
                  </a:schemeClr>
                </a:solidFill>
                <a:latin typeface="+mn-lt"/>
              </a:rPr>
              <a:t>tiếp</a:t>
            </a:r>
            <a:r>
              <a:rPr lang="en-US" sz="1800" dirty="0">
                <a:solidFill>
                  <a:schemeClr val="bg1">
                    <a:lumMod val="10000"/>
                  </a:schemeClr>
                </a:solidFill>
                <a:latin typeface="+mn-lt"/>
              </a:rPr>
              <a:t> </a:t>
            </a:r>
            <a:r>
              <a:rPr lang="en-US" sz="1800" dirty="0" err="1">
                <a:solidFill>
                  <a:schemeClr val="bg1">
                    <a:lumMod val="10000"/>
                  </a:schemeClr>
                </a:solidFill>
                <a:latin typeface="+mn-lt"/>
              </a:rPr>
              <a:t>cận</a:t>
            </a:r>
            <a:r>
              <a:rPr lang="en-US" sz="1800" dirty="0">
                <a:solidFill>
                  <a:schemeClr val="bg1">
                    <a:lumMod val="10000"/>
                  </a:schemeClr>
                </a:solidFill>
                <a:latin typeface="+mn-lt"/>
              </a:rPr>
              <a:t> </a:t>
            </a:r>
            <a:r>
              <a:rPr lang="en-US" sz="1800" dirty="0" err="1">
                <a:solidFill>
                  <a:schemeClr val="bg1">
                    <a:lumMod val="10000"/>
                  </a:schemeClr>
                </a:solidFill>
                <a:latin typeface="+mn-lt"/>
              </a:rPr>
              <a:t>cơ</a:t>
            </a:r>
            <a:r>
              <a:rPr lang="en-US" sz="1800" dirty="0">
                <a:solidFill>
                  <a:schemeClr val="bg1">
                    <a:lumMod val="10000"/>
                  </a:schemeClr>
                </a:solidFill>
                <a:latin typeface="+mn-lt"/>
              </a:rPr>
              <a:t> </a:t>
            </a:r>
            <a:r>
              <a:rPr lang="en-US" sz="1800" dirty="0" err="1">
                <a:solidFill>
                  <a:schemeClr val="bg1">
                    <a:lumMod val="10000"/>
                  </a:schemeClr>
                </a:solidFill>
                <a:latin typeface="+mn-lt"/>
              </a:rPr>
              <a:t>sở</a:t>
            </a:r>
            <a:r>
              <a:rPr lang="en-US" sz="1800" dirty="0">
                <a:solidFill>
                  <a:schemeClr val="bg1">
                    <a:lumMod val="10000"/>
                  </a:schemeClr>
                </a:solidFill>
                <a:latin typeface="+mn-lt"/>
              </a:rPr>
              <a:t> </a:t>
            </a:r>
            <a:r>
              <a:rPr lang="en-US" sz="1800" dirty="0" err="1">
                <a:solidFill>
                  <a:schemeClr val="bg1">
                    <a:lumMod val="10000"/>
                  </a:schemeClr>
                </a:solidFill>
                <a:latin typeface="+mn-lt"/>
              </a:rPr>
              <a:t>cung</a:t>
            </a:r>
            <a:r>
              <a:rPr lang="en-US" sz="1800" dirty="0">
                <a:solidFill>
                  <a:schemeClr val="bg1">
                    <a:lumMod val="10000"/>
                  </a:schemeClr>
                </a:solidFill>
                <a:latin typeface="+mn-lt"/>
              </a:rPr>
              <a:t> </a:t>
            </a:r>
            <a:r>
              <a:rPr lang="en-US" sz="1800" dirty="0" err="1">
                <a:solidFill>
                  <a:schemeClr val="bg1">
                    <a:lumMod val="10000"/>
                  </a:schemeClr>
                </a:solidFill>
                <a:latin typeface="+mn-lt"/>
              </a:rPr>
              <a:t>cấp</a:t>
            </a:r>
            <a:r>
              <a:rPr lang="en-US" sz="1800" dirty="0">
                <a:solidFill>
                  <a:schemeClr val="bg1">
                    <a:lumMod val="10000"/>
                  </a:schemeClr>
                </a:solidFill>
                <a:latin typeface="+mn-lt"/>
              </a:rPr>
              <a:t> </a:t>
            </a:r>
            <a:r>
              <a:rPr lang="en-US" sz="1800" dirty="0" err="1">
                <a:solidFill>
                  <a:schemeClr val="bg1">
                    <a:lumMod val="10000"/>
                  </a:schemeClr>
                </a:solidFill>
                <a:latin typeface="+mn-lt"/>
              </a:rPr>
              <a:t>dịch</a:t>
            </a:r>
            <a:r>
              <a:rPr lang="en-US" sz="1800" dirty="0">
                <a:solidFill>
                  <a:schemeClr val="bg1">
                    <a:lumMod val="10000"/>
                  </a:schemeClr>
                </a:solidFill>
                <a:latin typeface="+mn-lt"/>
              </a:rPr>
              <a:t> </a:t>
            </a:r>
            <a:r>
              <a:rPr lang="en-US" sz="1800" dirty="0" err="1">
                <a:solidFill>
                  <a:schemeClr val="bg1">
                    <a:lumMod val="10000"/>
                  </a:schemeClr>
                </a:solidFill>
                <a:latin typeface="+mn-lt"/>
              </a:rPr>
              <a:t>vụ</a:t>
            </a:r>
            <a:r>
              <a:rPr lang="en-US" sz="1800" dirty="0">
                <a:solidFill>
                  <a:schemeClr val="bg1">
                    <a:lumMod val="10000"/>
                  </a:schemeClr>
                </a:solidFill>
                <a:latin typeface="+mn-lt"/>
              </a:rPr>
              <a:t>: </a:t>
            </a:r>
            <a:r>
              <a:rPr lang="en-US" sz="1800" dirty="0" err="1">
                <a:solidFill>
                  <a:schemeClr val="bg1">
                    <a:lumMod val="10000"/>
                  </a:schemeClr>
                </a:solidFill>
                <a:latin typeface="+mn-lt"/>
              </a:rPr>
              <a:t>nghiên</a:t>
            </a:r>
            <a:r>
              <a:rPr lang="en-US" sz="1800" dirty="0">
                <a:solidFill>
                  <a:schemeClr val="bg1">
                    <a:lumMod val="10000"/>
                  </a:schemeClr>
                </a:solidFill>
                <a:latin typeface="+mn-lt"/>
              </a:rPr>
              <a:t> </a:t>
            </a:r>
            <a:r>
              <a:rPr lang="en-US" sz="1800" dirty="0" err="1">
                <a:solidFill>
                  <a:schemeClr val="bg1">
                    <a:lumMod val="10000"/>
                  </a:schemeClr>
                </a:solidFill>
                <a:latin typeface="+mn-lt"/>
              </a:rPr>
              <a:t>cứu</a:t>
            </a:r>
            <a:r>
              <a:rPr lang="en-US" sz="1800" dirty="0">
                <a:solidFill>
                  <a:schemeClr val="bg1">
                    <a:lumMod val="10000"/>
                  </a:schemeClr>
                </a:solidFill>
                <a:latin typeface="+mn-lt"/>
              </a:rPr>
              <a:t> </a:t>
            </a:r>
            <a:r>
              <a:rPr lang="en-US" sz="1800" dirty="0" err="1">
                <a:solidFill>
                  <a:schemeClr val="bg1">
                    <a:lumMod val="10000"/>
                  </a:schemeClr>
                </a:solidFill>
                <a:latin typeface="+mn-lt"/>
              </a:rPr>
              <a:t>và</a:t>
            </a:r>
            <a:r>
              <a:rPr lang="en-US" sz="1800" dirty="0">
                <a:solidFill>
                  <a:schemeClr val="bg1">
                    <a:lumMod val="10000"/>
                  </a:schemeClr>
                </a:solidFill>
                <a:latin typeface="+mn-lt"/>
              </a:rPr>
              <a:t> </a:t>
            </a:r>
            <a:r>
              <a:rPr lang="en-US" sz="1800" dirty="0" err="1">
                <a:solidFill>
                  <a:schemeClr val="bg1">
                    <a:lumMod val="10000"/>
                  </a:schemeClr>
                </a:solidFill>
                <a:latin typeface="+mn-lt"/>
              </a:rPr>
              <a:t>tìm</a:t>
            </a:r>
            <a:r>
              <a:rPr lang="en-US" sz="1800" dirty="0">
                <a:solidFill>
                  <a:schemeClr val="bg1">
                    <a:lumMod val="10000"/>
                  </a:schemeClr>
                </a:solidFill>
                <a:latin typeface="+mn-lt"/>
              </a:rPr>
              <a:t> </a:t>
            </a:r>
            <a:r>
              <a:rPr lang="en-US" sz="1800" dirty="0" err="1">
                <a:solidFill>
                  <a:schemeClr val="bg1">
                    <a:lumMod val="10000"/>
                  </a:schemeClr>
                </a:solidFill>
                <a:latin typeface="+mn-lt"/>
              </a:rPr>
              <a:t>cách</a:t>
            </a:r>
            <a:r>
              <a:rPr lang="en-US" sz="1800" dirty="0">
                <a:solidFill>
                  <a:schemeClr val="bg1">
                    <a:lumMod val="10000"/>
                  </a:schemeClr>
                </a:solidFill>
                <a:latin typeface="+mn-lt"/>
              </a:rPr>
              <a:t> </a:t>
            </a:r>
            <a:r>
              <a:rPr lang="en-US" sz="1800" dirty="0" err="1">
                <a:solidFill>
                  <a:schemeClr val="bg1">
                    <a:lumMod val="10000"/>
                  </a:schemeClr>
                </a:solidFill>
                <a:latin typeface="+mn-lt"/>
              </a:rPr>
              <a:t>tiếp</a:t>
            </a:r>
            <a:r>
              <a:rPr lang="en-US" sz="1800" dirty="0">
                <a:solidFill>
                  <a:schemeClr val="bg1">
                    <a:lumMod val="10000"/>
                  </a:schemeClr>
                </a:solidFill>
                <a:latin typeface="+mn-lt"/>
              </a:rPr>
              <a:t> </a:t>
            </a:r>
            <a:r>
              <a:rPr lang="en-US" sz="1800" dirty="0" err="1">
                <a:solidFill>
                  <a:schemeClr val="bg1">
                    <a:lumMod val="10000"/>
                  </a:schemeClr>
                </a:solidFill>
                <a:latin typeface="+mn-lt"/>
              </a:rPr>
              <a:t>cận</a:t>
            </a:r>
            <a:r>
              <a:rPr lang="en-US" sz="1800" dirty="0">
                <a:solidFill>
                  <a:schemeClr val="bg1">
                    <a:lumMod val="10000"/>
                  </a:schemeClr>
                </a:solidFill>
                <a:latin typeface="+mn-lt"/>
              </a:rPr>
              <a:t> </a:t>
            </a:r>
            <a:r>
              <a:rPr lang="en-US" sz="1800" dirty="0" err="1">
                <a:solidFill>
                  <a:schemeClr val="bg1">
                    <a:lumMod val="10000"/>
                  </a:schemeClr>
                </a:solidFill>
                <a:latin typeface="+mn-lt"/>
              </a:rPr>
              <a:t>phù</a:t>
            </a:r>
            <a:r>
              <a:rPr lang="en-US" sz="1800" dirty="0">
                <a:solidFill>
                  <a:schemeClr val="bg1">
                    <a:lumMod val="10000"/>
                  </a:schemeClr>
                </a:solidFill>
                <a:latin typeface="+mn-lt"/>
              </a:rPr>
              <a:t> </a:t>
            </a:r>
            <a:r>
              <a:rPr lang="en-US" sz="1800" dirty="0" err="1">
                <a:solidFill>
                  <a:schemeClr val="bg1">
                    <a:lumMod val="10000"/>
                  </a:schemeClr>
                </a:solidFill>
                <a:latin typeface="+mn-lt"/>
              </a:rPr>
              <a:t>hợp</a:t>
            </a:r>
            <a:r>
              <a:rPr lang="en-US" sz="1800" dirty="0">
                <a:solidFill>
                  <a:schemeClr val="bg1">
                    <a:lumMod val="10000"/>
                  </a:schemeClr>
                </a:solidFill>
                <a:latin typeface="+mn-lt"/>
              </a:rPr>
              <a:t> </a:t>
            </a:r>
            <a:r>
              <a:rPr lang="en-US" sz="1800" dirty="0" err="1">
                <a:solidFill>
                  <a:schemeClr val="bg1">
                    <a:lumMod val="10000"/>
                  </a:schemeClr>
                </a:solidFill>
                <a:latin typeface="+mn-lt"/>
              </a:rPr>
              <a:t>với</a:t>
            </a:r>
            <a:r>
              <a:rPr lang="en-US" sz="1800" dirty="0">
                <a:solidFill>
                  <a:schemeClr val="bg1">
                    <a:lumMod val="10000"/>
                  </a:schemeClr>
                </a:solidFill>
                <a:latin typeface="+mn-lt"/>
              </a:rPr>
              <a:t> </a:t>
            </a:r>
            <a:r>
              <a:rPr lang="en-US" sz="1800" dirty="0" err="1">
                <a:solidFill>
                  <a:schemeClr val="bg1">
                    <a:lumMod val="10000"/>
                  </a:schemeClr>
                </a:solidFill>
                <a:latin typeface="+mn-lt"/>
              </a:rPr>
              <a:t>cơ</a:t>
            </a:r>
            <a:r>
              <a:rPr lang="en-US" sz="1800" dirty="0">
                <a:solidFill>
                  <a:schemeClr val="bg1">
                    <a:lumMod val="10000"/>
                  </a:schemeClr>
                </a:solidFill>
                <a:latin typeface="+mn-lt"/>
              </a:rPr>
              <a:t> </a:t>
            </a:r>
            <a:r>
              <a:rPr lang="en-US" sz="1800" dirty="0" err="1">
                <a:solidFill>
                  <a:schemeClr val="bg1">
                    <a:lumMod val="10000"/>
                  </a:schemeClr>
                </a:solidFill>
                <a:latin typeface="+mn-lt"/>
              </a:rPr>
              <a:t>sở</a:t>
            </a:r>
            <a:r>
              <a:rPr lang="en-US" sz="1800" dirty="0">
                <a:solidFill>
                  <a:schemeClr val="bg1">
                    <a:lumMod val="10000"/>
                  </a:schemeClr>
                </a:solidFill>
                <a:latin typeface="+mn-lt"/>
              </a:rPr>
              <a:t> </a:t>
            </a:r>
            <a:r>
              <a:rPr lang="en-US" sz="1800" dirty="0" err="1">
                <a:solidFill>
                  <a:schemeClr val="bg1">
                    <a:lumMod val="10000"/>
                  </a:schemeClr>
                </a:solidFill>
                <a:latin typeface="+mn-lt"/>
              </a:rPr>
              <a:t>cung</a:t>
            </a:r>
            <a:r>
              <a:rPr lang="en-US" sz="1800" dirty="0">
                <a:solidFill>
                  <a:schemeClr val="bg1">
                    <a:lumMod val="10000"/>
                  </a:schemeClr>
                </a:solidFill>
                <a:latin typeface="+mn-lt"/>
              </a:rPr>
              <a:t> </a:t>
            </a:r>
            <a:r>
              <a:rPr lang="en-US" sz="1800" dirty="0" err="1">
                <a:solidFill>
                  <a:schemeClr val="bg1">
                    <a:lumMod val="10000"/>
                  </a:schemeClr>
                </a:solidFill>
                <a:latin typeface="+mn-lt"/>
              </a:rPr>
              <a:t>cấp</a:t>
            </a:r>
            <a:r>
              <a:rPr lang="en-US" sz="1800" dirty="0">
                <a:solidFill>
                  <a:schemeClr val="bg1">
                    <a:lumMod val="10000"/>
                  </a:schemeClr>
                </a:solidFill>
                <a:latin typeface="+mn-lt"/>
              </a:rPr>
              <a:t> </a:t>
            </a:r>
            <a:r>
              <a:rPr lang="en-US" sz="1800" dirty="0" err="1">
                <a:solidFill>
                  <a:schemeClr val="bg1">
                    <a:lumMod val="10000"/>
                  </a:schemeClr>
                </a:solidFill>
                <a:latin typeface="+mn-lt"/>
              </a:rPr>
              <a:t>dịch</a:t>
            </a:r>
            <a:r>
              <a:rPr lang="en-US" sz="1800" dirty="0">
                <a:solidFill>
                  <a:schemeClr val="bg1">
                    <a:lumMod val="10000"/>
                  </a:schemeClr>
                </a:solidFill>
                <a:latin typeface="+mn-lt"/>
              </a:rPr>
              <a:t> </a:t>
            </a:r>
            <a:r>
              <a:rPr lang="en-US" sz="1800" dirty="0" err="1">
                <a:solidFill>
                  <a:schemeClr val="bg1">
                    <a:lumMod val="10000"/>
                  </a:schemeClr>
                </a:solidFill>
                <a:latin typeface="+mn-lt"/>
              </a:rPr>
              <a:t>vụ</a:t>
            </a:r>
            <a:r>
              <a:rPr lang="en-US" sz="1800" dirty="0">
                <a:solidFill>
                  <a:schemeClr val="bg1">
                    <a:lumMod val="10000"/>
                  </a:schemeClr>
                </a:solidFill>
                <a:latin typeface="+mn-lt"/>
              </a:rPr>
              <a:t>.</a:t>
            </a:r>
          </a:p>
          <a:p>
            <a:pPr marL="177800" indent="0">
              <a:buFont typeface="Nunito Light"/>
              <a:buNone/>
            </a:pPr>
            <a:r>
              <a:rPr lang="en-VN" sz="1800" dirty="0">
                <a:solidFill>
                  <a:schemeClr val="bg1">
                    <a:lumMod val="10000"/>
                  </a:schemeClr>
                </a:solidFill>
                <a:latin typeface="+mn-lt"/>
              </a:rPr>
              <a:t>- </a:t>
            </a:r>
            <a:r>
              <a:rPr lang="en-US" sz="1800" dirty="0" err="1">
                <a:solidFill>
                  <a:schemeClr val="bg1">
                    <a:lumMod val="10000"/>
                  </a:schemeClr>
                </a:solidFill>
                <a:latin typeface="+mn-lt"/>
              </a:rPr>
              <a:t>Thực</a:t>
            </a:r>
            <a:r>
              <a:rPr lang="en-US" sz="1800" dirty="0">
                <a:solidFill>
                  <a:schemeClr val="bg1">
                    <a:lumMod val="10000"/>
                  </a:schemeClr>
                </a:solidFill>
                <a:latin typeface="+mn-lt"/>
              </a:rPr>
              <a:t> </a:t>
            </a:r>
            <a:r>
              <a:rPr lang="en-US" sz="1800" dirty="0" err="1">
                <a:solidFill>
                  <a:schemeClr val="bg1">
                    <a:lumMod val="10000"/>
                  </a:schemeClr>
                </a:solidFill>
                <a:latin typeface="+mn-lt"/>
              </a:rPr>
              <a:t>hiện</a:t>
            </a:r>
            <a:r>
              <a:rPr lang="en-US" sz="1800" dirty="0">
                <a:solidFill>
                  <a:schemeClr val="bg1">
                    <a:lumMod val="10000"/>
                  </a:schemeClr>
                </a:solidFill>
                <a:latin typeface="+mn-lt"/>
              </a:rPr>
              <a:t> </a:t>
            </a:r>
            <a:r>
              <a:rPr lang="en-US" sz="1800" dirty="0" err="1">
                <a:solidFill>
                  <a:schemeClr val="bg1">
                    <a:lumMod val="10000"/>
                  </a:schemeClr>
                </a:solidFill>
                <a:latin typeface="+mn-lt"/>
              </a:rPr>
              <a:t>các</a:t>
            </a:r>
            <a:r>
              <a:rPr lang="en-US" sz="1800" dirty="0">
                <a:solidFill>
                  <a:schemeClr val="bg1">
                    <a:lumMod val="10000"/>
                  </a:schemeClr>
                </a:solidFill>
                <a:latin typeface="+mn-lt"/>
              </a:rPr>
              <a:t> </a:t>
            </a:r>
            <a:r>
              <a:rPr lang="en-US" sz="1800" dirty="0" err="1">
                <a:solidFill>
                  <a:schemeClr val="bg1">
                    <a:lumMod val="10000"/>
                  </a:schemeClr>
                </a:solidFill>
                <a:latin typeface="+mn-lt"/>
              </a:rPr>
              <a:t>công</a:t>
            </a:r>
            <a:r>
              <a:rPr lang="en-US" sz="1800" dirty="0">
                <a:solidFill>
                  <a:schemeClr val="bg1">
                    <a:lumMod val="10000"/>
                  </a:schemeClr>
                </a:solidFill>
                <a:latin typeface="+mn-lt"/>
              </a:rPr>
              <a:t> </a:t>
            </a:r>
            <a:r>
              <a:rPr lang="en-US" sz="1800" dirty="0" err="1">
                <a:solidFill>
                  <a:schemeClr val="bg1">
                    <a:lumMod val="10000"/>
                  </a:schemeClr>
                </a:solidFill>
                <a:latin typeface="+mn-lt"/>
              </a:rPr>
              <a:t>việc</a:t>
            </a:r>
            <a:r>
              <a:rPr lang="en-US" sz="1800" dirty="0">
                <a:solidFill>
                  <a:schemeClr val="bg1">
                    <a:lumMod val="10000"/>
                  </a:schemeClr>
                </a:solidFill>
                <a:latin typeface="+mn-lt"/>
              </a:rPr>
              <a:t> </a:t>
            </a:r>
            <a:r>
              <a:rPr lang="en-US" sz="1800" dirty="0" err="1">
                <a:solidFill>
                  <a:schemeClr val="bg1">
                    <a:lumMod val="10000"/>
                  </a:schemeClr>
                </a:solidFill>
                <a:latin typeface="+mn-lt"/>
              </a:rPr>
              <a:t>chuẩn</a:t>
            </a:r>
            <a:r>
              <a:rPr lang="en-US" sz="1800" dirty="0">
                <a:solidFill>
                  <a:schemeClr val="bg1">
                    <a:lumMod val="10000"/>
                  </a:schemeClr>
                </a:solidFill>
                <a:latin typeface="+mn-lt"/>
              </a:rPr>
              <a:t> bị </a:t>
            </a:r>
            <a:r>
              <a:rPr lang="en-US" sz="1800" dirty="0" err="1">
                <a:solidFill>
                  <a:schemeClr val="bg1">
                    <a:lumMod val="10000"/>
                  </a:schemeClr>
                </a:solidFill>
                <a:latin typeface="+mn-lt"/>
              </a:rPr>
              <a:t>hành</a:t>
            </a:r>
            <a:r>
              <a:rPr lang="en-US" sz="1800" dirty="0">
                <a:solidFill>
                  <a:schemeClr val="bg1">
                    <a:lumMod val="10000"/>
                  </a:schemeClr>
                </a:solidFill>
                <a:latin typeface="+mn-lt"/>
              </a:rPr>
              <a:t> </a:t>
            </a:r>
            <a:r>
              <a:rPr lang="en-US" sz="1800" dirty="0" err="1">
                <a:solidFill>
                  <a:schemeClr val="bg1">
                    <a:lumMod val="10000"/>
                  </a:schemeClr>
                </a:solidFill>
                <a:latin typeface="+mn-lt"/>
              </a:rPr>
              <a:t>chính</a:t>
            </a:r>
            <a:r>
              <a:rPr lang="en-US" sz="1800" dirty="0">
                <a:solidFill>
                  <a:schemeClr val="bg1">
                    <a:lumMod val="10000"/>
                  </a:schemeClr>
                </a:solidFill>
                <a:latin typeface="+mn-lt"/>
              </a:rPr>
              <a:t> </a:t>
            </a:r>
            <a:r>
              <a:rPr lang="en-US" sz="1800" dirty="0" err="1">
                <a:solidFill>
                  <a:schemeClr val="bg1">
                    <a:lumMod val="10000"/>
                  </a:schemeClr>
                </a:solidFill>
                <a:latin typeface="+mn-lt"/>
              </a:rPr>
              <a:t>khác</a:t>
            </a:r>
            <a:r>
              <a:rPr lang="en-US" sz="1800" dirty="0">
                <a:solidFill>
                  <a:schemeClr val="bg1">
                    <a:lumMod val="10000"/>
                  </a:schemeClr>
                </a:solidFill>
                <a:latin typeface="+mn-lt"/>
              </a:rPr>
              <a:t> (ví dụ, </a:t>
            </a:r>
            <a:r>
              <a:rPr lang="en-US" sz="1800" dirty="0" err="1">
                <a:solidFill>
                  <a:schemeClr val="bg1">
                    <a:lumMod val="10000"/>
                  </a:schemeClr>
                </a:solidFill>
                <a:latin typeface="+mn-lt"/>
              </a:rPr>
              <a:t>như</a:t>
            </a:r>
            <a:r>
              <a:rPr lang="en-US" sz="1800" dirty="0">
                <a:solidFill>
                  <a:schemeClr val="bg1">
                    <a:lumMod val="10000"/>
                  </a:schemeClr>
                </a:solidFill>
                <a:latin typeface="+mn-lt"/>
              </a:rPr>
              <a:t> </a:t>
            </a:r>
            <a:r>
              <a:rPr lang="en-US" sz="1800" dirty="0" err="1">
                <a:solidFill>
                  <a:schemeClr val="bg1">
                    <a:lumMod val="10000"/>
                  </a:schemeClr>
                </a:solidFill>
                <a:latin typeface="+mn-lt"/>
              </a:rPr>
              <a:t>hẹn</a:t>
            </a:r>
            <a:r>
              <a:rPr lang="en-US" sz="1800" dirty="0">
                <a:solidFill>
                  <a:schemeClr val="bg1">
                    <a:lumMod val="10000"/>
                  </a:schemeClr>
                </a:solidFill>
                <a:latin typeface="+mn-lt"/>
              </a:rPr>
              <a:t> </a:t>
            </a:r>
            <a:r>
              <a:rPr lang="en-US" sz="1800" dirty="0" err="1">
                <a:solidFill>
                  <a:schemeClr val="bg1">
                    <a:lumMod val="10000"/>
                  </a:schemeClr>
                </a:solidFill>
                <a:latin typeface="+mn-lt"/>
              </a:rPr>
              <a:t>gặp</a:t>
            </a:r>
            <a:r>
              <a:rPr lang="en-US" sz="1800" dirty="0">
                <a:solidFill>
                  <a:schemeClr val="bg1">
                    <a:lumMod val="10000"/>
                  </a:schemeClr>
                </a:solidFill>
                <a:latin typeface="+mn-lt"/>
              </a:rPr>
              <a:t>, </a:t>
            </a:r>
            <a:r>
              <a:rPr lang="en-US" sz="1800" dirty="0" err="1">
                <a:solidFill>
                  <a:schemeClr val="bg1">
                    <a:lumMod val="10000"/>
                  </a:schemeClr>
                </a:solidFill>
                <a:latin typeface="+mn-lt"/>
              </a:rPr>
              <a:t>chuẩn</a:t>
            </a:r>
            <a:r>
              <a:rPr lang="en-US" sz="1800" dirty="0">
                <a:solidFill>
                  <a:schemeClr val="bg1">
                    <a:lumMod val="10000"/>
                  </a:schemeClr>
                </a:solidFill>
                <a:latin typeface="+mn-lt"/>
              </a:rPr>
              <a:t> bị </a:t>
            </a:r>
            <a:r>
              <a:rPr lang="en-US" sz="1800" dirty="0" err="1">
                <a:solidFill>
                  <a:schemeClr val="bg1">
                    <a:lumMod val="10000"/>
                  </a:schemeClr>
                </a:solidFill>
                <a:latin typeface="+mn-lt"/>
              </a:rPr>
              <a:t>tài</a:t>
            </a:r>
            <a:r>
              <a:rPr lang="en-US" sz="1800" dirty="0">
                <a:solidFill>
                  <a:schemeClr val="bg1">
                    <a:lumMod val="10000"/>
                  </a:schemeClr>
                </a:solidFill>
                <a:latin typeface="+mn-lt"/>
              </a:rPr>
              <a:t> </a:t>
            </a:r>
            <a:r>
              <a:rPr lang="en-US" sz="1800" dirty="0" err="1">
                <a:solidFill>
                  <a:schemeClr val="bg1">
                    <a:lumMod val="10000"/>
                  </a:schemeClr>
                </a:solidFill>
                <a:latin typeface="+mn-lt"/>
              </a:rPr>
              <a:t>liệu</a:t>
            </a:r>
            <a:r>
              <a:rPr lang="en-US" sz="1800" dirty="0">
                <a:solidFill>
                  <a:schemeClr val="bg1">
                    <a:lumMod val="10000"/>
                  </a:schemeClr>
                </a:solidFill>
                <a:latin typeface="+mn-lt"/>
              </a:rPr>
              <a:t>, </a:t>
            </a:r>
            <a:r>
              <a:rPr lang="en-US" sz="1800" dirty="0" err="1">
                <a:solidFill>
                  <a:schemeClr val="bg1">
                    <a:lumMod val="10000"/>
                  </a:schemeClr>
                </a:solidFill>
                <a:latin typeface="+mn-lt"/>
              </a:rPr>
              <a:t>liên</a:t>
            </a:r>
            <a:r>
              <a:rPr lang="en-US" sz="1800" dirty="0">
                <a:solidFill>
                  <a:schemeClr val="bg1">
                    <a:lumMod val="10000"/>
                  </a:schemeClr>
                </a:solidFill>
                <a:latin typeface="+mn-lt"/>
              </a:rPr>
              <a:t> </a:t>
            </a:r>
            <a:r>
              <a:rPr lang="en-US" sz="1800" dirty="0" err="1">
                <a:solidFill>
                  <a:schemeClr val="bg1">
                    <a:lumMod val="10000"/>
                  </a:schemeClr>
                </a:solidFill>
                <a:latin typeface="+mn-lt"/>
              </a:rPr>
              <a:t>hê</a:t>
            </a:r>
            <a:r>
              <a:rPr lang="en-US" sz="1800" dirty="0">
                <a:solidFill>
                  <a:schemeClr val="bg1">
                    <a:lumMod val="10000"/>
                  </a:schemeClr>
                </a:solidFill>
                <a:latin typeface="+mn-lt"/>
              </a:rPr>
              <a:t>̣ </a:t>
            </a:r>
            <a:r>
              <a:rPr lang="en-US" sz="1800" dirty="0" err="1">
                <a:solidFill>
                  <a:schemeClr val="bg1">
                    <a:lumMod val="10000"/>
                  </a:schemeClr>
                </a:solidFill>
                <a:latin typeface="+mn-lt"/>
              </a:rPr>
              <a:t>địa</a:t>
            </a:r>
            <a:r>
              <a:rPr lang="en-US" sz="1800" dirty="0">
                <a:solidFill>
                  <a:schemeClr val="bg1">
                    <a:lumMod val="10000"/>
                  </a:schemeClr>
                </a:solidFill>
                <a:latin typeface="+mn-lt"/>
              </a:rPr>
              <a:t> </a:t>
            </a:r>
            <a:r>
              <a:rPr lang="en-US" sz="1800" dirty="0" err="1">
                <a:solidFill>
                  <a:schemeClr val="bg1">
                    <a:lumMod val="10000"/>
                  </a:schemeClr>
                </a:solidFill>
                <a:latin typeface="+mn-lt"/>
              </a:rPr>
              <a:t>điểm</a:t>
            </a:r>
            <a:r>
              <a:rPr lang="en-US" sz="1800" dirty="0">
                <a:solidFill>
                  <a:schemeClr val="bg1">
                    <a:lumMod val="10000"/>
                  </a:schemeClr>
                </a:solidFill>
                <a:latin typeface="+mn-lt"/>
              </a:rPr>
              <a:t>, </a:t>
            </a:r>
            <a:r>
              <a:rPr lang="en-US" sz="1800" dirty="0" err="1">
                <a:solidFill>
                  <a:schemeClr val="bg1">
                    <a:lumMod val="10000"/>
                  </a:schemeClr>
                </a:solidFill>
                <a:latin typeface="+mn-lt"/>
              </a:rPr>
              <a:t>mời</a:t>
            </a:r>
            <a:r>
              <a:rPr lang="en-US" sz="1800" dirty="0">
                <a:solidFill>
                  <a:schemeClr val="bg1">
                    <a:lumMod val="10000"/>
                  </a:schemeClr>
                </a:solidFill>
                <a:latin typeface="+mn-lt"/>
              </a:rPr>
              <a:t> </a:t>
            </a:r>
            <a:r>
              <a:rPr lang="en-US" sz="1800" dirty="0" err="1">
                <a:solidFill>
                  <a:schemeClr val="bg1">
                    <a:lumMod val="10000"/>
                  </a:schemeClr>
                </a:solidFill>
                <a:latin typeface="+mn-lt"/>
              </a:rPr>
              <a:t>họp</a:t>
            </a:r>
            <a:r>
              <a:rPr lang="en-US" sz="1800" dirty="0">
                <a:solidFill>
                  <a:schemeClr val="bg1">
                    <a:lumMod val="10000"/>
                  </a:schemeClr>
                </a:solidFill>
                <a:latin typeface="+mn-lt"/>
              </a:rPr>
              <a:t>…).</a:t>
            </a:r>
            <a:endParaRPr lang="en-VN" sz="1800" dirty="0">
              <a:solidFill>
                <a:schemeClr val="bg1">
                  <a:lumMod val="10000"/>
                </a:schemeClr>
              </a:solidFill>
              <a:latin typeface="+mn-lt"/>
            </a:endParaRPr>
          </a:p>
        </p:txBody>
      </p:sp>
    </p:spTree>
    <p:extLst>
      <p:ext uri="{BB962C8B-B14F-4D97-AF65-F5344CB8AC3E}">
        <p14:creationId xmlns:p14="http://schemas.microsoft.com/office/powerpoint/2010/main" val="11373486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46</a:t>
            </a:fld>
            <a:endParaRPr lang="en"/>
          </a:p>
        </p:txBody>
      </p:sp>
      <p:sp>
        <p:nvSpPr>
          <p:cNvPr id="4" name="Text Placeholder 3">
            <a:extLst>
              <a:ext uri="{FF2B5EF4-FFF2-40B4-BE49-F238E27FC236}">
                <a16:creationId xmlns:a16="http://schemas.microsoft.com/office/drawing/2014/main" id="{C3FC00DF-6A7A-6221-DCBE-327FD116409F}"/>
              </a:ext>
            </a:extLst>
          </p:cNvPr>
          <p:cNvSpPr>
            <a:spLocks noGrp="1"/>
          </p:cNvSpPr>
          <p:nvPr>
            <p:ph type="body" idx="1"/>
          </p:nvPr>
        </p:nvSpPr>
        <p:spPr>
          <a:xfrm>
            <a:off x="777240" y="890976"/>
            <a:ext cx="7325612" cy="3711899"/>
          </a:xfrm>
        </p:spPr>
        <p:txBody>
          <a:bodyPr/>
          <a:lstStyle/>
          <a:p>
            <a:pPr marL="177800" indent="0">
              <a:buNone/>
            </a:pPr>
            <a:endParaRPr lang="en-VN" sz="1600" b="1" dirty="0">
              <a:solidFill>
                <a:schemeClr val="bg1">
                  <a:lumMod val="10000"/>
                </a:schemeClr>
              </a:solidFill>
              <a:latin typeface="Arial" panose="020B0604020202020204" pitchFamily="34" charset="0"/>
              <a:cs typeface="Arial" panose="020B0604020202020204" pitchFamily="34" charset="0"/>
            </a:endParaRPr>
          </a:p>
          <a:p>
            <a:pPr marL="177800" indent="0">
              <a:buNone/>
            </a:pPr>
            <a:r>
              <a:rPr lang="en-VN" sz="1600" b="1" dirty="0">
                <a:solidFill>
                  <a:schemeClr val="bg1">
                    <a:lumMod val="10000"/>
                  </a:schemeClr>
                </a:solidFill>
                <a:latin typeface="Arial" panose="020B0604020202020204" pitchFamily="34" charset="0"/>
                <a:cs typeface="Arial" panose="020B0604020202020204" pitchFamily="34" charset="0"/>
              </a:rPr>
              <a:t>Bước 2: Thực hiện biện hộ</a:t>
            </a:r>
          </a:p>
          <a:p>
            <a:pPr marL="177800" indent="0">
              <a:buNone/>
            </a:pPr>
            <a:r>
              <a:rPr lang="en-US" sz="1600" i="1"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Triển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khai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thực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hiện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và</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giải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quyết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những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tình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huống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khó</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khăn</a:t>
            </a:r>
            <a:r>
              <a:rPr lang="en-US" sz="1600" i="1" dirty="0">
                <a:solidFill>
                  <a:schemeClr val="bg1">
                    <a:lumMod val="10000"/>
                  </a:schemeClr>
                </a:solidFill>
                <a:latin typeface="Arial" panose="020B0604020202020204" pitchFamily="34" charset="0"/>
                <a:cs typeface="Arial" panose="020B0604020202020204" pitchFamily="34" charset="0"/>
              </a:rPr>
              <a:t>.</a:t>
            </a:r>
          </a:p>
          <a:p>
            <a:pPr marL="177800" indent="0">
              <a:buNone/>
            </a:pPr>
            <a:endParaRPr lang="en-US" sz="1600" dirty="0">
              <a:solidFill>
                <a:schemeClr val="bg1">
                  <a:lumMod val="10000"/>
                </a:schemeClr>
              </a:solidFill>
              <a:latin typeface="Arial" panose="020B0604020202020204" pitchFamily="34" charset="0"/>
              <a:cs typeface="Arial" panose="020B0604020202020204" pitchFamily="34" charset="0"/>
            </a:endParaRPr>
          </a:p>
          <a:p>
            <a:pPr marL="177800" indent="0">
              <a:buNone/>
            </a:pP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Cố</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gắng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vận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động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sự</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ủng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hộ</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của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nhân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tổ</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chức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có</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liên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quan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để</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việc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biện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hộ</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đạt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kết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quả</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tốt</a:t>
            </a:r>
            <a:r>
              <a:rPr lang="en-US" sz="1600" dirty="0">
                <a:solidFill>
                  <a:schemeClr val="bg1">
                    <a:lumMod val="10000"/>
                  </a:schemeClr>
                </a:solidFill>
                <a:latin typeface="Arial" panose="020B0604020202020204" pitchFamily="34" charset="0"/>
                <a:cs typeface="Arial" panose="020B0604020202020204" pitchFamily="34" charset="0"/>
              </a:rPr>
              <a:t>.</a:t>
            </a:r>
          </a:p>
          <a:p>
            <a:pPr marL="177800" indent="0">
              <a:buNone/>
            </a:pPr>
            <a:endParaRPr lang="en-US" sz="1600" dirty="0">
              <a:solidFill>
                <a:schemeClr val="bg1">
                  <a:lumMod val="10000"/>
                </a:schemeClr>
              </a:solidFill>
              <a:latin typeface="Arial" panose="020B0604020202020204" pitchFamily="34" charset="0"/>
              <a:cs typeface="Arial" panose="020B0604020202020204" pitchFamily="34" charset="0"/>
            </a:endParaRPr>
          </a:p>
          <a:p>
            <a:pPr marL="177800" indent="0">
              <a:buNone/>
            </a:pP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Có</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thể</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bộ</a:t>
            </a:r>
            <a:r>
              <a:rPr lang="en-US" sz="1600" dirty="0">
                <a:solidFill>
                  <a:schemeClr val="bg1">
                    <a:lumMod val="10000"/>
                  </a:schemeClr>
                </a:solidFill>
                <a:latin typeface="Arial" panose="020B0604020202020204" pitchFamily="34" charset="0"/>
                <a:cs typeface="Arial" panose="020B0604020202020204" pitchFamily="34" charset="0"/>
              </a:rPr>
              <a:t> QLTH </a:t>
            </a:r>
            <a:r>
              <a:rPr lang="en-US" sz="1600" dirty="0" err="1">
                <a:solidFill>
                  <a:schemeClr val="bg1">
                    <a:lumMod val="10000"/>
                  </a:schemeClr>
                </a:solidFill>
                <a:latin typeface="Arial" panose="020B0604020202020204" pitchFamily="34" charset="0"/>
                <a:cs typeface="Arial" panose="020B0604020202020204" pitchFamily="34" charset="0"/>
              </a:rPr>
              <a:t>gặp</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những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khó</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khăn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với</a:t>
            </a:r>
            <a:r>
              <a:rPr lang="en-US" sz="1600" dirty="0">
                <a:solidFill>
                  <a:schemeClr val="bg1">
                    <a:lumMod val="10000"/>
                  </a:schemeClr>
                </a:solidFill>
                <a:latin typeface="Arial" panose="020B0604020202020204" pitchFamily="34" charset="0"/>
                <a:cs typeface="Arial" panose="020B0604020202020204" pitchFamily="34" charset="0"/>
              </a:rPr>
              <a:t> NB/</a:t>
            </a:r>
            <a:r>
              <a:rPr lang="en-US" sz="1600" dirty="0" err="1">
                <a:solidFill>
                  <a:schemeClr val="bg1">
                    <a:lumMod val="10000"/>
                  </a:schemeClr>
                </a:solidFill>
                <a:latin typeface="Arial" panose="020B0604020202020204" pitchFamily="34" charset="0"/>
                <a:cs typeface="Arial" panose="020B0604020202020204" pitchFamily="34" charset="0"/>
              </a:rPr>
              <a:t>gia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đình</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cộng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đồng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tổ</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chức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cung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cấp</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dịch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vụ</a:t>
            </a:r>
            <a:r>
              <a:rPr lang="en-US" sz="1600" dirty="0">
                <a:solidFill>
                  <a:schemeClr val="bg1">
                    <a:lumMod val="10000"/>
                  </a:schemeClr>
                </a:solidFill>
                <a:latin typeface="Arial" panose="020B0604020202020204" pitchFamily="34" charset="0"/>
                <a:cs typeface="Arial" panose="020B0604020202020204" pitchFamily="34" charset="0"/>
              </a:rPr>
              <a:t>, hay </a:t>
            </a:r>
            <a:r>
              <a:rPr lang="en-US" sz="1600" dirty="0" err="1">
                <a:solidFill>
                  <a:schemeClr val="bg1">
                    <a:lumMod val="10000"/>
                  </a:schemeClr>
                </a:solidFill>
                <a:latin typeface="Arial" panose="020B0604020202020204" pitchFamily="34" charset="0"/>
                <a:cs typeface="Arial" panose="020B0604020202020204" pitchFamily="34" charset="0"/>
              </a:rPr>
              <a:t>thể</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chế</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chính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sách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Vì</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vậy</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bộ</a:t>
            </a:r>
            <a:r>
              <a:rPr lang="en-US" sz="1600" dirty="0">
                <a:solidFill>
                  <a:schemeClr val="bg1">
                    <a:lumMod val="10000"/>
                  </a:schemeClr>
                </a:solidFill>
                <a:latin typeface="Arial" panose="020B0604020202020204" pitchFamily="34" charset="0"/>
                <a:cs typeface="Arial" panose="020B0604020202020204" pitchFamily="34" charset="0"/>
              </a:rPr>
              <a:t> QLTH </a:t>
            </a:r>
            <a:r>
              <a:rPr lang="en-US" sz="1600" dirty="0" err="1">
                <a:solidFill>
                  <a:schemeClr val="bg1">
                    <a:lumMod val="10000"/>
                  </a:schemeClr>
                </a:solidFill>
                <a:latin typeface="Arial" panose="020B0604020202020204" pitchFamily="34" charset="0"/>
                <a:cs typeface="Arial" panose="020B0604020202020204" pitchFamily="34" charset="0"/>
              </a:rPr>
              <a:t>cần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kiên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trì</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vừa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vận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động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biện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hộ</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để</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có</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thể</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tiếp</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cận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và</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sử</a:t>
            </a:r>
            <a:r>
              <a:rPr lang="en-US" sz="1600" dirty="0">
                <a:solidFill>
                  <a:schemeClr val="bg1">
                    <a:lumMod val="10000"/>
                  </a:schemeClr>
                </a:solidFill>
                <a:latin typeface="Arial" panose="020B0604020202020204" pitchFamily="34" charset="0"/>
                <a:cs typeface="Arial" panose="020B0604020202020204" pitchFamily="34" charset="0"/>
              </a:rPr>
              <a:t> dung </a:t>
            </a:r>
            <a:r>
              <a:rPr lang="en-US" sz="1600" dirty="0" err="1">
                <a:solidFill>
                  <a:schemeClr val="bg1">
                    <a:lumMod val="10000"/>
                  </a:schemeClr>
                </a:solidFill>
                <a:latin typeface="Arial" panose="020B0604020202020204" pitchFamily="34" charset="0"/>
                <a:cs typeface="Arial" panose="020B0604020202020204" pitchFamily="34" charset="0"/>
              </a:rPr>
              <a:t>được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nguồn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lực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từ</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cộng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đồng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từ</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tổ</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chức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cung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cấp</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dịch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vụ</a:t>
            </a:r>
            <a:r>
              <a:rPr lang="en-US" sz="1600" dirty="0">
                <a:solidFill>
                  <a:schemeClr val="bg1">
                    <a:lumMod val="10000"/>
                  </a:schemeClr>
                </a:solidFill>
                <a:latin typeface="Arial" panose="020B0604020202020204" pitchFamily="34" charset="0"/>
                <a:cs typeface="Arial" panose="020B0604020202020204" pitchFamily="34" charset="0"/>
              </a:rPr>
              <a:t>.</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 </a:t>
            </a:r>
            <a:endParaRPr lang="en-US" sz="1600" dirty="0">
              <a:solidFill>
                <a:schemeClr val="bg1">
                  <a:lumMod val="10000"/>
                </a:schemeClr>
              </a:solidFill>
              <a:latin typeface="Arial" panose="020B0604020202020204" pitchFamily="34" charset="0"/>
              <a:cs typeface="Arial" panose="020B0604020202020204" pitchFamily="34" charset="0"/>
            </a:endParaRPr>
          </a:p>
          <a:p>
            <a:pPr marL="177800" indent="0">
              <a:buNone/>
            </a:pPr>
            <a:endParaRPr lang="en-VN" sz="1600" dirty="0">
              <a:solidFill>
                <a:schemeClr val="bg1">
                  <a:lumMod val="10000"/>
                </a:schemeClr>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03A0B4E5-2353-ADF4-3B9D-1B3F81673027}"/>
              </a:ext>
            </a:extLst>
          </p:cNvPr>
          <p:cNvSpPr>
            <a:spLocks noGrp="1"/>
          </p:cNvSpPr>
          <p:nvPr>
            <p:ph type="title"/>
          </p:nvPr>
        </p:nvSpPr>
        <p:spPr>
          <a:xfrm>
            <a:off x="720000" y="318276"/>
            <a:ext cx="3019081" cy="572700"/>
          </a:xfrm>
        </p:spPr>
        <p:txBody>
          <a:bodyPr/>
          <a:lstStyle/>
          <a:p>
            <a:r>
              <a:rPr lang="en-VN" sz="1800" dirty="0">
                <a:solidFill>
                  <a:schemeClr val="bg1">
                    <a:lumMod val="10000"/>
                  </a:schemeClr>
                </a:solidFill>
                <a:latin typeface="+mn-lt"/>
              </a:rPr>
              <a:t>Cách thực hiện</a:t>
            </a:r>
          </a:p>
        </p:txBody>
      </p:sp>
    </p:spTree>
    <p:extLst>
      <p:ext uri="{BB962C8B-B14F-4D97-AF65-F5344CB8AC3E}">
        <p14:creationId xmlns:p14="http://schemas.microsoft.com/office/powerpoint/2010/main" val="30063009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47</a:t>
            </a:fld>
            <a:endParaRPr lang="en"/>
          </a:p>
        </p:txBody>
      </p:sp>
      <p:sp>
        <p:nvSpPr>
          <p:cNvPr id="8" name="Text Placeholder 3">
            <a:extLst>
              <a:ext uri="{FF2B5EF4-FFF2-40B4-BE49-F238E27FC236}">
                <a16:creationId xmlns:a16="http://schemas.microsoft.com/office/drawing/2014/main" id="{2A92C5D0-DF76-9110-70DA-AC7ABE1C8F7B}"/>
              </a:ext>
            </a:extLst>
          </p:cNvPr>
          <p:cNvSpPr txBox="1">
            <a:spLocks/>
          </p:cNvSpPr>
          <p:nvPr/>
        </p:nvSpPr>
        <p:spPr>
          <a:xfrm>
            <a:off x="402336" y="890976"/>
            <a:ext cx="7638988" cy="380238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2"/>
              </a:buClr>
              <a:buSzPts val="800"/>
              <a:buFont typeface="Nunito Light"/>
              <a:buChar char="●"/>
              <a:defRPr sz="1400" b="0" i="0" u="none" strike="noStrike" cap="none">
                <a:solidFill>
                  <a:schemeClr val="dk1"/>
                </a:solidFill>
                <a:latin typeface="Mulish"/>
                <a:ea typeface="Mulish"/>
                <a:cs typeface="Mulish"/>
                <a:sym typeface="Mulish"/>
              </a:defRPr>
            </a:lvl1pPr>
            <a:lvl2pPr marL="914400" marR="0" lvl="1" indent="-304800" algn="l" rtl="0">
              <a:lnSpc>
                <a:spcPct val="115000"/>
              </a:lnSpc>
              <a:spcBef>
                <a:spcPts val="0"/>
              </a:spcBef>
              <a:spcAft>
                <a:spcPts val="0"/>
              </a:spcAft>
              <a:buClr>
                <a:schemeClr val="dk1"/>
              </a:buClr>
              <a:buSzPts val="1200"/>
              <a:buFont typeface="Nunito Light"/>
              <a:buChar char="○"/>
              <a:defRPr sz="1400" b="0" i="0" u="none" strike="noStrike" cap="none">
                <a:solidFill>
                  <a:schemeClr val="dk1"/>
                </a:solidFill>
                <a:latin typeface="Mulish"/>
                <a:ea typeface="Mulish"/>
                <a:cs typeface="Mulish"/>
                <a:sym typeface="Mulish"/>
              </a:defRPr>
            </a:lvl2pPr>
            <a:lvl3pPr marL="1371600" marR="0" lvl="2" indent="-304800" algn="l" rtl="0">
              <a:lnSpc>
                <a:spcPct val="115000"/>
              </a:lnSpc>
              <a:spcBef>
                <a:spcPts val="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3pPr>
            <a:lvl4pPr marL="1828800" marR="0" lvl="3" indent="-304800" algn="l" rtl="0">
              <a:lnSpc>
                <a:spcPct val="115000"/>
              </a:lnSpc>
              <a:spcBef>
                <a:spcPts val="1600"/>
              </a:spcBef>
              <a:spcAft>
                <a:spcPts val="0"/>
              </a:spcAft>
              <a:buClr>
                <a:srgbClr val="FFC800"/>
              </a:buClr>
              <a:buSzPts val="1200"/>
              <a:buFont typeface="Nunito Light"/>
              <a:buChar char="●"/>
              <a:defRPr sz="1400" b="0" i="0" u="none" strike="noStrike" cap="none">
                <a:solidFill>
                  <a:schemeClr val="dk1"/>
                </a:solidFill>
                <a:latin typeface="Mulish"/>
                <a:ea typeface="Mulish"/>
                <a:cs typeface="Mulish"/>
                <a:sym typeface="Mulish"/>
              </a:defRPr>
            </a:lvl4pPr>
            <a:lvl5pPr marL="2286000" marR="0" lvl="4"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5pPr>
            <a:lvl6pPr marL="2743200" marR="0" lvl="5"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6pPr>
            <a:lvl7pPr marL="3200400" marR="0" lvl="6"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7pPr>
            <a:lvl8pPr marL="3657600" marR="0" lvl="7" indent="-304800" algn="l" rtl="0">
              <a:lnSpc>
                <a:spcPct val="115000"/>
              </a:lnSpc>
              <a:spcBef>
                <a:spcPts val="1600"/>
              </a:spcBef>
              <a:spcAft>
                <a:spcPts val="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8pPr>
            <a:lvl9pPr marL="4114800" marR="0" lvl="8" indent="-304800" algn="l" rtl="0">
              <a:lnSpc>
                <a:spcPct val="115000"/>
              </a:lnSpc>
              <a:spcBef>
                <a:spcPts val="1600"/>
              </a:spcBef>
              <a:spcAft>
                <a:spcPts val="1600"/>
              </a:spcAft>
              <a:buClr>
                <a:srgbClr val="434343"/>
              </a:buClr>
              <a:buSzPts val="1200"/>
              <a:buFont typeface="Nunito Light"/>
              <a:buChar char="■"/>
              <a:defRPr sz="1400" b="0" i="0" u="none" strike="noStrike" cap="none">
                <a:solidFill>
                  <a:schemeClr val="dk1"/>
                </a:solidFill>
                <a:latin typeface="Mulish"/>
                <a:ea typeface="Mulish"/>
                <a:cs typeface="Mulish"/>
                <a:sym typeface="Mulish"/>
              </a:defRPr>
            </a:lvl9pPr>
          </a:lstStyle>
          <a:p>
            <a:pPr marL="177800" indent="0">
              <a:buFont typeface="Nunito Light"/>
              <a:buNone/>
            </a:pPr>
            <a:r>
              <a:rPr lang="en-VN" sz="1600" b="1" dirty="0">
                <a:solidFill>
                  <a:schemeClr val="bg1">
                    <a:lumMod val="10000"/>
                  </a:schemeClr>
                </a:solidFill>
                <a:latin typeface="Arial" panose="020B0604020202020204" pitchFamily="34" charset="0"/>
                <a:cs typeface="Arial" panose="020B0604020202020204" pitchFamily="34" charset="0"/>
              </a:rPr>
              <a:t>Bước 3: Theo dõi và Lượng giá biện hộ</a:t>
            </a:r>
          </a:p>
          <a:p>
            <a:pPr marL="177800" indent="0">
              <a:buNone/>
            </a:pP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Giám</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sát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theo</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dõi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kết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quả</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sau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vận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động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biện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hộ</a:t>
            </a:r>
            <a:r>
              <a:rPr lang="en-US" sz="1600" dirty="0">
                <a:solidFill>
                  <a:schemeClr val="bg1">
                    <a:lumMod val="10000"/>
                  </a:schemeClr>
                </a:solidFill>
                <a:latin typeface="Arial" panose="020B0604020202020204" pitchFamily="34" charset="0"/>
                <a:cs typeface="Arial" panose="020B0604020202020204" pitchFamily="34" charset="0"/>
              </a:rPr>
              <a:t>. Sau </a:t>
            </a:r>
            <a:r>
              <a:rPr lang="en-US" sz="1600" dirty="0" err="1">
                <a:solidFill>
                  <a:schemeClr val="bg1">
                    <a:lumMod val="10000"/>
                  </a:schemeClr>
                </a:solidFill>
                <a:latin typeface="Arial" panose="020B0604020202020204" pitchFamily="34" charset="0"/>
                <a:cs typeface="Arial" panose="020B0604020202020204" pitchFamily="34" charset="0"/>
              </a:rPr>
              <a:t>khi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vấn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được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nêu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các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cầu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nguyện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vọng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của</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được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chuyển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những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nơi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cần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công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việc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của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bộ</a:t>
            </a:r>
            <a:r>
              <a:rPr lang="en-US" sz="1600" dirty="0">
                <a:solidFill>
                  <a:schemeClr val="bg1">
                    <a:lumMod val="10000"/>
                  </a:schemeClr>
                </a:solidFill>
                <a:latin typeface="Arial" panose="020B0604020202020204" pitchFamily="34" charset="0"/>
                <a:cs typeface="Arial" panose="020B0604020202020204" pitchFamily="34" charset="0"/>
              </a:rPr>
              <a:t> QLTH </a:t>
            </a:r>
            <a:r>
              <a:rPr lang="en-US" sz="1600" dirty="0" err="1">
                <a:solidFill>
                  <a:schemeClr val="bg1">
                    <a:lumMod val="10000"/>
                  </a:schemeClr>
                </a:solidFill>
                <a:latin typeface="Arial" panose="020B0604020202020204" pitchFamily="34" charset="0"/>
                <a:cs typeface="Arial" panose="020B0604020202020204" pitchFamily="34" charset="0"/>
              </a:rPr>
              <a:t>chưa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dừng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lại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mà</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phải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tiếp</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tục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nắm</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rõ</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những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cầu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quyền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của</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đã</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được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đáp</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ứng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chưa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Vấn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đề</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này</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cần</a:t>
            </a:r>
            <a:r>
              <a:rPr lang="en-US" sz="1600" dirty="0">
                <a:solidFill>
                  <a:schemeClr val="bg1">
                    <a:lumMod val="10000"/>
                  </a:schemeClr>
                </a:solidFill>
                <a:latin typeface="Arial" panose="020B0604020202020204" pitchFamily="34" charset="0"/>
                <a:cs typeface="Arial" panose="020B0604020202020204" pitchFamily="34" charset="0"/>
              </a:rPr>
              <a:t> có </a:t>
            </a:r>
            <a:r>
              <a:rPr lang="en-US" sz="1600" dirty="0" err="1">
                <a:solidFill>
                  <a:schemeClr val="bg1">
                    <a:lumMod val="10000"/>
                  </a:schemeClr>
                </a:solidFill>
                <a:latin typeface="Arial" panose="020B0604020202020204" pitchFamily="34" charset="0"/>
                <a:cs typeface="Arial" panose="020B0604020202020204" pitchFamily="34" charset="0"/>
              </a:rPr>
              <a:t>kê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hoạch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theo</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dõi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lượng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gia</a:t>
            </a:r>
            <a:r>
              <a:rPr lang="en-US" sz="1600" dirty="0">
                <a:solidFill>
                  <a:schemeClr val="bg1">
                    <a:lumMod val="10000"/>
                  </a:schemeClr>
                </a:solidFill>
                <a:latin typeface="Arial" panose="020B0604020202020204" pitchFamily="34" charset="0"/>
                <a:cs typeface="Arial" panose="020B0604020202020204" pitchFamily="34" charset="0"/>
              </a:rPr>
              <a:t>́</a:t>
            </a:r>
            <a:r>
              <a:rPr lang="en-US" sz="1600" dirty="0">
                <a:solidFill>
                  <a:schemeClr val="bg1">
                    <a:lumMod val="10000"/>
                  </a:schemeClr>
                </a:solidFill>
                <a:effectLst/>
                <a:latin typeface="Arial" panose="020B0604020202020204" pitchFamily="34" charset="0"/>
                <a:ea typeface="Calibri" panose="020F0502020204030204" pitchFamily="34" charset="0"/>
                <a:cs typeface="Arial" panose="020B0604020202020204" pitchFamily="34" charset="0"/>
              </a:rPr>
              <a:t>.</a:t>
            </a:r>
          </a:p>
          <a:p>
            <a:pPr marL="177800" indent="0">
              <a:buNone/>
            </a:pPr>
            <a:endParaRPr lang="en-US" sz="1600" dirty="0">
              <a:solidFill>
                <a:schemeClr val="bg1">
                  <a:lumMod val="10000"/>
                </a:schemeClr>
              </a:solidFill>
              <a:effectLst/>
              <a:latin typeface="Arial" panose="020B0604020202020204" pitchFamily="34" charset="0"/>
              <a:ea typeface="Calibri" panose="020F0502020204030204" pitchFamily="34" charset="0"/>
              <a:cs typeface="Arial" panose="020B0604020202020204" pitchFamily="34" charset="0"/>
            </a:endParaRPr>
          </a:p>
          <a:p>
            <a:pPr marL="177800" indent="0">
              <a:buNone/>
            </a:pPr>
            <a:r>
              <a:rPr lang="en-VN" sz="1600" dirty="0">
                <a:solidFill>
                  <a:schemeClr val="bg1">
                    <a:lumMod val="10000"/>
                  </a:schemeClr>
                </a:solidFill>
                <a:effectLst/>
                <a:latin typeface="Arial" panose="020B0604020202020204" pitchFamily="34" charset="0"/>
                <a:ea typeface="Calibri" panose="020F050202020403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bộ</a:t>
            </a:r>
            <a:r>
              <a:rPr lang="en-US" sz="1600" dirty="0">
                <a:solidFill>
                  <a:schemeClr val="bg1">
                    <a:lumMod val="10000"/>
                  </a:schemeClr>
                </a:solidFill>
                <a:latin typeface="Arial" panose="020B0604020202020204" pitchFamily="34" charset="0"/>
                <a:cs typeface="Arial" panose="020B0604020202020204" pitchFamily="34" charset="0"/>
              </a:rPr>
              <a:t> QLTH </a:t>
            </a:r>
            <a:r>
              <a:rPr lang="en-US" sz="1600" dirty="0" err="1">
                <a:solidFill>
                  <a:schemeClr val="bg1">
                    <a:lumMod val="10000"/>
                  </a:schemeClr>
                </a:solidFill>
                <a:latin typeface="Arial" panose="020B0604020202020204" pitchFamily="34" charset="0"/>
                <a:cs typeface="Arial" panose="020B0604020202020204" pitchFamily="34" charset="0"/>
              </a:rPr>
              <a:t>luôn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thường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xuyên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liên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với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những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nơi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đạt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yêu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cầu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biết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thêm</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thông</a:t>
            </a:r>
            <a:r>
              <a:rPr lang="en-US" sz="1600" dirty="0">
                <a:solidFill>
                  <a:schemeClr val="bg1">
                    <a:lumMod val="10000"/>
                  </a:schemeClr>
                </a:solidFill>
                <a:latin typeface="Arial" panose="020B0604020202020204" pitchFamily="34" charset="0"/>
                <a:cs typeface="Arial" panose="020B0604020202020204" pitchFamily="34" charset="0"/>
              </a:rPr>
              <a:t> tin </a:t>
            </a:r>
            <a:r>
              <a:rPr lang="en-US" sz="1600" dirty="0" err="1">
                <a:solidFill>
                  <a:schemeClr val="bg1">
                    <a:lumMod val="10000"/>
                  </a:schemeClr>
                </a:solidFill>
                <a:latin typeface="Arial" panose="020B0604020202020204" pitchFamily="34" charset="0"/>
                <a:cs typeface="Arial" panose="020B0604020202020204" pitchFamily="34" charset="0"/>
              </a:rPr>
              <a:t>và</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thông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báo</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cho</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vê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việc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thực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hiện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những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cầu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chính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đáng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của</a:t>
            </a:r>
            <a:r>
              <a:rPr lang="en-US" sz="1600" dirty="0">
                <a:solidFill>
                  <a:schemeClr val="bg1">
                    <a:lumMod val="10000"/>
                  </a:schemeClr>
                </a:solidFill>
                <a:latin typeface="Arial" panose="020B0604020202020204" pitchFamily="34" charset="0"/>
                <a:cs typeface="Arial" panose="020B0604020202020204" pitchFamily="34" charset="0"/>
              </a:rPr>
              <a:t> NB. (Ví dụ, </a:t>
            </a:r>
            <a:r>
              <a:rPr lang="en-US" sz="1600" dirty="0" err="1">
                <a:solidFill>
                  <a:schemeClr val="bg1">
                    <a:lumMod val="10000"/>
                  </a:schemeClr>
                </a:solidFill>
                <a:latin typeface="Arial" panose="020B0604020202020204" pitchFamily="34" charset="0"/>
                <a:cs typeface="Arial" panose="020B0604020202020204" pitchFamily="34" charset="0"/>
              </a:rPr>
              <a:t>như</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khi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đạt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nguyện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vọng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của</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gia</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đình</a:t>
            </a:r>
            <a:r>
              <a:rPr lang="en-US" sz="1600" dirty="0">
                <a:solidFill>
                  <a:schemeClr val="bg1">
                    <a:lumMod val="10000"/>
                  </a:schemeClr>
                </a:solidFill>
                <a:latin typeface="Arial" panose="020B0604020202020204" pitchFamily="34" charset="0"/>
                <a:cs typeface="Arial" panose="020B0604020202020204" pitchFamily="34" charset="0"/>
              </a:rPr>
              <a:t> NB </a:t>
            </a:r>
            <a:r>
              <a:rPr lang="en-US" sz="1600" dirty="0" err="1">
                <a:solidFill>
                  <a:schemeClr val="bg1">
                    <a:lumMod val="10000"/>
                  </a:schemeClr>
                </a:solidFill>
                <a:latin typeface="Arial" panose="020B0604020202020204" pitchFamily="34" charset="0"/>
                <a:cs typeface="Arial" panose="020B0604020202020204" pitchFamily="34" charset="0"/>
              </a:rPr>
              <a:t>được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vay</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vốn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đê</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sinh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kế</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cải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thiện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đời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sống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thì</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cán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bộ</a:t>
            </a:r>
            <a:r>
              <a:rPr lang="en-US" sz="1600" dirty="0">
                <a:solidFill>
                  <a:schemeClr val="bg1">
                    <a:lumMod val="10000"/>
                  </a:schemeClr>
                </a:solidFill>
                <a:latin typeface="Arial" panose="020B0604020202020204" pitchFamily="34" charset="0"/>
                <a:cs typeface="Arial" panose="020B0604020202020204" pitchFamily="34" charset="0"/>
              </a:rPr>
              <a:t> QLTH </a:t>
            </a:r>
            <a:r>
              <a:rPr lang="en-US" sz="1600" dirty="0" err="1">
                <a:solidFill>
                  <a:schemeClr val="bg1">
                    <a:lumMod val="10000"/>
                  </a:schemeClr>
                </a:solidFill>
                <a:latin typeface="Arial" panose="020B0604020202020204" pitchFamily="34" charset="0"/>
                <a:cs typeface="Arial" panose="020B0604020202020204" pitchFamily="34" charset="0"/>
              </a:rPr>
              <a:t>phải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biết</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được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công</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việc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đã</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tiến</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hành</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tới</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đâu</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thủ</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tục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như</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thế</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nào</a:t>
            </a:r>
            <a:r>
              <a:rPr lang="en-US" sz="1600" dirty="0">
                <a:solidFill>
                  <a:schemeClr val="bg1">
                    <a:lumMod val="10000"/>
                  </a:schemeClr>
                </a:solidFill>
                <a:latin typeface="Arial" panose="020B0604020202020204" pitchFamily="34" charset="0"/>
                <a:cs typeface="Arial" panose="020B0604020202020204" pitchFamily="34" charset="0"/>
              </a:rPr>
              <a:t>, bao </a:t>
            </a:r>
            <a:r>
              <a:rPr lang="en-US" sz="1600" dirty="0" err="1">
                <a:solidFill>
                  <a:schemeClr val="bg1">
                    <a:lumMod val="10000"/>
                  </a:schemeClr>
                </a:solidFill>
                <a:latin typeface="Arial" panose="020B0604020202020204" pitchFamily="34" charset="0"/>
                <a:cs typeface="Arial" panose="020B0604020202020204" pitchFamily="34" charset="0"/>
              </a:rPr>
              <a:t>giơ</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được</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vay</a:t>
            </a:r>
            <a:r>
              <a:rPr lang="en-US" sz="1600" dirty="0">
                <a:solidFill>
                  <a:schemeClr val="bg1">
                    <a:lumMod val="10000"/>
                  </a:schemeClr>
                </a:solidFill>
                <a:latin typeface="Arial" panose="020B0604020202020204" pitchFamily="34" charset="0"/>
                <a:cs typeface="Arial" panose="020B0604020202020204" pitchFamily="34" charset="0"/>
              </a:rPr>
              <a:t> </a:t>
            </a:r>
            <a:r>
              <a:rPr lang="en-US" sz="1600" dirty="0" err="1">
                <a:solidFill>
                  <a:schemeClr val="bg1">
                    <a:lumMod val="10000"/>
                  </a:schemeClr>
                </a:solidFill>
                <a:latin typeface="Arial" panose="020B0604020202020204" pitchFamily="34" charset="0"/>
                <a:cs typeface="Arial" panose="020B0604020202020204" pitchFamily="34" charset="0"/>
              </a:rPr>
              <a:t>vốn</a:t>
            </a:r>
            <a:r>
              <a:rPr lang="en-US" sz="1600" dirty="0">
                <a:solidFill>
                  <a:schemeClr val="bg1">
                    <a:lumMod val="10000"/>
                  </a:schemeClr>
                </a:solidFill>
                <a:latin typeface="Arial" panose="020B0604020202020204" pitchFamily="34" charset="0"/>
                <a:cs typeface="Arial" panose="020B0604020202020204" pitchFamily="34" charset="0"/>
              </a:rPr>
              <a:t>?...)</a:t>
            </a:r>
            <a:endParaRPr lang="en-VN" sz="1600" dirty="0">
              <a:solidFill>
                <a:schemeClr val="bg1">
                  <a:lumMod val="10000"/>
                </a:schemeClr>
              </a:solidFill>
              <a:latin typeface="Arial" panose="020B0604020202020204" pitchFamily="34" charset="0"/>
              <a:cs typeface="Arial" panose="020B0604020202020204" pitchFamily="34" charset="0"/>
            </a:endParaRPr>
          </a:p>
          <a:p>
            <a:pPr marL="177800" indent="0">
              <a:buNone/>
            </a:pPr>
            <a:endParaRPr lang="en-VN" sz="1600" dirty="0">
              <a:solidFill>
                <a:schemeClr val="bg1">
                  <a:lumMod val="10000"/>
                </a:schemeClr>
              </a:solidFill>
              <a:effectLst/>
              <a:latin typeface="Arial" panose="020B0604020202020204" pitchFamily="34" charset="0"/>
              <a:ea typeface="Calibri" panose="020F0502020204030204" pitchFamily="34" charset="0"/>
              <a:cs typeface="Arial" panose="020B0604020202020204" pitchFamily="34" charset="0"/>
            </a:endParaRPr>
          </a:p>
          <a:p>
            <a:pPr marL="177800" indent="0">
              <a:buFont typeface="Nunito Light"/>
              <a:buNone/>
            </a:pPr>
            <a:endParaRPr lang="en-US" sz="1600" dirty="0">
              <a:solidFill>
                <a:schemeClr val="bg1">
                  <a:lumMod val="10000"/>
                </a:schemeClr>
              </a:solidFill>
              <a:latin typeface="Arial" panose="020B0604020202020204" pitchFamily="34" charset="0"/>
              <a:cs typeface="Arial" panose="020B0604020202020204" pitchFamily="34" charset="0"/>
            </a:endParaRPr>
          </a:p>
          <a:p>
            <a:pPr marL="177800" indent="0">
              <a:buFont typeface="Nunito Light"/>
              <a:buNone/>
            </a:pPr>
            <a:r>
              <a:rPr lang="en-VN" sz="1600" dirty="0">
                <a:solidFill>
                  <a:schemeClr val="bg1">
                    <a:lumMod val="10000"/>
                  </a:schemeClr>
                </a:solidFill>
                <a:latin typeface="Arial" panose="020B0604020202020204" pitchFamily="34" charset="0"/>
                <a:cs typeface="Arial" panose="020B0604020202020204" pitchFamily="34" charset="0"/>
              </a:rPr>
              <a:t> </a:t>
            </a:r>
            <a:endParaRPr lang="en-US" sz="1600" dirty="0">
              <a:solidFill>
                <a:schemeClr val="bg1">
                  <a:lumMod val="10000"/>
                </a:schemeClr>
              </a:solidFill>
              <a:latin typeface="Arial" panose="020B0604020202020204" pitchFamily="34" charset="0"/>
              <a:cs typeface="Arial" panose="020B0604020202020204" pitchFamily="34" charset="0"/>
            </a:endParaRPr>
          </a:p>
          <a:p>
            <a:pPr marL="177800" indent="0">
              <a:buFont typeface="Nunito Light"/>
              <a:buNone/>
            </a:pPr>
            <a:endParaRPr lang="en-VN" sz="1600" dirty="0">
              <a:solidFill>
                <a:schemeClr val="bg1">
                  <a:lumMod val="10000"/>
                </a:schemeClr>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BD175C22-40AC-303C-CB36-F822C125CD41}"/>
              </a:ext>
            </a:extLst>
          </p:cNvPr>
          <p:cNvSpPr>
            <a:spLocks noGrp="1"/>
          </p:cNvSpPr>
          <p:nvPr>
            <p:ph type="title"/>
          </p:nvPr>
        </p:nvSpPr>
        <p:spPr>
          <a:xfrm>
            <a:off x="720000" y="318276"/>
            <a:ext cx="3019081" cy="572700"/>
          </a:xfrm>
        </p:spPr>
        <p:txBody>
          <a:bodyPr/>
          <a:lstStyle/>
          <a:p>
            <a:r>
              <a:rPr lang="en-VN" sz="1800" dirty="0">
                <a:solidFill>
                  <a:schemeClr val="bg1">
                    <a:lumMod val="10000"/>
                  </a:schemeClr>
                </a:solidFill>
                <a:latin typeface="+mn-lt"/>
              </a:rPr>
              <a:t>Cách thực hiện</a:t>
            </a:r>
          </a:p>
        </p:txBody>
      </p:sp>
    </p:spTree>
    <p:extLst>
      <p:ext uri="{BB962C8B-B14F-4D97-AF65-F5344CB8AC3E}">
        <p14:creationId xmlns:p14="http://schemas.microsoft.com/office/powerpoint/2010/main" val="3059397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F9B7B-84E5-7631-AEAD-C505BC1F1F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46C0FC-EAC6-244D-1798-40D34871F0D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48</a:t>
            </a:fld>
            <a:endParaRPr lang="en"/>
          </a:p>
        </p:txBody>
      </p:sp>
      <p:sp>
        <p:nvSpPr>
          <p:cNvPr id="3" name="Title 2">
            <a:extLst>
              <a:ext uri="{FF2B5EF4-FFF2-40B4-BE49-F238E27FC236}">
                <a16:creationId xmlns:a16="http://schemas.microsoft.com/office/drawing/2014/main" id="{3907B316-BA6C-1654-A86D-6CC38248EA0D}"/>
              </a:ext>
            </a:extLst>
          </p:cNvPr>
          <p:cNvSpPr>
            <a:spLocks noGrp="1"/>
          </p:cNvSpPr>
          <p:nvPr>
            <p:ph type="title"/>
          </p:nvPr>
        </p:nvSpPr>
        <p:spPr/>
        <p:txBody>
          <a:bodyPr/>
          <a:lstStyle/>
          <a:p>
            <a:r>
              <a:rPr lang="en-VN" sz="2400" dirty="0">
                <a:latin typeface="Arial" panose="020B0604020202020204" pitchFamily="34" charset="0"/>
                <a:cs typeface="Arial" panose="020B0604020202020204" pitchFamily="34" charset="0"/>
              </a:rPr>
              <a:t>Thảo luận nhóm</a:t>
            </a:r>
          </a:p>
        </p:txBody>
      </p:sp>
      <p:sp>
        <p:nvSpPr>
          <p:cNvPr id="4" name="Text Placeholder 3">
            <a:extLst>
              <a:ext uri="{FF2B5EF4-FFF2-40B4-BE49-F238E27FC236}">
                <a16:creationId xmlns:a16="http://schemas.microsoft.com/office/drawing/2014/main" id="{9BDA57F2-7076-CEB3-9563-93C9F03C1A80}"/>
              </a:ext>
            </a:extLst>
          </p:cNvPr>
          <p:cNvSpPr>
            <a:spLocks noGrp="1"/>
          </p:cNvSpPr>
          <p:nvPr>
            <p:ph type="body" idx="1"/>
          </p:nvPr>
        </p:nvSpPr>
        <p:spPr>
          <a:xfrm>
            <a:off x="621792" y="1017725"/>
            <a:ext cx="7802208" cy="3431125"/>
          </a:xfrm>
        </p:spPr>
        <p:txBody>
          <a:bodyPr/>
          <a:lstStyle/>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Chia nhóm lớp 4-5 nhóm, mỗi nhóm 4-5 học viên thảo luận ca (6 giờ tự học)</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Một bé gái 14 tuổi được giải cứu từ biên giới. Em cho biết gia đình nghèo khổ, có 4 người con cha mẹ lại bệnh tật, quanh năm lam lũ không đủ ăn mặc.  Được hàng xóm giới thiệu công việc sẽ kiếm được tiền, nên em và cha mẹ đồng ý sẽ đi làm trong 2 năm, kiếm tiền về trang trải và nuôi sống gia đình. Được biết em bị một nhóm người đưa qua biên giới để kiếm việc làm, tuy nhiên em và những người trong nhóm đã bị đưa vào làm trong một nhà hàng và bị ép phục vụ khách… Sau hơn 1 năm, em được một tổ chức Quốc tế – kết hợp với bộ đội biên phòng giải cứu. </a:t>
            </a:r>
          </a:p>
          <a:p>
            <a:pPr marL="177800" indent="0">
              <a:buNone/>
            </a:pPr>
            <a:r>
              <a:rPr lang="en-VN" sz="1600" dirty="0">
                <a:solidFill>
                  <a:schemeClr val="bg1">
                    <a:lumMod val="10000"/>
                  </a:schemeClr>
                </a:solidFill>
                <a:latin typeface="Arial" panose="020B0604020202020204" pitchFamily="34" charset="0"/>
                <a:cs typeface="Arial" panose="020B0604020202020204" pitchFamily="34" charset="0"/>
              </a:rPr>
              <a:t>Anh/chị với vai trò nhân viên CTXH tiếp nhận trường hợp này, giả định thông tin biện hộ cho trường hợp bé gái trong tình huống nêu trên?</a:t>
            </a:r>
          </a:p>
        </p:txBody>
      </p:sp>
    </p:spTree>
    <p:extLst>
      <p:ext uri="{BB962C8B-B14F-4D97-AF65-F5344CB8AC3E}">
        <p14:creationId xmlns:p14="http://schemas.microsoft.com/office/powerpoint/2010/main" val="34788022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2"/>
          <p:cNvSpPr txBox="1">
            <a:spLocks noGrp="1"/>
          </p:cNvSpPr>
          <p:nvPr>
            <p:ph type="title"/>
          </p:nvPr>
        </p:nvSpPr>
        <p:spPr>
          <a:xfrm>
            <a:off x="2886635" y="1854500"/>
            <a:ext cx="4823012"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600" dirty="0" err="1">
                <a:solidFill>
                  <a:schemeClr val="bg1">
                    <a:lumMod val="10000"/>
                  </a:schemeClr>
                </a:solidFill>
                <a:latin typeface="Arial" panose="020B0604020202020204" pitchFamily="34" charset="0"/>
                <a:cs typeface="Arial" panose="020B0604020202020204" pitchFamily="34" charset="0"/>
              </a:rPr>
              <a:t>Kỹ</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năng</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ghi</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chép</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và</a:t>
            </a:r>
            <a:r>
              <a:rPr lang="en" sz="2600" dirty="0">
                <a:solidFill>
                  <a:schemeClr val="bg1">
                    <a:lumMod val="10000"/>
                  </a:schemeClr>
                </a:solidFill>
                <a:latin typeface="Arial" panose="020B0604020202020204" pitchFamily="34" charset="0"/>
                <a:cs typeface="Arial" panose="020B0604020202020204" pitchFamily="34" charset="0"/>
              </a:rPr>
              <a:t> </a:t>
            </a:r>
            <a:br>
              <a:rPr lang="en" sz="2600" dirty="0">
                <a:solidFill>
                  <a:schemeClr val="bg1">
                    <a:lumMod val="10000"/>
                  </a:schemeClr>
                </a:solidFill>
                <a:latin typeface="Arial" panose="020B0604020202020204" pitchFamily="34" charset="0"/>
                <a:cs typeface="Arial" panose="020B0604020202020204" pitchFamily="34" charset="0"/>
              </a:rPr>
            </a:br>
            <a:r>
              <a:rPr lang="en" sz="2600" dirty="0" err="1">
                <a:solidFill>
                  <a:schemeClr val="bg1">
                    <a:lumMod val="10000"/>
                  </a:schemeClr>
                </a:solidFill>
                <a:latin typeface="Arial" panose="020B0604020202020204" pitchFamily="34" charset="0"/>
                <a:cs typeface="Arial" panose="020B0604020202020204" pitchFamily="34" charset="0"/>
              </a:rPr>
              <a:t>lưu</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trữ</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hồ</a:t>
            </a:r>
            <a:r>
              <a:rPr lang="en" sz="2600" dirty="0">
                <a:solidFill>
                  <a:schemeClr val="bg1">
                    <a:lumMod val="10000"/>
                  </a:schemeClr>
                </a:solidFill>
                <a:latin typeface="Arial" panose="020B0604020202020204" pitchFamily="34" charset="0"/>
                <a:cs typeface="Arial" panose="020B0604020202020204" pitchFamily="34" charset="0"/>
              </a:rPr>
              <a:t> </a:t>
            </a:r>
            <a:r>
              <a:rPr lang="en" sz="2600" dirty="0" err="1">
                <a:solidFill>
                  <a:schemeClr val="bg1">
                    <a:lumMod val="10000"/>
                  </a:schemeClr>
                </a:solidFill>
                <a:latin typeface="Arial" panose="020B0604020202020204" pitchFamily="34" charset="0"/>
                <a:cs typeface="Arial" panose="020B0604020202020204" pitchFamily="34" charset="0"/>
              </a:rPr>
              <a:t>sơ</a:t>
            </a:r>
            <a:r>
              <a:rPr lang="en" sz="2600" dirty="0">
                <a:solidFill>
                  <a:schemeClr val="bg1">
                    <a:lumMod val="10000"/>
                  </a:schemeClr>
                </a:solidFill>
                <a:latin typeface="Arial" panose="020B0604020202020204" pitchFamily="34" charset="0"/>
                <a:cs typeface="Arial" panose="020B0604020202020204" pitchFamily="34" charset="0"/>
              </a:rPr>
              <a:t> </a:t>
            </a:r>
            <a:endParaRPr sz="2600" dirty="0">
              <a:solidFill>
                <a:schemeClr val="bg1">
                  <a:lumMod val="10000"/>
                </a:schemeClr>
              </a:solidFill>
              <a:latin typeface="Arial" panose="020B0604020202020204" pitchFamily="34" charset="0"/>
              <a:cs typeface="Arial" panose="020B0604020202020204" pitchFamily="34" charset="0"/>
            </a:endParaRPr>
          </a:p>
        </p:txBody>
      </p:sp>
      <p:sp>
        <p:nvSpPr>
          <p:cNvPr id="330" name="Google Shape;330;p32"/>
          <p:cNvSpPr txBox="1">
            <a:spLocks noGrp="1"/>
          </p:cNvSpPr>
          <p:nvPr>
            <p:ph type="subTitle" idx="1"/>
          </p:nvPr>
        </p:nvSpPr>
        <p:spPr>
          <a:xfrm>
            <a:off x="1959250" y="2939075"/>
            <a:ext cx="5225400" cy="446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describe the topic of the section here</a:t>
            </a:r>
            <a:endParaRPr/>
          </a:p>
        </p:txBody>
      </p:sp>
      <p:sp>
        <p:nvSpPr>
          <p:cNvPr id="331" name="Google Shape;331;p32"/>
          <p:cNvSpPr txBox="1">
            <a:spLocks noGrp="1"/>
          </p:cNvSpPr>
          <p:nvPr>
            <p:ph type="title" idx="2"/>
          </p:nvPr>
        </p:nvSpPr>
        <p:spPr>
          <a:xfrm>
            <a:off x="1959250" y="1854500"/>
            <a:ext cx="11898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332" name="Google Shape;332;p3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49</a:t>
            </a:fld>
            <a:endParaRPr/>
          </a:p>
        </p:txBody>
      </p:sp>
      <p:cxnSp>
        <p:nvCxnSpPr>
          <p:cNvPr id="333" name="Google Shape;333;p32"/>
          <p:cNvCxnSpPr/>
          <p:nvPr/>
        </p:nvCxnSpPr>
        <p:spPr>
          <a:xfrm rot="10800000" flipH="1">
            <a:off x="1600600" y="2910566"/>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334" name="Google Shape;334;p32"/>
          <p:cNvCxnSpPr/>
          <p:nvPr/>
        </p:nvCxnSpPr>
        <p:spPr>
          <a:xfrm rot="10800000" flipH="1">
            <a:off x="1600600" y="1714341"/>
            <a:ext cx="5942700" cy="6600"/>
          </a:xfrm>
          <a:prstGeom prst="straightConnector1">
            <a:avLst/>
          </a:prstGeom>
          <a:noFill/>
          <a:ln w="19050" cap="flat" cmpd="sng">
            <a:solidFill>
              <a:schemeClr val="lt1"/>
            </a:solidFill>
            <a:prstDash val="solid"/>
            <a:round/>
            <a:headEnd type="oval" w="med" len="med"/>
            <a:tailEnd type="oval" w="med" len="med"/>
          </a:ln>
        </p:spPr>
      </p:cxnSp>
      <p:sp>
        <p:nvSpPr>
          <p:cNvPr id="335" name="Google Shape;335;p32"/>
          <p:cNvSpPr/>
          <p:nvPr/>
        </p:nvSpPr>
        <p:spPr>
          <a:xfrm>
            <a:off x="32448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7280500" y="2217963"/>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79073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89E5A0-CDF6-657D-42AA-113E1D0352C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50</a:t>
            </a:fld>
            <a:endParaRPr lang="en" dirty="0"/>
          </a:p>
        </p:txBody>
      </p:sp>
      <p:sp>
        <p:nvSpPr>
          <p:cNvPr id="3" name="Title 2">
            <a:extLst>
              <a:ext uri="{FF2B5EF4-FFF2-40B4-BE49-F238E27FC236}">
                <a16:creationId xmlns:a16="http://schemas.microsoft.com/office/drawing/2014/main" id="{E07E161A-633A-465B-E694-5C666F12E9CA}"/>
              </a:ext>
            </a:extLst>
          </p:cNvPr>
          <p:cNvSpPr>
            <a:spLocks noGrp="1"/>
          </p:cNvSpPr>
          <p:nvPr>
            <p:ph type="title"/>
          </p:nvPr>
        </p:nvSpPr>
        <p:spPr/>
        <p:txBody>
          <a:bodyPr/>
          <a:lstStyle/>
          <a:p>
            <a:r>
              <a:rPr lang="en-VN" dirty="0">
                <a:solidFill>
                  <a:schemeClr val="bg1">
                    <a:lumMod val="10000"/>
                  </a:schemeClr>
                </a:solidFill>
                <a:latin typeface="+mn-lt"/>
              </a:rPr>
              <a:t>Khái niệm</a:t>
            </a:r>
          </a:p>
        </p:txBody>
      </p:sp>
      <p:sp>
        <p:nvSpPr>
          <p:cNvPr id="9" name="Round Diagonal Corner Rectangle 8">
            <a:extLst>
              <a:ext uri="{FF2B5EF4-FFF2-40B4-BE49-F238E27FC236}">
                <a16:creationId xmlns:a16="http://schemas.microsoft.com/office/drawing/2014/main" id="{4EC1501E-5F03-B16D-E219-5C8D45107088}"/>
              </a:ext>
            </a:extLst>
          </p:cNvPr>
          <p:cNvSpPr/>
          <p:nvPr/>
        </p:nvSpPr>
        <p:spPr>
          <a:xfrm>
            <a:off x="566928" y="1174894"/>
            <a:ext cx="3456432" cy="3270811"/>
          </a:xfrm>
          <a:prstGeom prst="round2DiagRect">
            <a:avLst/>
          </a:prstGeom>
          <a:solidFill>
            <a:srgbClr val="EEE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kern="100" dirty="0">
                <a:solidFill>
                  <a:schemeClr val="tx2">
                    <a:lumMod val="10000"/>
                  </a:schemeClr>
                </a:solidFill>
                <a:ea typeface="Calibri" panose="020F0502020204030204" pitchFamily="34" charset="0"/>
              </a:rPr>
              <a:t>Theo ILO &amp; UNICEF (2024), </a:t>
            </a:r>
            <a:r>
              <a:rPr lang="en-US" sz="1600" kern="100" dirty="0" err="1">
                <a:solidFill>
                  <a:schemeClr val="tx2">
                    <a:lumMod val="10000"/>
                  </a:schemeClr>
                </a:solidFill>
                <a:ea typeface="Times New Roman" panose="02020603050405020304" pitchFamily="18" charset="0"/>
              </a:rPr>
              <a:t>Kỹ</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năng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ghi</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chép</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và</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lưu</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trữ</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hồ</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sơ</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trong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quản</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lý</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trường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hợp</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là</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khả</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năng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hệ</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thống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hóa</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và</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duy</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trì</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hồ</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sơ</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đối</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tượng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phản</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ánh</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đầy</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đủ</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hoạt</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động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đánh</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giá</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và</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kết</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quả</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trợ</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giúp</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của</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từng</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giai</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đoạn</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Hồ</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sơ</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này</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đảm</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bảo</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tính</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liên</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tục</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phối</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hợp</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đa</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ngành</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và</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làm</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cơ</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sở</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pháp</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lý</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cho</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việc</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đánh</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giá</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hiệu</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quả</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dịch</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vụ</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xã</a:t>
            </a:r>
            <a:r>
              <a:rPr lang="en-US" sz="1600" kern="100" dirty="0">
                <a:solidFill>
                  <a:schemeClr val="tx2">
                    <a:lumMod val="10000"/>
                  </a:schemeClr>
                </a:solidFill>
                <a:ea typeface="Times New Roman" panose="02020603050405020304" pitchFamily="18" charset="0"/>
              </a:rPr>
              <a:t> </a:t>
            </a:r>
            <a:r>
              <a:rPr lang="en-US" sz="1600" kern="100" dirty="0" err="1">
                <a:solidFill>
                  <a:schemeClr val="tx2">
                    <a:lumMod val="10000"/>
                  </a:schemeClr>
                </a:solidFill>
                <a:ea typeface="Times New Roman" panose="02020603050405020304" pitchFamily="18" charset="0"/>
              </a:rPr>
              <a:t>hội</a:t>
            </a:r>
            <a:r>
              <a:rPr lang="en-US" sz="1600" kern="100" dirty="0">
                <a:solidFill>
                  <a:schemeClr val="tx2">
                    <a:lumMod val="10000"/>
                  </a:schemeClr>
                </a:solidFill>
                <a:ea typeface="Times New Roman" panose="02020603050405020304" pitchFamily="18" charset="0"/>
              </a:rPr>
              <a:t> .</a:t>
            </a:r>
            <a:br>
              <a:rPr lang="en-US" sz="1600" kern="100" dirty="0">
                <a:solidFill>
                  <a:schemeClr val="tx2">
                    <a:lumMod val="10000"/>
                  </a:schemeClr>
                </a:solidFill>
                <a:ea typeface="Times New Roman" panose="02020603050405020304" pitchFamily="18" charset="0"/>
              </a:rPr>
            </a:br>
            <a:endParaRPr lang="en-VN" sz="1600" dirty="0">
              <a:solidFill>
                <a:schemeClr val="tx2">
                  <a:lumMod val="10000"/>
                </a:schemeClr>
              </a:solidFill>
            </a:endParaRPr>
          </a:p>
        </p:txBody>
      </p:sp>
      <p:sp>
        <p:nvSpPr>
          <p:cNvPr id="10" name="Round Diagonal Corner Rectangle 9">
            <a:extLst>
              <a:ext uri="{FF2B5EF4-FFF2-40B4-BE49-F238E27FC236}">
                <a16:creationId xmlns:a16="http://schemas.microsoft.com/office/drawing/2014/main" id="{B49D0E07-F0E7-8E6E-6662-E9FDC1D2AB54}"/>
              </a:ext>
            </a:extLst>
          </p:cNvPr>
          <p:cNvSpPr/>
          <p:nvPr/>
        </p:nvSpPr>
        <p:spPr>
          <a:xfrm>
            <a:off x="4636008" y="1174893"/>
            <a:ext cx="3787992" cy="3270811"/>
          </a:xfrm>
          <a:prstGeom prst="round2DiagRect">
            <a:avLst/>
          </a:prstGeom>
          <a:solidFill>
            <a:srgbClr val="EEE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solidFill>
                  <a:schemeClr val="tx2">
                    <a:lumMod val="10000"/>
                  </a:schemeClr>
                </a:solidFill>
              </a:rPr>
              <a:t>Victoria </a:t>
            </a:r>
            <a:r>
              <a:rPr lang="en-US" sz="1600" dirty="0" err="1">
                <a:solidFill>
                  <a:schemeClr val="tx2">
                    <a:lumMod val="10000"/>
                  </a:schemeClr>
                </a:solidFill>
              </a:rPr>
              <a:t>Pivnik</a:t>
            </a:r>
            <a:r>
              <a:rPr lang="en-US" sz="1600" dirty="0">
                <a:solidFill>
                  <a:schemeClr val="tx2">
                    <a:lumMod val="10000"/>
                  </a:schemeClr>
                </a:solidFill>
              </a:rPr>
              <a:t>, LCSW (2021) </a:t>
            </a:r>
            <a:r>
              <a:rPr lang="en-US" sz="1600" dirty="0" err="1">
                <a:solidFill>
                  <a:schemeClr val="tx2">
                    <a:lumMod val="10000"/>
                  </a:schemeClr>
                </a:solidFill>
              </a:rPr>
              <a:t>nhấn</a:t>
            </a:r>
            <a:r>
              <a:rPr lang="en-US" sz="1600" dirty="0">
                <a:solidFill>
                  <a:schemeClr val="tx2">
                    <a:lumMod val="10000"/>
                  </a:schemeClr>
                </a:solidFill>
              </a:rPr>
              <a:t> </a:t>
            </a:r>
            <a:r>
              <a:rPr lang="en-US" sz="1600" dirty="0" err="1">
                <a:solidFill>
                  <a:schemeClr val="tx2">
                    <a:lumMod val="10000"/>
                  </a:schemeClr>
                </a:solidFill>
              </a:rPr>
              <a:t>mạnh</a:t>
            </a:r>
            <a:r>
              <a:rPr lang="en-US" sz="1600" dirty="0">
                <a:solidFill>
                  <a:schemeClr val="tx2">
                    <a:lumMod val="10000"/>
                  </a:schemeClr>
                </a:solidFill>
              </a:rPr>
              <a:t> chi </a:t>
            </a:r>
            <a:r>
              <a:rPr lang="en-US" sz="1600" dirty="0" err="1">
                <a:solidFill>
                  <a:schemeClr val="tx2">
                    <a:lumMod val="10000"/>
                  </a:schemeClr>
                </a:solidFill>
              </a:rPr>
              <a:t>chép</a:t>
            </a:r>
            <a:r>
              <a:rPr lang="en-US" sz="1600" dirty="0">
                <a:solidFill>
                  <a:schemeClr val="tx2">
                    <a:lumMod val="10000"/>
                  </a:schemeClr>
                </a:solidFill>
              </a:rPr>
              <a:t> </a:t>
            </a:r>
            <a:r>
              <a:rPr lang="en-US" sz="1600" dirty="0" err="1">
                <a:solidFill>
                  <a:schemeClr val="tx2">
                    <a:lumMod val="10000"/>
                  </a:schemeClr>
                </a:solidFill>
              </a:rPr>
              <a:t>hồ</a:t>
            </a:r>
            <a:r>
              <a:rPr lang="en-US" sz="1600" dirty="0">
                <a:solidFill>
                  <a:schemeClr val="tx2">
                    <a:lumMod val="10000"/>
                  </a:schemeClr>
                </a:solidFill>
              </a:rPr>
              <a:t> </a:t>
            </a:r>
            <a:r>
              <a:rPr lang="en-US" sz="1600" dirty="0" err="1">
                <a:solidFill>
                  <a:schemeClr val="tx2">
                    <a:lumMod val="10000"/>
                  </a:schemeClr>
                </a:solidFill>
              </a:rPr>
              <a:t>sơ</a:t>
            </a:r>
            <a:r>
              <a:rPr lang="en-US" sz="1600" dirty="0">
                <a:solidFill>
                  <a:schemeClr val="tx2">
                    <a:lumMod val="10000"/>
                  </a:schemeClr>
                </a:solidFill>
              </a:rPr>
              <a:t> </a:t>
            </a:r>
            <a:r>
              <a:rPr lang="en-US" sz="1600" dirty="0" err="1">
                <a:solidFill>
                  <a:schemeClr val="tx2">
                    <a:lumMod val="10000"/>
                  </a:schemeClr>
                </a:solidFill>
              </a:rPr>
              <a:t>là</a:t>
            </a:r>
            <a:r>
              <a:rPr lang="en-US" sz="1600" dirty="0">
                <a:solidFill>
                  <a:schemeClr val="tx2">
                    <a:lumMod val="10000"/>
                  </a:schemeClr>
                </a:solidFill>
              </a:rPr>
              <a:t> </a:t>
            </a:r>
            <a:r>
              <a:rPr lang="en-US" sz="1600" dirty="0" err="1">
                <a:solidFill>
                  <a:schemeClr val="tx2">
                    <a:lumMod val="10000"/>
                  </a:schemeClr>
                </a:solidFill>
              </a:rPr>
              <a:t>công</a:t>
            </a:r>
            <a:r>
              <a:rPr lang="en-US" sz="1600" dirty="0">
                <a:solidFill>
                  <a:schemeClr val="tx2">
                    <a:lumMod val="10000"/>
                  </a:schemeClr>
                </a:solidFill>
              </a:rPr>
              <a:t> </a:t>
            </a:r>
            <a:r>
              <a:rPr lang="en-US" sz="1600" dirty="0" err="1">
                <a:solidFill>
                  <a:schemeClr val="tx2">
                    <a:lumMod val="10000"/>
                  </a:schemeClr>
                </a:solidFill>
              </a:rPr>
              <a:t>việc</a:t>
            </a:r>
            <a:r>
              <a:rPr lang="en-US" sz="1600" dirty="0">
                <a:solidFill>
                  <a:schemeClr val="tx2">
                    <a:lumMod val="10000"/>
                  </a:schemeClr>
                </a:solidFill>
              </a:rPr>
              <a:t> </a:t>
            </a:r>
            <a:r>
              <a:rPr lang="en-US" sz="1600" dirty="0" err="1">
                <a:solidFill>
                  <a:schemeClr val="tx2">
                    <a:lumMod val="10000"/>
                  </a:schemeClr>
                </a:solidFill>
              </a:rPr>
              <a:t>cốt</a:t>
            </a:r>
            <a:r>
              <a:rPr lang="en-US" sz="1600" dirty="0">
                <a:solidFill>
                  <a:schemeClr val="tx2">
                    <a:lumMod val="10000"/>
                  </a:schemeClr>
                </a:solidFill>
              </a:rPr>
              <a:t> </a:t>
            </a:r>
            <a:r>
              <a:rPr lang="en-US" sz="1600" dirty="0" err="1">
                <a:solidFill>
                  <a:schemeClr val="tx2">
                    <a:lumMod val="10000"/>
                  </a:schemeClr>
                </a:solidFill>
              </a:rPr>
              <a:t>lõi</a:t>
            </a:r>
            <a:r>
              <a:rPr lang="en-US" sz="1600" dirty="0">
                <a:solidFill>
                  <a:schemeClr val="tx2">
                    <a:lumMod val="10000"/>
                  </a:schemeClr>
                </a:solidFill>
              </a:rPr>
              <a:t> </a:t>
            </a:r>
            <a:r>
              <a:rPr lang="en-US" sz="1600" dirty="0" err="1">
                <a:solidFill>
                  <a:schemeClr val="tx2">
                    <a:lumMod val="10000"/>
                  </a:schemeClr>
                </a:solidFill>
              </a:rPr>
              <a:t>của</a:t>
            </a:r>
            <a:r>
              <a:rPr lang="en-US" sz="1600" dirty="0">
                <a:solidFill>
                  <a:schemeClr val="tx2">
                    <a:lumMod val="10000"/>
                  </a:schemeClr>
                </a:solidFill>
              </a:rPr>
              <a:t> </a:t>
            </a:r>
            <a:r>
              <a:rPr lang="en-US" sz="1600" dirty="0" err="1">
                <a:solidFill>
                  <a:schemeClr val="tx2">
                    <a:lumMod val="10000"/>
                  </a:schemeClr>
                </a:solidFill>
              </a:rPr>
              <a:t>quản</a:t>
            </a:r>
            <a:r>
              <a:rPr lang="en-US" sz="1600" dirty="0">
                <a:solidFill>
                  <a:schemeClr val="tx2">
                    <a:lumMod val="10000"/>
                  </a:schemeClr>
                </a:solidFill>
              </a:rPr>
              <a:t> </a:t>
            </a:r>
            <a:r>
              <a:rPr lang="en-US" sz="1600" dirty="0" err="1">
                <a:solidFill>
                  <a:schemeClr val="tx2">
                    <a:lumMod val="10000"/>
                  </a:schemeClr>
                </a:solidFill>
              </a:rPr>
              <a:t>lý</a:t>
            </a:r>
            <a:r>
              <a:rPr lang="en-US" sz="1600" dirty="0">
                <a:solidFill>
                  <a:schemeClr val="tx2">
                    <a:lumMod val="10000"/>
                  </a:schemeClr>
                </a:solidFill>
              </a:rPr>
              <a:t> </a:t>
            </a:r>
            <a:r>
              <a:rPr lang="en-US" sz="1600" dirty="0" err="1">
                <a:solidFill>
                  <a:schemeClr val="tx2">
                    <a:lumMod val="10000"/>
                  </a:schemeClr>
                </a:solidFill>
              </a:rPr>
              <a:t>trường</a:t>
            </a:r>
            <a:r>
              <a:rPr lang="en-US" sz="1600" dirty="0">
                <a:solidFill>
                  <a:schemeClr val="tx2">
                    <a:lumMod val="10000"/>
                  </a:schemeClr>
                </a:solidFill>
              </a:rPr>
              <a:t> </a:t>
            </a:r>
            <a:r>
              <a:rPr lang="en-US" sz="1600" dirty="0" err="1">
                <a:solidFill>
                  <a:schemeClr val="tx2">
                    <a:lumMod val="10000"/>
                  </a:schemeClr>
                </a:solidFill>
              </a:rPr>
              <a:t>hợp</a:t>
            </a:r>
            <a:r>
              <a:rPr lang="en-US" sz="1600" dirty="0">
                <a:solidFill>
                  <a:schemeClr val="tx2">
                    <a:lumMod val="10000"/>
                  </a:schemeClr>
                </a:solidFill>
              </a:rPr>
              <a:t> </a:t>
            </a:r>
            <a:r>
              <a:rPr lang="en-US" sz="1600" dirty="0" err="1">
                <a:solidFill>
                  <a:schemeClr val="tx2">
                    <a:lumMod val="10000"/>
                  </a:schemeClr>
                </a:solidFill>
              </a:rPr>
              <a:t>trong</a:t>
            </a:r>
            <a:r>
              <a:rPr lang="en-US" sz="1600" dirty="0">
                <a:solidFill>
                  <a:schemeClr val="tx2">
                    <a:lumMod val="10000"/>
                  </a:schemeClr>
                </a:solidFill>
              </a:rPr>
              <a:t> </a:t>
            </a:r>
            <a:r>
              <a:rPr lang="en-US" sz="1600" dirty="0" err="1">
                <a:solidFill>
                  <a:schemeClr val="tx2">
                    <a:lumMod val="10000"/>
                  </a:schemeClr>
                </a:solidFill>
              </a:rPr>
              <a:t>công</a:t>
            </a:r>
            <a:r>
              <a:rPr lang="en-US" sz="1600" dirty="0">
                <a:solidFill>
                  <a:schemeClr val="tx2">
                    <a:lumMod val="10000"/>
                  </a:schemeClr>
                </a:solidFill>
              </a:rPr>
              <a:t> </a:t>
            </a:r>
            <a:r>
              <a:rPr lang="en-US" sz="1600" dirty="0" err="1">
                <a:solidFill>
                  <a:schemeClr val="tx2">
                    <a:lumMod val="10000"/>
                  </a:schemeClr>
                </a:solidFill>
              </a:rPr>
              <a:t>tác</a:t>
            </a:r>
            <a:r>
              <a:rPr lang="en-US" sz="1600" dirty="0">
                <a:solidFill>
                  <a:schemeClr val="tx2">
                    <a:lumMod val="10000"/>
                  </a:schemeClr>
                </a:solidFill>
              </a:rPr>
              <a:t> </a:t>
            </a:r>
            <a:r>
              <a:rPr lang="en-US" sz="1600" dirty="0" err="1">
                <a:solidFill>
                  <a:schemeClr val="tx2">
                    <a:lumMod val="10000"/>
                  </a:schemeClr>
                </a:solidFill>
              </a:rPr>
              <a:t>xã</a:t>
            </a:r>
            <a:r>
              <a:rPr lang="en-US" sz="1600" dirty="0">
                <a:solidFill>
                  <a:schemeClr val="tx2">
                    <a:lumMod val="10000"/>
                  </a:schemeClr>
                </a:solidFill>
              </a:rPr>
              <a:t> </a:t>
            </a:r>
            <a:r>
              <a:rPr lang="en-US" sz="1600" dirty="0" err="1">
                <a:solidFill>
                  <a:schemeClr val="tx2">
                    <a:lumMod val="10000"/>
                  </a:schemeClr>
                </a:solidFill>
              </a:rPr>
              <a:t>hội</a:t>
            </a:r>
            <a:r>
              <a:rPr lang="en-US" sz="1600" dirty="0">
                <a:solidFill>
                  <a:schemeClr val="tx2">
                    <a:lumMod val="10000"/>
                  </a:schemeClr>
                </a:solidFill>
              </a:rPr>
              <a:t>, </a:t>
            </a:r>
            <a:r>
              <a:rPr lang="en-US" sz="1600" dirty="0" err="1">
                <a:solidFill>
                  <a:schemeClr val="tx2">
                    <a:lumMod val="10000"/>
                  </a:schemeClr>
                </a:solidFill>
              </a:rPr>
              <a:t>đóng</a:t>
            </a:r>
            <a:r>
              <a:rPr lang="en-US" sz="1600" dirty="0">
                <a:solidFill>
                  <a:schemeClr val="tx2">
                    <a:lumMod val="10000"/>
                  </a:schemeClr>
                </a:solidFill>
              </a:rPr>
              <a:t> </a:t>
            </a:r>
            <a:r>
              <a:rPr lang="en-US" sz="1600" dirty="0" err="1">
                <a:solidFill>
                  <a:schemeClr val="tx2">
                    <a:lumMod val="10000"/>
                  </a:schemeClr>
                </a:solidFill>
              </a:rPr>
              <a:t>vai</a:t>
            </a:r>
            <a:r>
              <a:rPr lang="en-US" sz="1600" dirty="0">
                <a:solidFill>
                  <a:schemeClr val="tx2">
                    <a:lumMod val="10000"/>
                  </a:schemeClr>
                </a:solidFill>
              </a:rPr>
              <a:t> </a:t>
            </a:r>
            <a:r>
              <a:rPr lang="en-US" sz="1600" dirty="0" err="1">
                <a:solidFill>
                  <a:schemeClr val="tx2">
                    <a:lumMod val="10000"/>
                  </a:schemeClr>
                </a:solidFill>
              </a:rPr>
              <a:t>trò</a:t>
            </a:r>
            <a:r>
              <a:rPr lang="en-US" sz="1600" dirty="0">
                <a:solidFill>
                  <a:schemeClr val="tx2">
                    <a:lumMod val="10000"/>
                  </a:schemeClr>
                </a:solidFill>
              </a:rPr>
              <a:t> </a:t>
            </a:r>
            <a:r>
              <a:rPr lang="en-US" sz="1600" dirty="0" err="1">
                <a:solidFill>
                  <a:schemeClr val="tx2">
                    <a:lumMod val="10000"/>
                  </a:schemeClr>
                </a:solidFill>
              </a:rPr>
              <a:t>như</a:t>
            </a:r>
            <a:r>
              <a:rPr lang="en-US" sz="1600" dirty="0">
                <a:solidFill>
                  <a:schemeClr val="tx2">
                    <a:lumMod val="10000"/>
                  </a:schemeClr>
                </a:solidFill>
              </a:rPr>
              <a:t> </a:t>
            </a:r>
            <a:r>
              <a:rPr lang="en-US" sz="1600" dirty="0" err="1">
                <a:solidFill>
                  <a:schemeClr val="tx2">
                    <a:lumMod val="10000"/>
                  </a:schemeClr>
                </a:solidFill>
              </a:rPr>
              <a:t>tài</a:t>
            </a:r>
            <a:r>
              <a:rPr lang="en-US" sz="1600" dirty="0">
                <a:solidFill>
                  <a:schemeClr val="tx2">
                    <a:lumMod val="10000"/>
                  </a:schemeClr>
                </a:solidFill>
              </a:rPr>
              <a:t> </a:t>
            </a:r>
            <a:r>
              <a:rPr lang="en-US" sz="1600" dirty="0" err="1">
                <a:solidFill>
                  <a:schemeClr val="tx2">
                    <a:lumMod val="10000"/>
                  </a:schemeClr>
                </a:solidFill>
              </a:rPr>
              <a:t>liệu</a:t>
            </a:r>
            <a:r>
              <a:rPr lang="en-US" sz="1600" dirty="0">
                <a:solidFill>
                  <a:schemeClr val="tx2">
                    <a:lumMod val="10000"/>
                  </a:schemeClr>
                </a:solidFill>
              </a:rPr>
              <a:t> </a:t>
            </a:r>
            <a:r>
              <a:rPr lang="en-US" sz="1600" dirty="0" err="1">
                <a:solidFill>
                  <a:schemeClr val="tx2">
                    <a:lumMod val="10000"/>
                  </a:schemeClr>
                </a:solidFill>
              </a:rPr>
              <a:t>pháp</a:t>
            </a:r>
            <a:r>
              <a:rPr lang="en-US" sz="1600" dirty="0">
                <a:solidFill>
                  <a:schemeClr val="tx2">
                    <a:lumMod val="10000"/>
                  </a:schemeClr>
                </a:solidFill>
              </a:rPr>
              <a:t> </a:t>
            </a:r>
            <a:r>
              <a:rPr lang="en-US" sz="1600" dirty="0" err="1">
                <a:solidFill>
                  <a:schemeClr val="tx2">
                    <a:lumMod val="10000"/>
                  </a:schemeClr>
                </a:solidFill>
              </a:rPr>
              <a:t>lý</a:t>
            </a:r>
            <a:r>
              <a:rPr lang="en-US" sz="1600" dirty="0">
                <a:solidFill>
                  <a:schemeClr val="tx2">
                    <a:lumMod val="10000"/>
                  </a:schemeClr>
                </a:solidFill>
              </a:rPr>
              <a:t> </a:t>
            </a:r>
            <a:r>
              <a:rPr lang="en-US" sz="1600" dirty="0" err="1">
                <a:solidFill>
                  <a:schemeClr val="tx2">
                    <a:lumMod val="10000"/>
                  </a:schemeClr>
                </a:solidFill>
              </a:rPr>
              <a:t>bảo</a:t>
            </a:r>
            <a:r>
              <a:rPr lang="en-US" sz="1600" dirty="0">
                <a:solidFill>
                  <a:schemeClr val="tx2">
                    <a:lumMod val="10000"/>
                  </a:schemeClr>
                </a:solidFill>
              </a:rPr>
              <a:t> </a:t>
            </a:r>
            <a:r>
              <a:rPr lang="en-US" sz="1600" dirty="0" err="1">
                <a:solidFill>
                  <a:schemeClr val="tx2">
                    <a:lumMod val="10000"/>
                  </a:schemeClr>
                </a:solidFill>
              </a:rPr>
              <a:t>vệ</a:t>
            </a:r>
            <a:r>
              <a:rPr lang="en-US" sz="1600" dirty="0">
                <a:solidFill>
                  <a:schemeClr val="tx2">
                    <a:lumMod val="10000"/>
                  </a:schemeClr>
                </a:solidFill>
              </a:rPr>
              <a:t> </a:t>
            </a:r>
            <a:r>
              <a:rPr lang="en-US" sz="1600" dirty="0" err="1">
                <a:solidFill>
                  <a:schemeClr val="tx2">
                    <a:lumMod val="10000"/>
                  </a:schemeClr>
                </a:solidFill>
              </a:rPr>
              <a:t>đối</a:t>
            </a:r>
            <a:r>
              <a:rPr lang="en-US" sz="1600" dirty="0">
                <a:solidFill>
                  <a:schemeClr val="tx2">
                    <a:lumMod val="10000"/>
                  </a:schemeClr>
                </a:solidFill>
              </a:rPr>
              <a:t> </a:t>
            </a:r>
            <a:r>
              <a:rPr lang="en-US" sz="1600" dirty="0" err="1">
                <a:solidFill>
                  <a:schemeClr val="tx2">
                    <a:lumMod val="10000"/>
                  </a:schemeClr>
                </a:solidFill>
              </a:rPr>
              <a:t>tượng</a:t>
            </a:r>
            <a:r>
              <a:rPr lang="en-US" sz="1600" dirty="0">
                <a:solidFill>
                  <a:schemeClr val="tx2">
                    <a:lumMod val="10000"/>
                  </a:schemeClr>
                </a:solidFill>
              </a:rPr>
              <a:t>, </a:t>
            </a:r>
            <a:r>
              <a:rPr lang="en-US" sz="1600" dirty="0" err="1">
                <a:solidFill>
                  <a:schemeClr val="tx2">
                    <a:lumMod val="10000"/>
                  </a:schemeClr>
                </a:solidFill>
              </a:rPr>
              <a:t>nhân</a:t>
            </a:r>
            <a:r>
              <a:rPr lang="en-US" sz="1600" dirty="0">
                <a:solidFill>
                  <a:schemeClr val="tx2">
                    <a:lumMod val="10000"/>
                  </a:schemeClr>
                </a:solidFill>
              </a:rPr>
              <a:t> </a:t>
            </a:r>
            <a:r>
              <a:rPr lang="en-US" sz="1600" dirty="0" err="1">
                <a:solidFill>
                  <a:schemeClr val="tx2">
                    <a:lumMod val="10000"/>
                  </a:schemeClr>
                </a:solidFill>
              </a:rPr>
              <a:t>viên</a:t>
            </a:r>
            <a:r>
              <a:rPr lang="en-US" sz="1600" dirty="0">
                <a:solidFill>
                  <a:schemeClr val="tx2">
                    <a:lumMod val="10000"/>
                  </a:schemeClr>
                </a:solidFill>
              </a:rPr>
              <a:t> </a:t>
            </a:r>
            <a:r>
              <a:rPr lang="en-US" sz="1600" dirty="0" err="1">
                <a:solidFill>
                  <a:schemeClr val="tx2">
                    <a:lumMod val="10000"/>
                  </a:schemeClr>
                </a:solidFill>
              </a:rPr>
              <a:t>quản</a:t>
            </a:r>
            <a:r>
              <a:rPr lang="en-US" sz="1600" dirty="0">
                <a:solidFill>
                  <a:schemeClr val="tx2">
                    <a:lumMod val="10000"/>
                  </a:schemeClr>
                </a:solidFill>
              </a:rPr>
              <a:t> </a:t>
            </a:r>
            <a:r>
              <a:rPr lang="en-US" sz="1600" dirty="0" err="1">
                <a:solidFill>
                  <a:schemeClr val="tx2">
                    <a:lumMod val="10000"/>
                  </a:schemeClr>
                </a:solidFill>
              </a:rPr>
              <a:t>lý</a:t>
            </a:r>
            <a:r>
              <a:rPr lang="en-US" sz="1600" dirty="0">
                <a:solidFill>
                  <a:schemeClr val="tx2">
                    <a:lumMod val="10000"/>
                  </a:schemeClr>
                </a:solidFill>
              </a:rPr>
              <a:t> </a:t>
            </a:r>
            <a:r>
              <a:rPr lang="en-US" sz="1600" dirty="0" err="1">
                <a:solidFill>
                  <a:schemeClr val="tx2">
                    <a:lumMod val="10000"/>
                  </a:schemeClr>
                </a:solidFill>
              </a:rPr>
              <a:t>trường</a:t>
            </a:r>
            <a:r>
              <a:rPr lang="en-US" sz="1600" dirty="0">
                <a:solidFill>
                  <a:schemeClr val="tx2">
                    <a:lumMod val="10000"/>
                  </a:schemeClr>
                </a:solidFill>
              </a:rPr>
              <a:t> </a:t>
            </a:r>
            <a:r>
              <a:rPr lang="en-US" sz="1600" dirty="0" err="1">
                <a:solidFill>
                  <a:schemeClr val="tx2">
                    <a:lumMod val="10000"/>
                  </a:schemeClr>
                </a:solidFill>
              </a:rPr>
              <a:t>hợp</a:t>
            </a:r>
            <a:r>
              <a:rPr lang="en-US" sz="1600" dirty="0">
                <a:solidFill>
                  <a:schemeClr val="tx2">
                    <a:lumMod val="10000"/>
                  </a:schemeClr>
                </a:solidFill>
              </a:rPr>
              <a:t> </a:t>
            </a:r>
            <a:r>
              <a:rPr lang="en-US" sz="1600" dirty="0" err="1">
                <a:solidFill>
                  <a:schemeClr val="tx2">
                    <a:lumMod val="10000"/>
                  </a:schemeClr>
                </a:solidFill>
              </a:rPr>
              <a:t>và</a:t>
            </a:r>
            <a:r>
              <a:rPr lang="en-US" sz="1600" dirty="0">
                <a:solidFill>
                  <a:schemeClr val="tx2">
                    <a:lumMod val="10000"/>
                  </a:schemeClr>
                </a:solidFill>
              </a:rPr>
              <a:t> </a:t>
            </a:r>
            <a:r>
              <a:rPr lang="en-US" sz="1600" dirty="0" err="1">
                <a:solidFill>
                  <a:schemeClr val="tx2">
                    <a:lumMod val="10000"/>
                  </a:schemeClr>
                </a:solidFill>
              </a:rPr>
              <a:t>tổ</a:t>
            </a:r>
            <a:r>
              <a:rPr lang="en-US" sz="1600" dirty="0">
                <a:solidFill>
                  <a:schemeClr val="tx2">
                    <a:lumMod val="10000"/>
                  </a:schemeClr>
                </a:solidFill>
              </a:rPr>
              <a:t> </a:t>
            </a:r>
            <a:r>
              <a:rPr lang="en-US" sz="1600" dirty="0" err="1">
                <a:solidFill>
                  <a:schemeClr val="tx2">
                    <a:lumMod val="10000"/>
                  </a:schemeClr>
                </a:solidFill>
              </a:rPr>
              <a:t>chức</a:t>
            </a:r>
            <a:r>
              <a:rPr lang="en-US" sz="1600" dirty="0">
                <a:solidFill>
                  <a:schemeClr val="tx2">
                    <a:lumMod val="10000"/>
                  </a:schemeClr>
                </a:solidFill>
              </a:rPr>
              <a:t>. </a:t>
            </a:r>
            <a:r>
              <a:rPr lang="en-US" sz="1600" dirty="0" err="1">
                <a:solidFill>
                  <a:schemeClr val="tx2">
                    <a:lumMod val="10000"/>
                  </a:schemeClr>
                </a:solidFill>
              </a:rPr>
              <a:t>Hồ</a:t>
            </a:r>
            <a:r>
              <a:rPr lang="en-US" sz="1600" dirty="0">
                <a:solidFill>
                  <a:schemeClr val="tx2">
                    <a:lumMod val="10000"/>
                  </a:schemeClr>
                </a:solidFill>
              </a:rPr>
              <a:t> </a:t>
            </a:r>
            <a:r>
              <a:rPr lang="en-US" sz="1600" dirty="0" err="1">
                <a:solidFill>
                  <a:schemeClr val="tx2">
                    <a:lumMod val="10000"/>
                  </a:schemeClr>
                </a:solidFill>
              </a:rPr>
              <a:t>sơ</a:t>
            </a:r>
            <a:r>
              <a:rPr lang="en-US" sz="1600" dirty="0">
                <a:solidFill>
                  <a:schemeClr val="tx2">
                    <a:lumMod val="10000"/>
                  </a:schemeClr>
                </a:solidFill>
              </a:rPr>
              <a:t> </a:t>
            </a:r>
            <a:r>
              <a:rPr lang="en-US" sz="1600" dirty="0" err="1">
                <a:solidFill>
                  <a:schemeClr val="tx2">
                    <a:lumMod val="10000"/>
                  </a:schemeClr>
                </a:solidFill>
              </a:rPr>
              <a:t>phải</a:t>
            </a:r>
            <a:r>
              <a:rPr lang="en-US" sz="1600" dirty="0">
                <a:solidFill>
                  <a:schemeClr val="tx2">
                    <a:lumMod val="10000"/>
                  </a:schemeClr>
                </a:solidFill>
              </a:rPr>
              <a:t> </a:t>
            </a:r>
            <a:r>
              <a:rPr lang="en-US" sz="1600" dirty="0" err="1">
                <a:solidFill>
                  <a:schemeClr val="tx2">
                    <a:lumMod val="10000"/>
                  </a:schemeClr>
                </a:solidFill>
              </a:rPr>
              <a:t>chính</a:t>
            </a:r>
            <a:r>
              <a:rPr lang="en-US" sz="1600" dirty="0">
                <a:solidFill>
                  <a:schemeClr val="tx2">
                    <a:lumMod val="10000"/>
                  </a:schemeClr>
                </a:solidFill>
              </a:rPr>
              <a:t> </a:t>
            </a:r>
            <a:r>
              <a:rPr lang="en-US" sz="1600" dirty="0" err="1">
                <a:solidFill>
                  <a:schemeClr val="tx2">
                    <a:lumMod val="10000"/>
                  </a:schemeClr>
                </a:solidFill>
              </a:rPr>
              <a:t>xác</a:t>
            </a:r>
            <a:r>
              <a:rPr lang="en-US" sz="1600" dirty="0">
                <a:solidFill>
                  <a:schemeClr val="tx2">
                    <a:lumMod val="10000"/>
                  </a:schemeClr>
                </a:solidFill>
              </a:rPr>
              <a:t>, </a:t>
            </a:r>
            <a:r>
              <a:rPr lang="en-US" sz="1600" dirty="0" err="1">
                <a:solidFill>
                  <a:schemeClr val="tx2">
                    <a:lumMod val="10000"/>
                  </a:schemeClr>
                </a:solidFill>
              </a:rPr>
              <a:t>rõ</a:t>
            </a:r>
            <a:r>
              <a:rPr lang="en-US" sz="1600" dirty="0">
                <a:solidFill>
                  <a:schemeClr val="tx2">
                    <a:lumMod val="10000"/>
                  </a:schemeClr>
                </a:solidFill>
              </a:rPr>
              <a:t> </a:t>
            </a:r>
            <a:r>
              <a:rPr lang="en-US" sz="1600" dirty="0" err="1">
                <a:solidFill>
                  <a:schemeClr val="tx2">
                    <a:lumMod val="10000"/>
                  </a:schemeClr>
                </a:solidFill>
              </a:rPr>
              <a:t>ràng</a:t>
            </a:r>
            <a:r>
              <a:rPr lang="en-US" sz="1600" dirty="0">
                <a:solidFill>
                  <a:schemeClr val="tx2">
                    <a:lumMod val="10000"/>
                  </a:schemeClr>
                </a:solidFill>
              </a:rPr>
              <a:t>, </a:t>
            </a:r>
            <a:r>
              <a:rPr lang="en-US" sz="1600" dirty="0" err="1">
                <a:solidFill>
                  <a:schemeClr val="tx2">
                    <a:lumMod val="10000"/>
                  </a:schemeClr>
                </a:solidFill>
              </a:rPr>
              <a:t>đầy</a:t>
            </a:r>
            <a:r>
              <a:rPr lang="en-US" sz="1600" dirty="0">
                <a:solidFill>
                  <a:schemeClr val="tx2">
                    <a:lumMod val="10000"/>
                  </a:schemeClr>
                </a:solidFill>
              </a:rPr>
              <a:t> </a:t>
            </a:r>
            <a:r>
              <a:rPr lang="en-US" sz="1600" dirty="0" err="1">
                <a:solidFill>
                  <a:schemeClr val="tx2">
                    <a:lumMod val="10000"/>
                  </a:schemeClr>
                </a:solidFill>
              </a:rPr>
              <a:t>đủ</a:t>
            </a:r>
            <a:r>
              <a:rPr lang="en-US" sz="1600" dirty="0">
                <a:solidFill>
                  <a:schemeClr val="tx2">
                    <a:lumMod val="10000"/>
                  </a:schemeClr>
                </a:solidFill>
              </a:rPr>
              <a:t>, </a:t>
            </a:r>
            <a:r>
              <a:rPr lang="en-US" sz="1600" dirty="0" err="1">
                <a:solidFill>
                  <a:schemeClr val="tx2">
                    <a:lumMod val="10000"/>
                  </a:schemeClr>
                </a:solidFill>
              </a:rPr>
              <a:t>được</a:t>
            </a:r>
            <a:r>
              <a:rPr lang="en-US" sz="1600" dirty="0">
                <a:solidFill>
                  <a:schemeClr val="tx2">
                    <a:lumMod val="10000"/>
                  </a:schemeClr>
                </a:solidFill>
              </a:rPr>
              <a:t> </a:t>
            </a:r>
            <a:r>
              <a:rPr lang="en-US" sz="1600" dirty="0" err="1">
                <a:solidFill>
                  <a:schemeClr val="tx2">
                    <a:lumMod val="10000"/>
                  </a:schemeClr>
                </a:solidFill>
              </a:rPr>
              <a:t>lưu</a:t>
            </a:r>
            <a:r>
              <a:rPr lang="en-US" sz="1600" dirty="0">
                <a:solidFill>
                  <a:schemeClr val="tx2">
                    <a:lumMod val="10000"/>
                  </a:schemeClr>
                </a:solidFill>
              </a:rPr>
              <a:t> </a:t>
            </a:r>
            <a:r>
              <a:rPr lang="en-US" sz="1600" dirty="0" err="1">
                <a:solidFill>
                  <a:schemeClr val="tx2">
                    <a:lumMod val="10000"/>
                  </a:schemeClr>
                </a:solidFill>
              </a:rPr>
              <a:t>trữ</a:t>
            </a:r>
            <a:r>
              <a:rPr lang="en-US" sz="1600" dirty="0">
                <a:solidFill>
                  <a:schemeClr val="tx2">
                    <a:lumMod val="10000"/>
                  </a:schemeClr>
                </a:solidFill>
              </a:rPr>
              <a:t> </a:t>
            </a:r>
            <a:r>
              <a:rPr lang="en-US" sz="1600" dirty="0" err="1">
                <a:solidFill>
                  <a:schemeClr val="tx2">
                    <a:lumMod val="10000"/>
                  </a:schemeClr>
                </a:solidFill>
              </a:rPr>
              <a:t>phù</a:t>
            </a:r>
            <a:r>
              <a:rPr lang="en-US" sz="1600" dirty="0">
                <a:solidFill>
                  <a:schemeClr val="tx2">
                    <a:lumMod val="10000"/>
                  </a:schemeClr>
                </a:solidFill>
              </a:rPr>
              <a:t> </a:t>
            </a:r>
            <a:r>
              <a:rPr lang="en-US" sz="1600" dirty="0" err="1">
                <a:solidFill>
                  <a:schemeClr val="tx2">
                    <a:lumMod val="10000"/>
                  </a:schemeClr>
                </a:solidFill>
              </a:rPr>
              <a:t>hợp</a:t>
            </a:r>
            <a:r>
              <a:rPr lang="en-US" sz="1600" dirty="0">
                <a:solidFill>
                  <a:schemeClr val="tx2">
                    <a:lumMod val="10000"/>
                  </a:schemeClr>
                </a:solidFill>
              </a:rPr>
              <a:t>, </a:t>
            </a:r>
            <a:r>
              <a:rPr lang="en-US" sz="1600" dirty="0" err="1">
                <a:solidFill>
                  <a:schemeClr val="tx2">
                    <a:lumMod val="10000"/>
                  </a:schemeClr>
                </a:solidFill>
              </a:rPr>
              <a:t>tạo</a:t>
            </a:r>
            <a:r>
              <a:rPr lang="en-US" sz="1600" dirty="0">
                <a:solidFill>
                  <a:schemeClr val="tx2">
                    <a:lumMod val="10000"/>
                  </a:schemeClr>
                </a:solidFill>
              </a:rPr>
              <a:t> </a:t>
            </a:r>
            <a:r>
              <a:rPr lang="en-US" sz="1600" dirty="0" err="1">
                <a:solidFill>
                  <a:schemeClr val="tx2">
                    <a:lumMod val="10000"/>
                  </a:schemeClr>
                </a:solidFill>
              </a:rPr>
              <a:t>điều</a:t>
            </a:r>
            <a:r>
              <a:rPr lang="en-US" sz="1600" dirty="0">
                <a:solidFill>
                  <a:schemeClr val="tx2">
                    <a:lumMod val="10000"/>
                  </a:schemeClr>
                </a:solidFill>
              </a:rPr>
              <a:t> </a:t>
            </a:r>
            <a:r>
              <a:rPr lang="en-US" sz="1600" dirty="0" err="1">
                <a:solidFill>
                  <a:schemeClr val="tx2">
                    <a:lumMod val="10000"/>
                  </a:schemeClr>
                </a:solidFill>
              </a:rPr>
              <a:t>kiện</a:t>
            </a:r>
            <a:r>
              <a:rPr lang="en-US" sz="1600" dirty="0">
                <a:solidFill>
                  <a:schemeClr val="tx2">
                    <a:lumMod val="10000"/>
                  </a:schemeClr>
                </a:solidFill>
              </a:rPr>
              <a:t> </a:t>
            </a:r>
            <a:r>
              <a:rPr lang="en-US" sz="1600" dirty="0" err="1">
                <a:solidFill>
                  <a:schemeClr val="tx2">
                    <a:lumMod val="10000"/>
                  </a:schemeClr>
                </a:solidFill>
              </a:rPr>
              <a:t>cho</a:t>
            </a:r>
            <a:r>
              <a:rPr lang="en-US" sz="1600" dirty="0">
                <a:solidFill>
                  <a:schemeClr val="tx2">
                    <a:lumMod val="10000"/>
                  </a:schemeClr>
                </a:solidFill>
              </a:rPr>
              <a:t> </a:t>
            </a:r>
            <a:r>
              <a:rPr lang="en-US" sz="1600" dirty="0" err="1">
                <a:solidFill>
                  <a:schemeClr val="tx2">
                    <a:lumMod val="10000"/>
                  </a:schemeClr>
                </a:solidFill>
              </a:rPr>
              <a:t>việc</a:t>
            </a:r>
            <a:r>
              <a:rPr lang="en-US" sz="1600" dirty="0">
                <a:solidFill>
                  <a:schemeClr val="tx2">
                    <a:lumMod val="10000"/>
                  </a:schemeClr>
                </a:solidFill>
              </a:rPr>
              <a:t> </a:t>
            </a:r>
            <a:r>
              <a:rPr lang="en-US" sz="1600" dirty="0" err="1">
                <a:solidFill>
                  <a:schemeClr val="tx2">
                    <a:lumMod val="10000"/>
                  </a:schemeClr>
                </a:solidFill>
              </a:rPr>
              <a:t>lập</a:t>
            </a:r>
            <a:r>
              <a:rPr lang="en-US" sz="1600" dirty="0">
                <a:solidFill>
                  <a:schemeClr val="tx2">
                    <a:lumMod val="10000"/>
                  </a:schemeClr>
                </a:solidFill>
              </a:rPr>
              <a:t> </a:t>
            </a:r>
            <a:r>
              <a:rPr lang="en-US" sz="1600" dirty="0" err="1">
                <a:solidFill>
                  <a:schemeClr val="tx2">
                    <a:lumMod val="10000"/>
                  </a:schemeClr>
                </a:solidFill>
              </a:rPr>
              <a:t>kế</a:t>
            </a:r>
            <a:r>
              <a:rPr lang="en-US" sz="1600" dirty="0">
                <a:solidFill>
                  <a:schemeClr val="tx2">
                    <a:lumMod val="10000"/>
                  </a:schemeClr>
                </a:solidFill>
              </a:rPr>
              <a:t> </a:t>
            </a:r>
            <a:r>
              <a:rPr lang="en-US" sz="1600" dirty="0" err="1">
                <a:solidFill>
                  <a:schemeClr val="tx2">
                    <a:lumMod val="10000"/>
                  </a:schemeClr>
                </a:solidFill>
              </a:rPr>
              <a:t>hoạch</a:t>
            </a:r>
            <a:r>
              <a:rPr lang="en-US" sz="1600" dirty="0">
                <a:solidFill>
                  <a:schemeClr val="tx2">
                    <a:lumMod val="10000"/>
                  </a:schemeClr>
                </a:solidFill>
              </a:rPr>
              <a:t> </a:t>
            </a:r>
            <a:r>
              <a:rPr lang="en-US" sz="1600" dirty="0" err="1">
                <a:solidFill>
                  <a:schemeClr val="tx2">
                    <a:lumMod val="10000"/>
                  </a:schemeClr>
                </a:solidFill>
              </a:rPr>
              <a:t>và</a:t>
            </a:r>
            <a:r>
              <a:rPr lang="en-US" sz="1600" dirty="0">
                <a:solidFill>
                  <a:schemeClr val="tx2">
                    <a:lumMod val="10000"/>
                  </a:schemeClr>
                </a:solidFill>
              </a:rPr>
              <a:t> </a:t>
            </a:r>
            <a:r>
              <a:rPr lang="en-US" sz="1600" dirty="0" err="1">
                <a:solidFill>
                  <a:schemeClr val="tx2">
                    <a:lumMod val="10000"/>
                  </a:schemeClr>
                </a:solidFill>
              </a:rPr>
              <a:t>đánh</a:t>
            </a:r>
            <a:r>
              <a:rPr lang="en-US" sz="1600" dirty="0">
                <a:solidFill>
                  <a:schemeClr val="tx2">
                    <a:lumMod val="10000"/>
                  </a:schemeClr>
                </a:solidFill>
              </a:rPr>
              <a:t> </a:t>
            </a:r>
            <a:r>
              <a:rPr lang="en-US" sz="1600" dirty="0" err="1">
                <a:solidFill>
                  <a:schemeClr val="tx2">
                    <a:lumMod val="10000"/>
                  </a:schemeClr>
                </a:solidFill>
              </a:rPr>
              <a:t>giá</a:t>
            </a:r>
            <a:r>
              <a:rPr lang="en-US" sz="1600" dirty="0">
                <a:solidFill>
                  <a:schemeClr val="tx2">
                    <a:lumMod val="10000"/>
                  </a:schemeClr>
                </a:solidFill>
              </a:rPr>
              <a:t> </a:t>
            </a:r>
            <a:r>
              <a:rPr lang="en-US" sz="1600" dirty="0" err="1">
                <a:solidFill>
                  <a:schemeClr val="tx2">
                    <a:lumMod val="10000"/>
                  </a:schemeClr>
                </a:solidFill>
              </a:rPr>
              <a:t>dịch</a:t>
            </a:r>
            <a:r>
              <a:rPr lang="en-US" sz="1600" dirty="0">
                <a:solidFill>
                  <a:schemeClr val="tx2">
                    <a:lumMod val="10000"/>
                  </a:schemeClr>
                </a:solidFill>
              </a:rPr>
              <a:t> </a:t>
            </a:r>
            <a:r>
              <a:rPr lang="en-US" sz="1600" dirty="0" err="1">
                <a:solidFill>
                  <a:schemeClr val="tx2">
                    <a:lumMod val="10000"/>
                  </a:schemeClr>
                </a:solidFill>
              </a:rPr>
              <a:t>vụ</a:t>
            </a:r>
            <a:r>
              <a:rPr lang="en-US" sz="1600" dirty="0">
                <a:solidFill>
                  <a:schemeClr val="tx2">
                    <a:lumMod val="10000"/>
                  </a:schemeClr>
                </a:solidFill>
              </a:rPr>
              <a:t> </a:t>
            </a:r>
            <a:r>
              <a:rPr lang="en-US" sz="1600" dirty="0" err="1">
                <a:solidFill>
                  <a:schemeClr val="tx2">
                    <a:lumMod val="10000"/>
                  </a:schemeClr>
                </a:solidFill>
              </a:rPr>
              <a:t>được</a:t>
            </a:r>
            <a:r>
              <a:rPr lang="en-US" sz="1600" dirty="0">
                <a:solidFill>
                  <a:schemeClr val="tx2">
                    <a:lumMod val="10000"/>
                  </a:schemeClr>
                </a:solidFill>
              </a:rPr>
              <a:t> </a:t>
            </a:r>
            <a:r>
              <a:rPr lang="en-US" sz="1600" dirty="0" err="1">
                <a:solidFill>
                  <a:schemeClr val="tx2">
                    <a:lumMod val="10000"/>
                  </a:schemeClr>
                </a:solidFill>
              </a:rPr>
              <a:t>thực</a:t>
            </a:r>
            <a:r>
              <a:rPr lang="en-US" sz="1600" dirty="0">
                <a:solidFill>
                  <a:schemeClr val="tx2">
                    <a:lumMod val="10000"/>
                  </a:schemeClr>
                </a:solidFill>
              </a:rPr>
              <a:t> </a:t>
            </a:r>
            <a:r>
              <a:rPr lang="en-US" sz="1600" dirty="0" err="1">
                <a:solidFill>
                  <a:schemeClr val="tx2">
                    <a:lumMod val="10000"/>
                  </a:schemeClr>
                </a:solidFill>
              </a:rPr>
              <a:t>hiện</a:t>
            </a:r>
            <a:r>
              <a:rPr lang="en-US" sz="1600" dirty="0">
                <a:solidFill>
                  <a:schemeClr val="tx2">
                    <a:lumMod val="10000"/>
                  </a:schemeClr>
                </a:solidFill>
              </a:rPr>
              <a:t> </a:t>
            </a:r>
            <a:r>
              <a:rPr lang="en-US" sz="1600" dirty="0" err="1">
                <a:solidFill>
                  <a:schemeClr val="tx2">
                    <a:lumMod val="10000"/>
                  </a:schemeClr>
                </a:solidFill>
              </a:rPr>
              <a:t>hiệu</a:t>
            </a:r>
            <a:r>
              <a:rPr lang="en-US" sz="1600" dirty="0">
                <a:solidFill>
                  <a:schemeClr val="tx2">
                    <a:lumMod val="10000"/>
                  </a:schemeClr>
                </a:solidFill>
              </a:rPr>
              <a:t> </a:t>
            </a:r>
            <a:r>
              <a:rPr lang="en-US" sz="1600" dirty="0" err="1">
                <a:solidFill>
                  <a:schemeClr val="tx2">
                    <a:lumMod val="10000"/>
                  </a:schemeClr>
                </a:solidFill>
              </a:rPr>
              <a:t>quả</a:t>
            </a:r>
            <a:r>
              <a:rPr lang="en-US" sz="1600" dirty="0">
                <a:solidFill>
                  <a:schemeClr val="tx2">
                    <a:lumMod val="10000"/>
                  </a:schemeClr>
                </a:solidFill>
              </a:rPr>
              <a:t> </a:t>
            </a:r>
            <a:endParaRPr lang="en-VN" sz="1600" dirty="0">
              <a:solidFill>
                <a:schemeClr val="tx2">
                  <a:lumMod val="10000"/>
                </a:schemeClr>
              </a:solidFill>
            </a:endParaRPr>
          </a:p>
        </p:txBody>
      </p:sp>
    </p:spTree>
    <p:extLst>
      <p:ext uri="{BB962C8B-B14F-4D97-AF65-F5344CB8AC3E}">
        <p14:creationId xmlns:p14="http://schemas.microsoft.com/office/powerpoint/2010/main" val="2983081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DCEB2-FD45-61F6-BC0C-A8F7C8C526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B912AA-8B17-3C38-4CFC-5996B69FDED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51</a:t>
            </a:fld>
            <a:endParaRPr lang="en" dirty="0"/>
          </a:p>
        </p:txBody>
      </p:sp>
      <p:sp>
        <p:nvSpPr>
          <p:cNvPr id="3" name="Title 2">
            <a:extLst>
              <a:ext uri="{FF2B5EF4-FFF2-40B4-BE49-F238E27FC236}">
                <a16:creationId xmlns:a16="http://schemas.microsoft.com/office/drawing/2014/main" id="{A931A235-104B-B4B2-0288-84CD04B0A93C}"/>
              </a:ext>
            </a:extLst>
          </p:cNvPr>
          <p:cNvSpPr>
            <a:spLocks noGrp="1"/>
          </p:cNvSpPr>
          <p:nvPr>
            <p:ph type="title"/>
          </p:nvPr>
        </p:nvSpPr>
        <p:spPr/>
        <p:txBody>
          <a:bodyPr/>
          <a:lstStyle/>
          <a:p>
            <a:r>
              <a:rPr lang="en-VN" dirty="0">
                <a:solidFill>
                  <a:schemeClr val="bg1">
                    <a:lumMod val="10000"/>
                  </a:schemeClr>
                </a:solidFill>
                <a:latin typeface="+mn-lt"/>
              </a:rPr>
              <a:t>Khái niệm</a:t>
            </a:r>
          </a:p>
        </p:txBody>
      </p:sp>
      <p:sp>
        <p:nvSpPr>
          <p:cNvPr id="5" name="TextBox 4">
            <a:extLst>
              <a:ext uri="{FF2B5EF4-FFF2-40B4-BE49-F238E27FC236}">
                <a16:creationId xmlns:a16="http://schemas.microsoft.com/office/drawing/2014/main" id="{EAD2FA9C-16AD-6F92-0F39-BD424419F658}"/>
              </a:ext>
            </a:extLst>
          </p:cNvPr>
          <p:cNvSpPr txBox="1"/>
          <p:nvPr/>
        </p:nvSpPr>
        <p:spPr>
          <a:xfrm>
            <a:off x="2075688" y="1125200"/>
            <a:ext cx="5879592" cy="3416320"/>
          </a:xfrm>
          <a:prstGeom prst="rect">
            <a:avLst/>
          </a:prstGeom>
          <a:noFill/>
        </p:spPr>
        <p:txBody>
          <a:bodyPr wrap="square">
            <a:spAutoFit/>
          </a:bodyPr>
          <a:lstStyle/>
          <a:p>
            <a:pPr>
              <a:buNone/>
            </a:pPr>
            <a:r>
              <a:rPr lang="en-VN" sz="1800" dirty="0"/>
              <a:t>Kỹ năng ghi chép và lưu trữ hồ sơ trong quản lý trường hợp là năng lực chuyên môn giúp nhân viên công tác xã hội:</a:t>
            </a:r>
          </a:p>
          <a:p>
            <a:pPr marL="285750" indent="-285750">
              <a:buFont typeface="System Font Regular"/>
              <a:buChar char="-"/>
            </a:pPr>
            <a:r>
              <a:rPr lang="en-VN" sz="1800" dirty="0"/>
              <a:t>Thu thập, ghi nhận, hệ thống hóa và lưu trữ thông tin về đối tượng và quá trình can thiệp.</a:t>
            </a:r>
          </a:p>
          <a:p>
            <a:pPr marL="285750" indent="-285750">
              <a:buFont typeface="System Font Regular"/>
              <a:buChar char="-"/>
            </a:pPr>
            <a:r>
              <a:rPr lang="en-VN" sz="1800" dirty="0"/>
              <a:t>Bảo đảm hồ sơ được thực hiện chính xác, rõ ràng, kịp thời và có hệ thống.</a:t>
            </a:r>
          </a:p>
          <a:p>
            <a:pPr marL="285750" indent="-285750">
              <a:buFont typeface="System Font Regular"/>
              <a:buChar char="-"/>
            </a:pPr>
            <a:r>
              <a:rPr lang="en-VN" sz="1800" dirty="0"/>
              <a:t>Hỗ trợ tính liên tục trong chăm sóc và phối hợp liên ngành.</a:t>
            </a:r>
          </a:p>
          <a:p>
            <a:pPr marL="285750" indent="-285750">
              <a:buFont typeface="System Font Regular"/>
              <a:buChar char="-"/>
            </a:pPr>
            <a:r>
              <a:rPr lang="en-VN" sz="1800" dirty="0"/>
              <a:t>Phục vụ đánh giá hiệu quả dịch vụ.</a:t>
            </a:r>
          </a:p>
          <a:p>
            <a:pPr marL="285750" indent="-285750">
              <a:buFont typeface="System Font Regular"/>
              <a:buChar char="-"/>
            </a:pPr>
            <a:r>
              <a:rPr lang="en-VN" sz="1800" dirty="0"/>
              <a:t>Đáp ứng yêu cầu pháp lý, đạo đức nghề nghiệp và bảo mật thông tin của đối tượng.</a:t>
            </a:r>
          </a:p>
        </p:txBody>
      </p:sp>
    </p:spTree>
    <p:extLst>
      <p:ext uri="{BB962C8B-B14F-4D97-AF65-F5344CB8AC3E}">
        <p14:creationId xmlns:p14="http://schemas.microsoft.com/office/powerpoint/2010/main" val="39774446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52</a:t>
            </a:fld>
            <a:endParaRPr lang="en"/>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dirty="0">
                <a:latin typeface="Arial" panose="020B0604020202020204" pitchFamily="34" charset="0"/>
                <a:cs typeface="Arial" panose="020B0604020202020204" pitchFamily="34" charset="0"/>
              </a:rPr>
              <a:t>Ý nghĩa và nguyên tắc thực hiện</a:t>
            </a:r>
          </a:p>
        </p:txBody>
      </p:sp>
      <p:sp>
        <p:nvSpPr>
          <p:cNvPr id="6" name="Text Placeholder 5">
            <a:extLst>
              <a:ext uri="{FF2B5EF4-FFF2-40B4-BE49-F238E27FC236}">
                <a16:creationId xmlns:a16="http://schemas.microsoft.com/office/drawing/2014/main" id="{BF985CC5-6762-673F-206A-4E65C92CBF52}"/>
              </a:ext>
            </a:extLst>
          </p:cNvPr>
          <p:cNvSpPr>
            <a:spLocks noGrp="1"/>
          </p:cNvSpPr>
          <p:nvPr>
            <p:ph type="body" idx="1"/>
          </p:nvPr>
        </p:nvSpPr>
        <p:spPr/>
        <p:txBody>
          <a:bodyPr/>
          <a:lstStyle/>
          <a:p>
            <a:pPr marL="177800" indent="0">
              <a:buNone/>
            </a:pPr>
            <a:r>
              <a:rPr lang="en-VN" sz="1600" b="1" dirty="0">
                <a:latin typeface="+mn-lt"/>
              </a:rPr>
              <a:t>Ý nghĩa của kỹ năng ghi chép và lưu trữ hồ sơ</a:t>
            </a:r>
          </a:p>
          <a:p>
            <a:pPr marL="177800" indent="0">
              <a:buNone/>
            </a:pPr>
            <a:endParaRPr lang="en-VN" sz="1600" b="1" dirty="0">
              <a:latin typeface="+mn-lt"/>
            </a:endParaRPr>
          </a:p>
          <a:p>
            <a:r>
              <a:rPr lang="en-VN" sz="1600" dirty="0">
                <a:latin typeface="+mn-lt"/>
              </a:rPr>
              <a:t>Bảo đảm tính liên tục và nhất quán trong hỗ trợ đối tượng.</a:t>
            </a:r>
          </a:p>
          <a:p>
            <a:r>
              <a:rPr lang="en-VN" sz="1600" dirty="0">
                <a:latin typeface="+mn-lt"/>
              </a:rPr>
              <a:t>Hỗ trợ phối hợp hiệu quả giữa các chuyên ngành.</a:t>
            </a:r>
          </a:p>
          <a:p>
            <a:r>
              <a:rPr lang="en-VN" sz="1600" dirty="0">
                <a:latin typeface="+mn-lt"/>
              </a:rPr>
              <a:t>Là cơ sở cho đánh giá, lập kế hoạch và ra quyết định chuyên môn.</a:t>
            </a:r>
          </a:p>
          <a:p>
            <a:r>
              <a:rPr lang="en-VN" sz="1600" dirty="0">
                <a:latin typeface="+mn-lt"/>
              </a:rPr>
              <a:t>Giúp theo dõi tiến trình và lượng giá hiệu quả can thiệp.</a:t>
            </a:r>
          </a:p>
          <a:p>
            <a:r>
              <a:rPr lang="en-VN" sz="1600" dirty="0">
                <a:latin typeface="+mn-lt"/>
              </a:rPr>
              <a:t>Thể hiện tính chuyên nghiệp, trách nhiệm và đạo đức nghề nghiệp.</a:t>
            </a:r>
          </a:p>
          <a:p>
            <a:r>
              <a:rPr lang="en-VN" sz="1600" dirty="0">
                <a:latin typeface="+mn-lt"/>
              </a:rPr>
              <a:t>Có giá trị pháp lý trong giám sát, kiểm tra và giải trình.</a:t>
            </a:r>
          </a:p>
          <a:p>
            <a:r>
              <a:rPr lang="en-VN" sz="1600" dirty="0">
                <a:latin typeface="+mn-lt"/>
              </a:rPr>
              <a:t>Hỗ trợ quản lý chất lượng dịch vụ, nghiên cứu và xây dựng chính sách.</a:t>
            </a:r>
          </a:p>
          <a:p>
            <a:r>
              <a:rPr lang="en-VN" sz="1600" dirty="0">
                <a:latin typeface="+mn-lt"/>
              </a:rPr>
              <a:t>Bảo vệ quyền riêng tư và bảo mật thông tin của đối tượng.</a:t>
            </a:r>
          </a:p>
          <a:p>
            <a:pPr marL="177800" indent="0">
              <a:buNone/>
            </a:pPr>
            <a:endParaRPr lang="en-VN" sz="1600" dirty="0">
              <a:solidFill>
                <a:schemeClr val="bg1">
                  <a:lumMod val="10000"/>
                </a:schemeClr>
              </a:solidFill>
              <a:latin typeface="+mn-lt"/>
              <a:cs typeface="Arial" panose="020B0604020202020204" pitchFamily="34" charset="0"/>
            </a:endParaRPr>
          </a:p>
          <a:p>
            <a:pPr marL="177800" indent="0">
              <a:buNone/>
            </a:pPr>
            <a:endParaRPr lang="en-VN" sz="1600" dirty="0">
              <a:solidFill>
                <a:schemeClr val="bg1">
                  <a:lumMod val="10000"/>
                </a:schemeClr>
              </a:solidFill>
              <a:latin typeface="Arial" panose="020B0604020202020204" pitchFamily="34" charset="0"/>
              <a:cs typeface="Arial" panose="020B0604020202020204" pitchFamily="34" charset="0"/>
            </a:endParaRPr>
          </a:p>
          <a:p>
            <a:endParaRPr lang="en-VN" sz="16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4587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EE70D-B655-5C69-D2AA-7437D3A2BF2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800" smtClean="0">
                <a:solidFill>
                  <a:schemeClr val="bg1">
                    <a:lumMod val="10000"/>
                  </a:schemeClr>
                </a:solidFill>
                <a:latin typeface="Arial" panose="020B0604020202020204" pitchFamily="34" charset="0"/>
                <a:cs typeface="Arial" panose="020B0604020202020204" pitchFamily="34" charset="0"/>
              </a:rPr>
              <a:t>53</a:t>
            </a:fld>
            <a:endParaRPr lang="en" sz="1800">
              <a:solidFill>
                <a:schemeClr val="bg1">
                  <a:lumMod val="10000"/>
                </a:schemeClr>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3319476E-3656-ACA5-96AC-EF1D36AA31B6}"/>
              </a:ext>
            </a:extLst>
          </p:cNvPr>
          <p:cNvSpPr>
            <a:spLocks noGrp="1"/>
          </p:cNvSpPr>
          <p:nvPr>
            <p:ph type="title"/>
          </p:nvPr>
        </p:nvSpPr>
        <p:spPr/>
        <p:txBody>
          <a:bodyPr/>
          <a:lstStyle/>
          <a:p>
            <a:r>
              <a:rPr lang="en-VN" sz="2400" dirty="0">
                <a:solidFill>
                  <a:schemeClr val="bg1">
                    <a:lumMod val="10000"/>
                  </a:schemeClr>
                </a:solidFill>
                <a:latin typeface="Arial" panose="020B0604020202020204" pitchFamily="34" charset="0"/>
                <a:cs typeface="Arial" panose="020B0604020202020204" pitchFamily="34" charset="0"/>
              </a:rPr>
              <a:t>Ý nghĩa và nguyên tắc thực hiện</a:t>
            </a:r>
          </a:p>
        </p:txBody>
      </p:sp>
      <p:sp>
        <p:nvSpPr>
          <p:cNvPr id="6" name="Text Placeholder 5">
            <a:extLst>
              <a:ext uri="{FF2B5EF4-FFF2-40B4-BE49-F238E27FC236}">
                <a16:creationId xmlns:a16="http://schemas.microsoft.com/office/drawing/2014/main" id="{BF985CC5-6762-673F-206A-4E65C92CBF52}"/>
              </a:ext>
            </a:extLst>
          </p:cNvPr>
          <p:cNvSpPr>
            <a:spLocks noGrp="1"/>
          </p:cNvSpPr>
          <p:nvPr>
            <p:ph type="body" idx="1"/>
          </p:nvPr>
        </p:nvSpPr>
        <p:spPr>
          <a:xfrm>
            <a:off x="502921" y="1068937"/>
            <a:ext cx="7921079" cy="3482725"/>
          </a:xfrm>
        </p:spPr>
        <p:txBody>
          <a:bodyPr/>
          <a:lstStyle/>
          <a:p>
            <a:pPr marL="177800" lvl="0" indent="0">
              <a:buNone/>
            </a:pPr>
            <a:r>
              <a:rPr lang="en-VN" sz="1800" b="1" dirty="0">
                <a:latin typeface="+mn-lt"/>
              </a:rPr>
              <a:t>Nguyên tắc thực hiện</a:t>
            </a:r>
          </a:p>
          <a:p>
            <a:pPr lvl="0"/>
            <a:r>
              <a:rPr lang="en-VN" sz="1800" b="1" dirty="0">
                <a:latin typeface="+mn-lt"/>
              </a:rPr>
              <a:t>Đầy đủ và có trọng tâm</a:t>
            </a:r>
            <a:br>
              <a:rPr lang="en-VN" sz="1800" dirty="0">
                <a:latin typeface="+mn-lt"/>
              </a:rPr>
            </a:br>
            <a:r>
              <a:rPr lang="en-VN" sz="1800" dirty="0">
                <a:latin typeface="+mn-lt"/>
              </a:rPr>
              <a:t>Ghi nhận đầy đủ thông tin quan trọng liên quan đến đối tượng, quá trình hỗ trợ và kết quả can thiệp, nhưng cần chọn lọc thông tin có giá trị chuyên môn.</a:t>
            </a:r>
          </a:p>
          <a:p>
            <a:pPr lvl="0"/>
            <a:r>
              <a:rPr lang="en-VN" sz="1800" b="1" dirty="0">
                <a:latin typeface="+mn-lt"/>
              </a:rPr>
              <a:t>Chính xác và khách quan</a:t>
            </a:r>
            <a:br>
              <a:rPr lang="en-VN" sz="1800" dirty="0">
                <a:latin typeface="+mn-lt"/>
              </a:rPr>
            </a:br>
            <a:r>
              <a:rPr lang="en-VN" sz="1800" dirty="0">
                <a:latin typeface="+mn-lt"/>
              </a:rPr>
              <a:t>Ghi chép trung thực, rõ ràng, tránh suy diễn hoặc phán xét chủ quan; phân biệt giữa dữ liệu thực tế và nhận định chuyên môn.</a:t>
            </a:r>
          </a:p>
          <a:p>
            <a:pPr lvl="0"/>
            <a:r>
              <a:rPr lang="en-VN" sz="1800" b="1" dirty="0">
                <a:latin typeface="+mn-lt"/>
              </a:rPr>
              <a:t>Kịp thời và liên tục</a:t>
            </a:r>
            <a:br>
              <a:rPr lang="en-VN" sz="1800" dirty="0">
                <a:latin typeface="+mn-lt"/>
              </a:rPr>
            </a:br>
            <a:r>
              <a:rPr lang="en-VN" sz="1800" dirty="0">
                <a:latin typeface="+mn-lt"/>
              </a:rPr>
              <a:t>Thực hiện ghi chép ngay sau hoạt động chuyên môn và cập nhật thường xuyên để bảo đảm tính chính xác và liên tục của hồ sơ.</a:t>
            </a:r>
          </a:p>
          <a:p>
            <a:pPr marL="177800" indent="0">
              <a:buNone/>
            </a:pPr>
            <a:endParaRPr lang="en-VN" sz="1800" dirty="0">
              <a:solidFill>
                <a:schemeClr val="bg1">
                  <a:lumMod val="10000"/>
                </a:schemeClr>
              </a:solidFill>
              <a:latin typeface="Arial" panose="020B0604020202020204" pitchFamily="34" charset="0"/>
              <a:cs typeface="Arial" panose="020B0604020202020204" pitchFamily="34" charset="0"/>
            </a:endParaRPr>
          </a:p>
          <a:p>
            <a:endParaRPr lang="pt-BR" sz="1800" dirty="0">
              <a:solidFill>
                <a:schemeClr val="bg1">
                  <a:lumMod val="10000"/>
                </a:schemeClr>
              </a:solidFill>
              <a:latin typeface="Arial" panose="020B0604020202020204" pitchFamily="34" charset="0"/>
              <a:cs typeface="Arial" panose="020B0604020202020204" pitchFamily="34" charset="0"/>
            </a:endParaRPr>
          </a:p>
          <a:p>
            <a:endParaRPr lang="pt-BR" sz="1800" dirty="0">
              <a:solidFill>
                <a:schemeClr val="bg1">
                  <a:lumMod val="10000"/>
                </a:schemeClr>
              </a:solidFill>
              <a:latin typeface="Arial" panose="020B0604020202020204" pitchFamily="34" charset="0"/>
              <a:cs typeface="Arial" panose="020B0604020202020204" pitchFamily="34" charset="0"/>
            </a:endParaRPr>
          </a:p>
          <a:p>
            <a:pPr marL="177800" indent="0">
              <a:buNone/>
            </a:pPr>
            <a:r>
              <a:rPr lang="pt-BR" sz="1800" dirty="0">
                <a:solidFill>
                  <a:schemeClr val="bg1">
                    <a:lumMod val="10000"/>
                  </a:schemeClr>
                </a:solidFill>
                <a:latin typeface="Arial" panose="020B0604020202020204" pitchFamily="34" charset="0"/>
                <a:cs typeface="Arial" panose="020B0604020202020204" pitchFamily="34" charset="0"/>
              </a:rPr>
              <a:t> </a:t>
            </a:r>
            <a:endParaRPr lang="en-VN" sz="1800" dirty="0">
              <a:solidFill>
                <a:schemeClr val="bg1">
                  <a:lumMod val="10000"/>
                </a:schemeClr>
              </a:solidFill>
              <a:latin typeface="Arial" panose="020B0604020202020204" pitchFamily="34" charset="0"/>
              <a:cs typeface="Arial" panose="020B0604020202020204" pitchFamily="34" charset="0"/>
            </a:endParaRPr>
          </a:p>
          <a:p>
            <a:endParaRPr lang="en-VN" sz="1800" dirty="0">
              <a:solidFill>
                <a:schemeClr val="bg1">
                  <a:lumMod val="10000"/>
                </a:schemeClr>
              </a:solidFill>
              <a:latin typeface="Arial" panose="020B0604020202020204" pitchFamily="34" charset="0"/>
              <a:cs typeface="Arial" panose="020B0604020202020204" pitchFamily="34" charset="0"/>
            </a:endParaRPr>
          </a:p>
          <a:p>
            <a:endParaRPr lang="en-VN" sz="18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7099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9B089-2B6B-5B40-5C21-D6BA99AECC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368165-798A-560A-87F6-B6D15F7180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800" smtClean="0">
                <a:solidFill>
                  <a:schemeClr val="bg1">
                    <a:lumMod val="10000"/>
                  </a:schemeClr>
                </a:solidFill>
                <a:latin typeface="Arial" panose="020B0604020202020204" pitchFamily="34" charset="0"/>
                <a:cs typeface="Arial" panose="020B0604020202020204" pitchFamily="34" charset="0"/>
              </a:rPr>
              <a:t>54</a:t>
            </a:fld>
            <a:endParaRPr lang="en" sz="1800">
              <a:solidFill>
                <a:schemeClr val="bg1">
                  <a:lumMod val="10000"/>
                </a:schemeClr>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3DEAC2D5-227E-6270-4AA4-022FE4D98C89}"/>
              </a:ext>
            </a:extLst>
          </p:cNvPr>
          <p:cNvSpPr>
            <a:spLocks noGrp="1"/>
          </p:cNvSpPr>
          <p:nvPr>
            <p:ph type="title"/>
          </p:nvPr>
        </p:nvSpPr>
        <p:spPr/>
        <p:txBody>
          <a:bodyPr/>
          <a:lstStyle/>
          <a:p>
            <a:r>
              <a:rPr lang="en-VN" sz="2400" dirty="0">
                <a:solidFill>
                  <a:schemeClr val="bg1">
                    <a:lumMod val="10000"/>
                  </a:schemeClr>
                </a:solidFill>
                <a:latin typeface="Arial" panose="020B0604020202020204" pitchFamily="34" charset="0"/>
                <a:cs typeface="Arial" panose="020B0604020202020204" pitchFamily="34" charset="0"/>
              </a:rPr>
              <a:t>Ý nghĩa và nguyên tắc thực hiện</a:t>
            </a:r>
          </a:p>
        </p:txBody>
      </p:sp>
      <p:sp>
        <p:nvSpPr>
          <p:cNvPr id="6" name="Text Placeholder 5">
            <a:extLst>
              <a:ext uri="{FF2B5EF4-FFF2-40B4-BE49-F238E27FC236}">
                <a16:creationId xmlns:a16="http://schemas.microsoft.com/office/drawing/2014/main" id="{5F258D91-1609-083D-0878-50D0D74752AA}"/>
              </a:ext>
            </a:extLst>
          </p:cNvPr>
          <p:cNvSpPr>
            <a:spLocks noGrp="1"/>
          </p:cNvSpPr>
          <p:nvPr>
            <p:ph type="body" idx="1"/>
          </p:nvPr>
        </p:nvSpPr>
        <p:spPr>
          <a:xfrm>
            <a:off x="502921" y="1017725"/>
            <a:ext cx="7921079" cy="3585150"/>
          </a:xfrm>
        </p:spPr>
        <p:txBody>
          <a:bodyPr/>
          <a:lstStyle/>
          <a:p>
            <a:pPr marL="177800" lvl="0" indent="0">
              <a:buNone/>
            </a:pPr>
            <a:r>
              <a:rPr lang="en-VN" sz="1800" b="1" dirty="0">
                <a:latin typeface="Arial" panose="020B0604020202020204" pitchFamily="34" charset="0"/>
                <a:cs typeface="Arial" panose="020B0604020202020204" pitchFamily="34" charset="0"/>
              </a:rPr>
              <a:t>Nguyên tắc thực hiện</a:t>
            </a:r>
          </a:p>
          <a:p>
            <a:pPr lvl="0"/>
            <a:r>
              <a:rPr lang="en-VN" sz="1800" b="1" dirty="0">
                <a:latin typeface="Arial" panose="020B0604020202020204" pitchFamily="34" charset="0"/>
                <a:cs typeface="Arial" panose="020B0604020202020204" pitchFamily="34" charset="0"/>
              </a:rPr>
              <a:t>Bảo mật và tôn trọng quyền riêng tư</a:t>
            </a:r>
            <a:br>
              <a:rPr lang="en-VN" sz="1800" dirty="0">
                <a:latin typeface="Arial" panose="020B0604020202020204" pitchFamily="34" charset="0"/>
                <a:cs typeface="Arial" panose="020B0604020202020204" pitchFamily="34" charset="0"/>
              </a:rPr>
            </a:br>
            <a:r>
              <a:rPr lang="en-VN" sz="1800" dirty="0">
                <a:latin typeface="Arial" panose="020B0604020202020204" pitchFamily="34" charset="0"/>
                <a:cs typeface="Arial" panose="020B0604020202020204" pitchFamily="34" charset="0"/>
              </a:rPr>
              <a:t>Bảo vệ thông tin cá nhân của đối tượng, chỉ chia sẻ cho người có thẩm quyền và tuân thủ quy định bảo mật.</a:t>
            </a:r>
          </a:p>
          <a:p>
            <a:pPr lvl="0"/>
            <a:r>
              <a:rPr lang="en-VN" sz="1800" b="1" dirty="0">
                <a:latin typeface="Arial" panose="020B0604020202020204" pitchFamily="34" charset="0"/>
                <a:cs typeface="Arial" panose="020B0604020202020204" pitchFamily="34" charset="0"/>
              </a:rPr>
              <a:t>Có hệ thống và dễ tra cứu</a:t>
            </a:r>
            <a:br>
              <a:rPr lang="en-VN" sz="1800" dirty="0">
                <a:latin typeface="Arial" panose="020B0604020202020204" pitchFamily="34" charset="0"/>
                <a:cs typeface="Arial" panose="020B0604020202020204" pitchFamily="34" charset="0"/>
              </a:rPr>
            </a:br>
            <a:r>
              <a:rPr lang="en-VN" sz="1800" dirty="0">
                <a:latin typeface="Arial" panose="020B0604020202020204" pitchFamily="34" charset="0"/>
                <a:cs typeface="Arial" panose="020B0604020202020204" pitchFamily="34" charset="0"/>
              </a:rPr>
              <a:t>Sắp xếp hồ sơ logic, thống nhất, thuận tiện cho theo dõi, phối hợp liên ngành và truy xuất thông tin.</a:t>
            </a:r>
          </a:p>
          <a:p>
            <a:pPr lvl="0"/>
            <a:r>
              <a:rPr lang="en-VN" sz="1800" b="1" dirty="0">
                <a:latin typeface="Arial" panose="020B0604020202020204" pitchFamily="34" charset="0"/>
                <a:cs typeface="Arial" panose="020B0604020202020204" pitchFamily="34" charset="0"/>
              </a:rPr>
              <a:t>Tuân thủ chuẩn mực chuyên môn và pháp luật</a:t>
            </a:r>
            <a:br>
              <a:rPr lang="en-VN" sz="1800" dirty="0">
                <a:latin typeface="Arial" panose="020B0604020202020204" pitchFamily="34" charset="0"/>
                <a:cs typeface="Arial" panose="020B0604020202020204" pitchFamily="34" charset="0"/>
              </a:rPr>
            </a:br>
            <a:r>
              <a:rPr lang="en-VN" sz="1800" dirty="0">
                <a:latin typeface="Arial" panose="020B0604020202020204" pitchFamily="34" charset="0"/>
                <a:cs typeface="Arial" panose="020B0604020202020204" pitchFamily="34" charset="0"/>
              </a:rPr>
              <a:t>Thực hiện ghi chép theo quy định nghề nghiệp, pháp luật và quy trình lưu trữ của cơ quan; cập nhật kỹ năng sử dụng hồ sơ điện tử và bảo mật dữ liệu.</a:t>
            </a:r>
          </a:p>
          <a:p>
            <a:pPr marL="177800" indent="0">
              <a:buNone/>
            </a:pPr>
            <a:endParaRPr lang="en-VN" sz="1800" dirty="0">
              <a:solidFill>
                <a:schemeClr val="bg1">
                  <a:lumMod val="10000"/>
                </a:schemeClr>
              </a:solidFill>
              <a:latin typeface="Arial" panose="020B0604020202020204" pitchFamily="34" charset="0"/>
              <a:cs typeface="Arial" panose="020B0604020202020204" pitchFamily="34" charset="0"/>
            </a:endParaRPr>
          </a:p>
          <a:p>
            <a:endParaRPr lang="pt-BR" sz="1800" dirty="0">
              <a:solidFill>
                <a:schemeClr val="bg1">
                  <a:lumMod val="10000"/>
                </a:schemeClr>
              </a:solidFill>
              <a:latin typeface="Arial" panose="020B0604020202020204" pitchFamily="34" charset="0"/>
              <a:cs typeface="Arial" panose="020B0604020202020204" pitchFamily="34" charset="0"/>
            </a:endParaRPr>
          </a:p>
          <a:p>
            <a:endParaRPr lang="pt-BR" sz="1800" dirty="0">
              <a:solidFill>
                <a:schemeClr val="bg1">
                  <a:lumMod val="10000"/>
                </a:schemeClr>
              </a:solidFill>
              <a:latin typeface="Arial" panose="020B0604020202020204" pitchFamily="34" charset="0"/>
              <a:cs typeface="Arial" panose="020B0604020202020204" pitchFamily="34" charset="0"/>
            </a:endParaRPr>
          </a:p>
          <a:p>
            <a:pPr marL="177800" indent="0">
              <a:buNone/>
            </a:pPr>
            <a:r>
              <a:rPr lang="pt-BR" sz="1800" dirty="0">
                <a:solidFill>
                  <a:schemeClr val="bg1">
                    <a:lumMod val="10000"/>
                  </a:schemeClr>
                </a:solidFill>
                <a:latin typeface="Arial" panose="020B0604020202020204" pitchFamily="34" charset="0"/>
                <a:cs typeface="Arial" panose="020B0604020202020204" pitchFamily="34" charset="0"/>
              </a:rPr>
              <a:t> </a:t>
            </a:r>
            <a:endParaRPr lang="en-VN" sz="1800" dirty="0">
              <a:solidFill>
                <a:schemeClr val="bg1">
                  <a:lumMod val="10000"/>
                </a:schemeClr>
              </a:solidFill>
              <a:latin typeface="Arial" panose="020B0604020202020204" pitchFamily="34" charset="0"/>
              <a:cs typeface="Arial" panose="020B0604020202020204" pitchFamily="34" charset="0"/>
            </a:endParaRPr>
          </a:p>
          <a:p>
            <a:endParaRPr lang="en-VN" sz="1800" dirty="0">
              <a:solidFill>
                <a:schemeClr val="bg1">
                  <a:lumMod val="10000"/>
                </a:schemeClr>
              </a:solidFill>
              <a:latin typeface="Arial" panose="020B0604020202020204" pitchFamily="34" charset="0"/>
              <a:cs typeface="Arial" panose="020B0604020202020204" pitchFamily="34" charset="0"/>
            </a:endParaRPr>
          </a:p>
          <a:p>
            <a:endParaRPr lang="en-VN" sz="18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40714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D9221-007E-CD16-7E50-57A027B63C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800" smtClean="0">
                <a:solidFill>
                  <a:schemeClr val="bg1">
                    <a:lumMod val="10000"/>
                  </a:schemeClr>
                </a:solidFill>
                <a:latin typeface="Arial" panose="020B0604020202020204" pitchFamily="34" charset="0"/>
                <a:cs typeface="Arial" panose="020B0604020202020204" pitchFamily="34" charset="0"/>
              </a:rPr>
              <a:t>55</a:t>
            </a:fld>
            <a:endParaRPr lang="en" sz="1800">
              <a:solidFill>
                <a:schemeClr val="bg1">
                  <a:lumMod val="10000"/>
                </a:schemeClr>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C7E48FF0-5EEE-5E3E-A291-A9C6FF17AC52}"/>
              </a:ext>
            </a:extLst>
          </p:cNvPr>
          <p:cNvSpPr>
            <a:spLocks noGrp="1"/>
          </p:cNvSpPr>
          <p:nvPr>
            <p:ph type="title"/>
          </p:nvPr>
        </p:nvSpPr>
        <p:spPr/>
        <p:txBody>
          <a:bodyPr/>
          <a:lstStyle/>
          <a:p>
            <a:r>
              <a:rPr lang="en-VN" sz="2400" dirty="0">
                <a:solidFill>
                  <a:schemeClr val="bg1">
                    <a:lumMod val="10000"/>
                  </a:schemeClr>
                </a:solidFill>
                <a:latin typeface="Arial" panose="020B0604020202020204" pitchFamily="34" charset="0"/>
                <a:cs typeface="Arial" panose="020B0604020202020204" pitchFamily="34" charset="0"/>
              </a:rPr>
              <a:t>Cách thực hiện</a:t>
            </a:r>
          </a:p>
        </p:txBody>
      </p:sp>
      <p:sp>
        <p:nvSpPr>
          <p:cNvPr id="8" name="TextBox 7">
            <a:extLst>
              <a:ext uri="{FF2B5EF4-FFF2-40B4-BE49-F238E27FC236}">
                <a16:creationId xmlns:a16="http://schemas.microsoft.com/office/drawing/2014/main" id="{D5EFF04D-993E-D310-6E93-FD3474BF46FF}"/>
              </a:ext>
            </a:extLst>
          </p:cNvPr>
          <p:cNvSpPr txBox="1"/>
          <p:nvPr/>
        </p:nvSpPr>
        <p:spPr>
          <a:xfrm>
            <a:off x="1424198" y="931504"/>
            <a:ext cx="7290924" cy="3493264"/>
          </a:xfrm>
          <a:prstGeom prst="rect">
            <a:avLst/>
          </a:prstGeom>
          <a:noFill/>
        </p:spPr>
        <p:txBody>
          <a:bodyPr wrap="square">
            <a:spAutoFit/>
          </a:bodyPr>
          <a:lstStyle/>
          <a:p>
            <a:pPr marL="342900" lvl="0" indent="-342900">
              <a:buNone/>
              <a:tabLst>
                <a:tab pos="457200" algn="l"/>
              </a:tabLst>
            </a:pPr>
            <a:r>
              <a:rPr lang="en-VN" sz="1700" b="1" dirty="0">
                <a:effectLst/>
                <a:latin typeface="+mn-lt"/>
                <a:ea typeface="Times New Roman" panose="02020603050405020304" pitchFamily="18" charset="0"/>
              </a:rPr>
              <a:t>Chuẩn bị hồ sơ và hệ thống lưu trữ</a:t>
            </a:r>
            <a:br>
              <a:rPr lang="en-VN" sz="1700" dirty="0">
                <a:effectLst/>
                <a:latin typeface="+mn-lt"/>
                <a:ea typeface="Times New Roman" panose="02020603050405020304" pitchFamily="18" charset="0"/>
              </a:rPr>
            </a:br>
            <a:r>
              <a:rPr lang="en-VN" sz="1700" dirty="0">
                <a:effectLst/>
                <a:latin typeface="+mn-lt"/>
                <a:ea typeface="Times New Roman" panose="02020603050405020304" pitchFamily="18" charset="0"/>
              </a:rPr>
              <a:t>Thiết lập hồ sơ, mã hóa thông tin, chuẩn bị biểu mẫu và bảo đảm an toàn lưu trữ hồ sơ giấy hoặc điện tử.</a:t>
            </a:r>
          </a:p>
          <a:p>
            <a:pPr marL="342900" lvl="0" indent="-342900">
              <a:buNone/>
              <a:tabLst>
                <a:tab pos="457200" algn="l"/>
              </a:tabLst>
            </a:pPr>
            <a:r>
              <a:rPr lang="en-VN" sz="1700" b="1" dirty="0">
                <a:effectLst/>
                <a:latin typeface="+mn-lt"/>
                <a:ea typeface="Times New Roman" panose="02020603050405020304" pitchFamily="18" charset="0"/>
              </a:rPr>
              <a:t>Ghi chép tiếp nhận và đánh giá ban đầu</a:t>
            </a:r>
            <a:br>
              <a:rPr lang="en-VN" sz="1700" dirty="0">
                <a:effectLst/>
                <a:latin typeface="+mn-lt"/>
                <a:ea typeface="Times New Roman" panose="02020603050405020304" pitchFamily="18" charset="0"/>
              </a:rPr>
            </a:br>
            <a:r>
              <a:rPr lang="en-VN" sz="1700" dirty="0">
                <a:effectLst/>
                <a:latin typeface="+mn-lt"/>
                <a:ea typeface="Times New Roman" panose="02020603050405020304" pitchFamily="18" charset="0"/>
              </a:rPr>
              <a:t>Thu thập thông tin cơ bản, nhu cầu cấp thiết và các dấu hiệu quan trọng của đối tượng; phân biệt dữ liệu khách quan và nhận định chuyên môn.</a:t>
            </a:r>
          </a:p>
          <a:p>
            <a:pPr marL="342900" lvl="0" indent="-342900">
              <a:buNone/>
              <a:tabLst>
                <a:tab pos="457200" algn="l"/>
              </a:tabLst>
            </a:pPr>
            <a:r>
              <a:rPr lang="en-VN" sz="1700" b="1" dirty="0">
                <a:effectLst/>
                <a:latin typeface="+mn-lt"/>
                <a:ea typeface="Times New Roman" panose="02020603050405020304" pitchFamily="18" charset="0"/>
              </a:rPr>
              <a:t>Ghi chép đánh giá toàn diện</a:t>
            </a:r>
            <a:br>
              <a:rPr lang="en-VN" sz="1700" dirty="0">
                <a:effectLst/>
                <a:latin typeface="+mn-lt"/>
                <a:ea typeface="Times New Roman" panose="02020603050405020304" pitchFamily="18" charset="0"/>
              </a:rPr>
            </a:br>
            <a:r>
              <a:rPr lang="en-VN" sz="1700" dirty="0">
                <a:effectLst/>
                <a:latin typeface="+mn-lt"/>
                <a:ea typeface="Times New Roman" panose="02020603050405020304" pitchFamily="18" charset="0"/>
              </a:rPr>
              <a:t>Đánh giá các yếu tố sức khỏe, tâm lý, gia đình, kinh tế, xã hội và nguồn lực hỗ trợ; phân tích nhu cầu và nguy cơ ưu tiên.</a:t>
            </a:r>
          </a:p>
          <a:p>
            <a:pPr marL="342900" lvl="0" indent="-342900">
              <a:buNone/>
              <a:tabLst>
                <a:tab pos="457200" algn="l"/>
              </a:tabLst>
            </a:pPr>
            <a:r>
              <a:rPr lang="en-VN" sz="1700" b="1" dirty="0">
                <a:effectLst/>
                <a:latin typeface="+mn-lt"/>
                <a:ea typeface="Times New Roman" panose="02020603050405020304" pitchFamily="18" charset="0"/>
              </a:rPr>
              <a:t>Ghi chép kế hoạch can thiệp</a:t>
            </a:r>
            <a:br>
              <a:rPr lang="en-VN" sz="1700" dirty="0">
                <a:effectLst/>
                <a:latin typeface="+mn-lt"/>
                <a:ea typeface="Times New Roman" panose="02020603050405020304" pitchFamily="18" charset="0"/>
              </a:rPr>
            </a:br>
            <a:r>
              <a:rPr lang="en-VN" sz="1700" dirty="0">
                <a:effectLst/>
                <a:latin typeface="+mn-lt"/>
                <a:ea typeface="Times New Roman" panose="02020603050405020304" pitchFamily="18" charset="0"/>
              </a:rPr>
              <a:t>Xác định mục tiêu, hoạt động hỗ trợ, thời gian, người phụ trách và nguồn lực; bảo đảm kế hoạch có logic chuyên môn.</a:t>
            </a:r>
          </a:p>
        </p:txBody>
      </p:sp>
    </p:spTree>
    <p:extLst>
      <p:ext uri="{BB962C8B-B14F-4D97-AF65-F5344CB8AC3E}">
        <p14:creationId xmlns:p14="http://schemas.microsoft.com/office/powerpoint/2010/main" val="957393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9D9221-007E-CD16-7E50-57A027B63C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z="1800" smtClean="0">
                <a:solidFill>
                  <a:schemeClr val="bg1">
                    <a:lumMod val="10000"/>
                  </a:schemeClr>
                </a:solidFill>
                <a:latin typeface="+mn-lt"/>
              </a:rPr>
              <a:t>56</a:t>
            </a:fld>
            <a:endParaRPr lang="en" sz="1800">
              <a:solidFill>
                <a:schemeClr val="bg1">
                  <a:lumMod val="10000"/>
                </a:schemeClr>
              </a:solidFill>
              <a:latin typeface="+mn-lt"/>
            </a:endParaRPr>
          </a:p>
        </p:txBody>
      </p:sp>
      <p:sp>
        <p:nvSpPr>
          <p:cNvPr id="3" name="Title 2">
            <a:extLst>
              <a:ext uri="{FF2B5EF4-FFF2-40B4-BE49-F238E27FC236}">
                <a16:creationId xmlns:a16="http://schemas.microsoft.com/office/drawing/2014/main" id="{C7E48FF0-5EEE-5E3E-A291-A9C6FF17AC52}"/>
              </a:ext>
            </a:extLst>
          </p:cNvPr>
          <p:cNvSpPr>
            <a:spLocks noGrp="1"/>
          </p:cNvSpPr>
          <p:nvPr>
            <p:ph type="title"/>
          </p:nvPr>
        </p:nvSpPr>
        <p:spPr>
          <a:xfrm>
            <a:off x="720000" y="445025"/>
            <a:ext cx="2866038" cy="572700"/>
          </a:xfrm>
        </p:spPr>
        <p:txBody>
          <a:bodyPr/>
          <a:lstStyle/>
          <a:p>
            <a:r>
              <a:rPr lang="en-VN" sz="2400" dirty="0">
                <a:solidFill>
                  <a:schemeClr val="bg1">
                    <a:lumMod val="10000"/>
                  </a:schemeClr>
                </a:solidFill>
                <a:latin typeface="+mn-lt"/>
              </a:rPr>
              <a:t>Cách thực hiện</a:t>
            </a:r>
          </a:p>
        </p:txBody>
      </p:sp>
      <p:sp>
        <p:nvSpPr>
          <p:cNvPr id="5" name="TextBox 4">
            <a:extLst>
              <a:ext uri="{FF2B5EF4-FFF2-40B4-BE49-F238E27FC236}">
                <a16:creationId xmlns:a16="http://schemas.microsoft.com/office/drawing/2014/main" id="{C0EEE0BC-EDB1-2497-E3E0-1CB73102A0B5}"/>
              </a:ext>
            </a:extLst>
          </p:cNvPr>
          <p:cNvSpPr txBox="1"/>
          <p:nvPr/>
        </p:nvSpPr>
        <p:spPr>
          <a:xfrm>
            <a:off x="2909087" y="1149473"/>
            <a:ext cx="4572000" cy="3262432"/>
          </a:xfrm>
          <a:prstGeom prst="rect">
            <a:avLst/>
          </a:prstGeom>
          <a:noFill/>
        </p:spPr>
        <p:txBody>
          <a:bodyPr wrap="square">
            <a:spAutoFit/>
          </a:bodyPr>
          <a:lstStyle/>
          <a:p>
            <a:pPr marL="342900" lvl="0" indent="-342900">
              <a:buNone/>
              <a:tabLst>
                <a:tab pos="457200" algn="l"/>
              </a:tabLst>
            </a:pPr>
            <a:r>
              <a:rPr lang="en-VN" sz="1600" b="1" dirty="0">
                <a:effectLst/>
                <a:latin typeface="Arial" panose="020B0604020202020204" pitchFamily="34" charset="0"/>
                <a:ea typeface="Times New Roman" panose="02020603050405020304" pitchFamily="18" charset="0"/>
                <a:cs typeface="Arial" panose="020B0604020202020204" pitchFamily="34" charset="0"/>
              </a:rPr>
              <a:t>Ghi chép tiến trình can thiệp</a:t>
            </a:r>
            <a:br>
              <a:rPr lang="en-VN" sz="1600" dirty="0">
                <a:effectLst/>
                <a:latin typeface="Arial" panose="020B0604020202020204" pitchFamily="34" charset="0"/>
                <a:ea typeface="Times New Roman" panose="02020603050405020304" pitchFamily="18" charset="0"/>
                <a:cs typeface="Arial" panose="020B0604020202020204" pitchFamily="34" charset="0"/>
              </a:rPr>
            </a:br>
            <a:r>
              <a:rPr lang="en-VN" sz="1600" dirty="0">
                <a:effectLst/>
                <a:latin typeface="Arial" panose="020B0604020202020204" pitchFamily="34" charset="0"/>
                <a:ea typeface="Times New Roman" panose="02020603050405020304" pitchFamily="18" charset="0"/>
                <a:cs typeface="Arial" panose="020B0604020202020204" pitchFamily="34" charset="0"/>
              </a:rPr>
              <a:t>Cập nhật thường xuyên hoạt động đã thực hiện, phản hồi của đối tượng, kết quả và các thay đổi trong quá trình hỗ trợ.</a:t>
            </a:r>
          </a:p>
          <a:p>
            <a:pPr marL="342900" lvl="0" indent="-342900">
              <a:buNone/>
              <a:tabLst>
                <a:tab pos="457200" algn="l"/>
              </a:tabLst>
            </a:pPr>
            <a:r>
              <a:rPr lang="en-VN" sz="1600" b="1" dirty="0">
                <a:effectLst/>
                <a:latin typeface="Arial" panose="020B0604020202020204" pitchFamily="34" charset="0"/>
                <a:ea typeface="Times New Roman" panose="02020603050405020304" pitchFamily="18" charset="0"/>
                <a:cs typeface="Arial" panose="020B0604020202020204" pitchFamily="34" charset="0"/>
              </a:rPr>
              <a:t>Ghi chép giám sát, lượng giá và điều chỉnh</a:t>
            </a:r>
            <a:br>
              <a:rPr lang="en-VN" sz="1600" dirty="0">
                <a:effectLst/>
                <a:latin typeface="Arial" panose="020B0604020202020204" pitchFamily="34" charset="0"/>
                <a:ea typeface="Times New Roman" panose="02020603050405020304" pitchFamily="18" charset="0"/>
                <a:cs typeface="Arial" panose="020B0604020202020204" pitchFamily="34" charset="0"/>
              </a:rPr>
            </a:br>
            <a:r>
              <a:rPr lang="en-VN" sz="1600" dirty="0">
                <a:effectLst/>
                <a:latin typeface="Arial" panose="020B0604020202020204" pitchFamily="34" charset="0"/>
                <a:ea typeface="Times New Roman" panose="02020603050405020304" pitchFamily="18" charset="0"/>
                <a:cs typeface="Arial" panose="020B0604020202020204" pitchFamily="34" charset="0"/>
              </a:rPr>
              <a:t>Đánh giá mức độ đạt mục tiêu, phân tích khó khăn, điều chỉnh kế hoạch và bảo đảm trách nhiệm giải trình.</a:t>
            </a:r>
          </a:p>
          <a:p>
            <a:pPr marL="342900" lvl="0" indent="-342900">
              <a:buNone/>
              <a:tabLst>
                <a:tab pos="457200" algn="l"/>
              </a:tabLst>
            </a:pPr>
            <a:r>
              <a:rPr lang="en-VN" sz="1600" b="1" dirty="0">
                <a:effectLst/>
                <a:latin typeface="Arial" panose="020B0604020202020204" pitchFamily="34" charset="0"/>
                <a:ea typeface="Times New Roman" panose="02020603050405020304" pitchFamily="18" charset="0"/>
                <a:cs typeface="Arial" panose="020B0604020202020204" pitchFamily="34" charset="0"/>
              </a:rPr>
              <a:t>Ghi chép kết thúc và lưu trữ hồ sơ</a:t>
            </a:r>
            <a:br>
              <a:rPr lang="en-VN" sz="1600" dirty="0">
                <a:effectLst/>
                <a:latin typeface="Arial" panose="020B0604020202020204" pitchFamily="34" charset="0"/>
                <a:ea typeface="Times New Roman" panose="02020603050405020304" pitchFamily="18" charset="0"/>
                <a:cs typeface="Arial" panose="020B0604020202020204" pitchFamily="34" charset="0"/>
              </a:rPr>
            </a:br>
            <a:r>
              <a:rPr lang="en-VN" sz="1600" dirty="0">
                <a:effectLst/>
                <a:latin typeface="Arial" panose="020B0604020202020204" pitchFamily="34" charset="0"/>
                <a:ea typeface="Times New Roman" panose="02020603050405020304" pitchFamily="18" charset="0"/>
                <a:cs typeface="Arial" panose="020B0604020202020204" pitchFamily="34" charset="0"/>
              </a:rPr>
              <a:t>Tổng kết toàn bộ quá trình hỗ trợ, kết quả đạt được, chuyển gửi dịch vụ nếu cần và lưu trữ hồ sơ đúng quy định bảo mật.</a:t>
            </a:r>
          </a:p>
          <a:p>
            <a:pPr>
              <a:buNone/>
            </a:pPr>
            <a:r>
              <a:rPr lang="en-VN" sz="14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8662072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304F24-2681-9AF4-FF4B-614C1B6364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57</a:t>
            </a:fld>
            <a:endParaRPr lang="en"/>
          </a:p>
        </p:txBody>
      </p:sp>
      <p:sp>
        <p:nvSpPr>
          <p:cNvPr id="5" name="TextBox 4">
            <a:extLst>
              <a:ext uri="{FF2B5EF4-FFF2-40B4-BE49-F238E27FC236}">
                <a16:creationId xmlns:a16="http://schemas.microsoft.com/office/drawing/2014/main" id="{2925BFDC-071E-763A-315A-E684C376D05F}"/>
              </a:ext>
            </a:extLst>
          </p:cNvPr>
          <p:cNvSpPr txBox="1"/>
          <p:nvPr/>
        </p:nvSpPr>
        <p:spPr>
          <a:xfrm>
            <a:off x="1197621" y="776835"/>
            <a:ext cx="3568588" cy="461665"/>
          </a:xfrm>
          <a:prstGeom prst="rect">
            <a:avLst/>
          </a:prstGeom>
          <a:noFill/>
        </p:spPr>
        <p:txBody>
          <a:bodyPr wrap="square" rtlCol="0">
            <a:spAutoFit/>
          </a:bodyPr>
          <a:lstStyle/>
          <a:p>
            <a:r>
              <a:rPr lang="en-VN" sz="2400" dirty="0"/>
              <a:t>THẢO LUẬN NHÓM</a:t>
            </a:r>
          </a:p>
        </p:txBody>
      </p:sp>
      <p:sp>
        <p:nvSpPr>
          <p:cNvPr id="6" name="TextBox 5">
            <a:extLst>
              <a:ext uri="{FF2B5EF4-FFF2-40B4-BE49-F238E27FC236}">
                <a16:creationId xmlns:a16="http://schemas.microsoft.com/office/drawing/2014/main" id="{5E10042A-9E4D-B849-C739-AB02270120C6}"/>
              </a:ext>
            </a:extLst>
          </p:cNvPr>
          <p:cNvSpPr txBox="1"/>
          <p:nvPr/>
        </p:nvSpPr>
        <p:spPr>
          <a:xfrm>
            <a:off x="1909720" y="1853076"/>
            <a:ext cx="3665692" cy="461665"/>
          </a:xfrm>
          <a:prstGeom prst="rect">
            <a:avLst/>
          </a:prstGeom>
          <a:noFill/>
        </p:spPr>
        <p:txBody>
          <a:bodyPr wrap="square" rtlCol="0">
            <a:spAutoFit/>
          </a:bodyPr>
          <a:lstStyle/>
          <a:p>
            <a:r>
              <a:rPr lang="en-VN" sz="2400" dirty="0"/>
              <a:t>Trường hợp ông C</a:t>
            </a:r>
          </a:p>
        </p:txBody>
      </p:sp>
    </p:spTree>
    <p:extLst>
      <p:ext uri="{BB962C8B-B14F-4D97-AF65-F5344CB8AC3E}">
        <p14:creationId xmlns:p14="http://schemas.microsoft.com/office/powerpoint/2010/main" val="23136763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76A7C4-E178-6971-7EB2-05E5F00B787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58</a:t>
            </a:fld>
            <a:endParaRPr lang="en"/>
          </a:p>
        </p:txBody>
      </p:sp>
      <p:graphicFrame>
        <p:nvGraphicFramePr>
          <p:cNvPr id="7" name="Table 6">
            <a:extLst>
              <a:ext uri="{FF2B5EF4-FFF2-40B4-BE49-F238E27FC236}">
                <a16:creationId xmlns:a16="http://schemas.microsoft.com/office/drawing/2014/main" id="{7E66EC93-A0FF-0D26-0F78-BB93A1DE5E22}"/>
              </a:ext>
            </a:extLst>
          </p:cNvPr>
          <p:cNvGraphicFramePr>
            <a:graphicFrameLocks noGrp="1"/>
          </p:cNvGraphicFramePr>
          <p:nvPr/>
        </p:nvGraphicFramePr>
        <p:xfrm>
          <a:off x="712788" y="1374775"/>
          <a:ext cx="7718424" cy="2971800"/>
        </p:xfrm>
        <a:graphic>
          <a:graphicData uri="http://schemas.openxmlformats.org/drawingml/2006/table">
            <a:tbl>
              <a:tblPr firstRow="1" firstCol="1" bandRow="1">
                <a:tableStyleId>{5765BD47-0766-45DA-83AF-D0E9DCAA76E3}</a:tableStyleId>
              </a:tblPr>
              <a:tblGrid>
                <a:gridCol w="3859212">
                  <a:extLst>
                    <a:ext uri="{9D8B030D-6E8A-4147-A177-3AD203B41FA5}">
                      <a16:colId xmlns:a16="http://schemas.microsoft.com/office/drawing/2014/main" val="187278753"/>
                    </a:ext>
                  </a:extLst>
                </a:gridCol>
                <a:gridCol w="3859212">
                  <a:extLst>
                    <a:ext uri="{9D8B030D-6E8A-4147-A177-3AD203B41FA5}">
                      <a16:colId xmlns:a16="http://schemas.microsoft.com/office/drawing/2014/main" val="1595759103"/>
                    </a:ext>
                  </a:extLst>
                </a:gridCol>
              </a:tblGrid>
              <a:tr h="198120">
                <a:tc>
                  <a:txBody>
                    <a:bodyPr/>
                    <a:lstStyle/>
                    <a:p>
                      <a:pPr algn="ctr">
                        <a:buNone/>
                      </a:pPr>
                      <a:r>
                        <a:rPr lang="en-VN" sz="1300" kern="100" dirty="0">
                          <a:effectLst/>
                        </a:rPr>
                        <a:t>Nội dung</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300" kern="100">
                          <a:effectLst/>
                        </a:rPr>
                        <a:t>Thông tin</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49489822"/>
                  </a:ext>
                </a:extLst>
              </a:tr>
              <a:tr h="198120">
                <a:tc>
                  <a:txBody>
                    <a:bodyPr/>
                    <a:lstStyle/>
                    <a:p>
                      <a:pPr>
                        <a:buNone/>
                      </a:pPr>
                      <a:r>
                        <a:rPr lang="en-VN" sz="1300" kern="100" dirty="0">
                          <a:effectLst/>
                        </a:rPr>
                        <a:t>Họ và tên người bệnh</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Ngô Văn C.</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60010280"/>
                  </a:ext>
                </a:extLst>
              </a:tr>
              <a:tr h="198120">
                <a:tc>
                  <a:txBody>
                    <a:bodyPr/>
                    <a:lstStyle/>
                    <a:p>
                      <a:pPr>
                        <a:buNone/>
                      </a:pPr>
                      <a:r>
                        <a:rPr lang="en-VN" sz="1300" kern="100" dirty="0">
                          <a:effectLst/>
                        </a:rPr>
                        <a:t>Năm sinh</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1947</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61287595"/>
                  </a:ext>
                </a:extLst>
              </a:tr>
              <a:tr h="198120">
                <a:tc>
                  <a:txBody>
                    <a:bodyPr/>
                    <a:lstStyle/>
                    <a:p>
                      <a:pPr>
                        <a:buNone/>
                      </a:pPr>
                      <a:r>
                        <a:rPr lang="en-VN" sz="1300" kern="100" dirty="0">
                          <a:effectLst/>
                        </a:rPr>
                        <a:t>Tuổi</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78</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77224836"/>
                  </a:ext>
                </a:extLst>
              </a:tr>
              <a:tr h="198120">
                <a:tc>
                  <a:txBody>
                    <a:bodyPr/>
                    <a:lstStyle/>
                    <a:p>
                      <a:pPr>
                        <a:buNone/>
                      </a:pPr>
                      <a:r>
                        <a:rPr lang="en-VN" sz="1300" kern="100" dirty="0">
                          <a:effectLst/>
                        </a:rPr>
                        <a:t>Giới tính</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Nam</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36967650"/>
                  </a:ext>
                </a:extLst>
              </a:tr>
              <a:tr h="198120">
                <a:tc>
                  <a:txBody>
                    <a:bodyPr/>
                    <a:lstStyle/>
                    <a:p>
                      <a:pPr>
                        <a:buNone/>
                      </a:pPr>
                      <a:r>
                        <a:rPr lang="en-VN" sz="1300" kern="100" dirty="0">
                          <a:effectLst/>
                        </a:rPr>
                        <a:t>Địa chỉ hiện tại</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Phòng trọ tại Phường 5, Quận 3, TP. Hồ Chí Minh</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0547080"/>
                  </a:ext>
                </a:extLst>
              </a:tr>
              <a:tr h="198120">
                <a:tc>
                  <a:txBody>
                    <a:bodyPr/>
                    <a:lstStyle/>
                    <a:p>
                      <a:pPr>
                        <a:buNone/>
                      </a:pPr>
                      <a:r>
                        <a:rPr lang="en-VN" sz="1300" kern="100" dirty="0">
                          <a:effectLst/>
                        </a:rPr>
                        <a:t>Tình trạng hôn nhân</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Vợ đã mất</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26590143"/>
                  </a:ext>
                </a:extLst>
              </a:tr>
              <a:tr h="198120">
                <a:tc>
                  <a:txBody>
                    <a:bodyPr/>
                    <a:lstStyle/>
                    <a:p>
                      <a:pPr>
                        <a:buNone/>
                      </a:pPr>
                      <a:r>
                        <a:rPr lang="en-VN" sz="1300" kern="100" dirty="0">
                          <a:effectLst/>
                        </a:rPr>
                        <a:t>Nghề nghiệp trước đây</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Sửa xe đạp tự do</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92036127"/>
                  </a:ext>
                </a:extLst>
              </a:tr>
              <a:tr h="198120">
                <a:tc>
                  <a:txBody>
                    <a:bodyPr/>
                    <a:lstStyle/>
                    <a:p>
                      <a:pPr>
                        <a:buNone/>
                      </a:pPr>
                      <a:r>
                        <a:rPr lang="en-VN" sz="1300" kern="100" dirty="0">
                          <a:effectLst/>
                        </a:rPr>
                        <a:t>Nguồn thu nhập hiện tại</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a:effectLst/>
                        </a:rPr>
                        <a:t>Trợ cấp người cao tuổi</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2446721"/>
                  </a:ext>
                </a:extLst>
              </a:tr>
              <a:tr h="198120">
                <a:tc>
                  <a:txBody>
                    <a:bodyPr/>
                    <a:lstStyle/>
                    <a:p>
                      <a:pPr>
                        <a:buNone/>
                      </a:pPr>
                      <a:r>
                        <a:rPr lang="en-VN" sz="1300" kern="100" dirty="0">
                          <a:effectLst/>
                        </a:rPr>
                        <a:t>Người thân liên hệ</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dirty="0">
                          <a:effectLst/>
                        </a:rPr>
                        <a:t>Hai người con đi làm ăn xa tại các tỉnh khác</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95462255"/>
                  </a:ext>
                </a:extLst>
              </a:tr>
              <a:tr h="198120">
                <a:tc>
                  <a:txBody>
                    <a:bodyPr/>
                    <a:lstStyle/>
                    <a:p>
                      <a:pPr>
                        <a:buNone/>
                      </a:pPr>
                      <a:r>
                        <a:rPr lang="en-VN" sz="1300" kern="100">
                          <a:effectLst/>
                        </a:rPr>
                        <a:t>Số điện thoại liên hệ</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dirty="0">
                          <a:effectLst/>
                        </a:rPr>
                        <a:t>Không cung cấp được</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04016364"/>
                  </a:ext>
                </a:extLst>
              </a:tr>
              <a:tr h="198120">
                <a:tc>
                  <a:txBody>
                    <a:bodyPr/>
                    <a:lstStyle/>
                    <a:p>
                      <a:pPr>
                        <a:buNone/>
                      </a:pPr>
                      <a:r>
                        <a:rPr lang="en-VN" sz="1300" kern="100">
                          <a:effectLst/>
                        </a:rPr>
                        <a:t>Ngày nhập viện</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dirty="0">
                          <a:effectLst/>
                        </a:rPr>
                        <a:t>15/07/2025</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99934855"/>
                  </a:ext>
                </a:extLst>
              </a:tr>
              <a:tr h="198120">
                <a:tc>
                  <a:txBody>
                    <a:bodyPr/>
                    <a:lstStyle/>
                    <a:p>
                      <a:pPr>
                        <a:buNone/>
                      </a:pPr>
                      <a:r>
                        <a:rPr lang="en-VN" sz="1300" kern="100">
                          <a:effectLst/>
                        </a:rPr>
                        <a:t>Khoa điều trị</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dirty="0">
                          <a:effectLst/>
                        </a:rPr>
                        <a:t>Nội Thần kinh</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05271382"/>
                  </a:ext>
                </a:extLst>
              </a:tr>
              <a:tr h="198120">
                <a:tc>
                  <a:txBody>
                    <a:bodyPr/>
                    <a:lstStyle/>
                    <a:p>
                      <a:pPr>
                        <a:buNone/>
                      </a:pPr>
                      <a:r>
                        <a:rPr lang="en-VN" sz="1300" kern="100">
                          <a:effectLst/>
                        </a:rPr>
                        <a:t>Chẩn đoán y khoa ban đầu</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dirty="0">
                          <a:effectLst/>
                        </a:rPr>
                        <a:t>Tai biến mạch máu não thiếu máu cục bộ</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87125223"/>
                  </a:ext>
                </a:extLst>
              </a:tr>
              <a:tr h="198120">
                <a:tc>
                  <a:txBody>
                    <a:bodyPr/>
                    <a:lstStyle/>
                    <a:p>
                      <a:pPr>
                        <a:buNone/>
                      </a:pPr>
                      <a:r>
                        <a:rPr lang="en-VN" sz="1300" kern="100">
                          <a:effectLst/>
                        </a:rPr>
                        <a:t>Nhân viên CTXH phụ trách</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300" kern="100" dirty="0">
                          <a:effectLst/>
                        </a:rPr>
                        <a:t>Nguyễn Văn A</a:t>
                      </a:r>
                      <a:endParaRPr lang="en-V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58466417"/>
                  </a:ext>
                </a:extLst>
              </a:tr>
            </a:tbl>
          </a:graphicData>
        </a:graphic>
      </p:graphicFrame>
      <p:sp>
        <p:nvSpPr>
          <p:cNvPr id="9" name="TextBox 8">
            <a:extLst>
              <a:ext uri="{FF2B5EF4-FFF2-40B4-BE49-F238E27FC236}">
                <a16:creationId xmlns:a16="http://schemas.microsoft.com/office/drawing/2014/main" id="{6D973BEB-AC2F-1846-398E-91FCA472D0F2}"/>
              </a:ext>
            </a:extLst>
          </p:cNvPr>
          <p:cNvSpPr txBox="1"/>
          <p:nvPr/>
        </p:nvSpPr>
        <p:spPr>
          <a:xfrm>
            <a:off x="2286000" y="427593"/>
            <a:ext cx="4572000" cy="523220"/>
          </a:xfrm>
          <a:prstGeom prst="rect">
            <a:avLst/>
          </a:prstGeom>
          <a:noFill/>
        </p:spPr>
        <p:txBody>
          <a:bodyPr wrap="square">
            <a:spAutoFit/>
          </a:bodyPr>
          <a:lstStyle/>
          <a:p>
            <a:pPr algn="ctr">
              <a:spcBef>
                <a:spcPts val="1200"/>
              </a:spcBef>
              <a:buNone/>
            </a:pPr>
            <a:r>
              <a:rPr lang="en-VN" sz="1400" b="1" kern="0" dirty="0">
                <a:solidFill>
                  <a:srgbClr val="1F3864"/>
                </a:solidFill>
                <a:effectLst/>
                <a:latin typeface="Times New Roman" panose="02020603050405020304" pitchFamily="18" charset="0"/>
                <a:ea typeface="Times New Roman" panose="02020603050405020304" pitchFamily="18" charset="0"/>
                <a:cs typeface="Times New Roman" panose="02020603050405020304" pitchFamily="18" charset="0"/>
              </a:rPr>
              <a:t>PHIẾU TIẾP NHẬN VÀ ĐÁNH GIÁ BAN ĐẦU</a:t>
            </a:r>
            <a:endParaRPr lang="en-VN" sz="1800" b="1" kern="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ctr">
              <a:buNone/>
            </a:pPr>
            <a:r>
              <a:rPr lang="en-VN" sz="1400" b="1" dirty="0">
                <a:solidFill>
                  <a:srgbClr val="1F3864"/>
                </a:solidFill>
                <a:effectLst/>
                <a:latin typeface="Times New Roman" panose="02020603050405020304" pitchFamily="18" charset="0"/>
                <a:ea typeface="Times New Roman" panose="02020603050405020304" pitchFamily="18" charset="0"/>
              </a:rPr>
              <a:t> </a:t>
            </a:r>
            <a:endParaRPr lang="en-VN" sz="14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FD5B3A3C-5C9A-2882-8A4B-C20989DDB33D}"/>
              </a:ext>
            </a:extLst>
          </p:cNvPr>
          <p:cNvSpPr txBox="1"/>
          <p:nvPr/>
        </p:nvSpPr>
        <p:spPr>
          <a:xfrm>
            <a:off x="554304" y="938848"/>
            <a:ext cx="4572000" cy="307777"/>
          </a:xfrm>
          <a:prstGeom prst="rect">
            <a:avLst/>
          </a:prstGeom>
          <a:noFill/>
        </p:spPr>
        <p:txBody>
          <a:bodyPr wrap="square">
            <a:spAutoFit/>
          </a:bodyPr>
          <a:lstStyle/>
          <a:p>
            <a:pPr>
              <a:buNone/>
            </a:pPr>
            <a:r>
              <a:rPr lang="en-VN" sz="1400" b="1" dirty="0">
                <a:effectLst/>
                <a:latin typeface="Times New Roman" panose="02020603050405020304" pitchFamily="18" charset="0"/>
                <a:ea typeface="Times New Roman" panose="02020603050405020304" pitchFamily="18" charset="0"/>
              </a:rPr>
              <a:t>I. THÔNG TIN HÀNH CHÍNH</a:t>
            </a:r>
          </a:p>
        </p:txBody>
      </p:sp>
    </p:spTree>
    <p:extLst>
      <p:ext uri="{BB962C8B-B14F-4D97-AF65-F5344CB8AC3E}">
        <p14:creationId xmlns:p14="http://schemas.microsoft.com/office/powerpoint/2010/main" val="4363504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20AF79-002C-783A-CD86-9CBC6D281B2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59</a:t>
            </a:fld>
            <a:endParaRPr lang="en"/>
          </a:p>
        </p:txBody>
      </p:sp>
      <p:sp>
        <p:nvSpPr>
          <p:cNvPr id="6" name="TextBox 5">
            <a:extLst>
              <a:ext uri="{FF2B5EF4-FFF2-40B4-BE49-F238E27FC236}">
                <a16:creationId xmlns:a16="http://schemas.microsoft.com/office/drawing/2014/main" id="{104E88A5-A153-BA1D-C4A5-B2601CBEEC6D}"/>
              </a:ext>
            </a:extLst>
          </p:cNvPr>
          <p:cNvSpPr txBox="1"/>
          <p:nvPr/>
        </p:nvSpPr>
        <p:spPr>
          <a:xfrm>
            <a:off x="1213805" y="725090"/>
            <a:ext cx="6821585" cy="3416320"/>
          </a:xfrm>
          <a:prstGeom prst="rect">
            <a:avLst/>
          </a:prstGeom>
          <a:noFill/>
        </p:spPr>
        <p:txBody>
          <a:bodyPr wrap="square">
            <a:spAutoFit/>
          </a:bodyPr>
          <a:lstStyle/>
          <a:p>
            <a:pPr>
              <a:buNone/>
            </a:pPr>
            <a:r>
              <a:rPr lang="en-VN" sz="1800" b="1" dirty="0">
                <a:effectLst/>
                <a:latin typeface="+mn-lt"/>
                <a:ea typeface="Times New Roman" panose="02020603050405020304" pitchFamily="18" charset="0"/>
              </a:rPr>
              <a:t>II. LÝ DO TIẾP NHẬN TRƯỜNG HỢP</a:t>
            </a:r>
          </a:p>
          <a:p>
            <a:pPr>
              <a:buNone/>
            </a:pPr>
            <a:endParaRPr lang="en-VN" sz="1800" b="1" dirty="0">
              <a:effectLst/>
              <a:latin typeface="+mn-lt"/>
              <a:ea typeface="Times New Roman" panose="02020603050405020304" pitchFamily="18" charset="0"/>
            </a:endParaRPr>
          </a:p>
          <a:p>
            <a:pPr>
              <a:buNone/>
            </a:pPr>
            <a:r>
              <a:rPr lang="en-VN" sz="1800" dirty="0">
                <a:effectLst/>
                <a:latin typeface="+mn-lt"/>
                <a:ea typeface="Times New Roman" panose="02020603050405020304" pitchFamily="18" charset="0"/>
              </a:rPr>
              <a:t>Ông Ngô Văn C. được chuyển đến Phòng Công tác xã hội do không có người thân chăm sóc trong thời gian điều trị nội trú. Người bệnh hiện yếu liệt nửa người phải, hạn chế vận động, gặp khó khăn trong giao tiếp và phụ thuộc nhiều vào nhân viên y tế trong sinh hoạt hằng ngày.</a:t>
            </a:r>
          </a:p>
          <a:p>
            <a:pPr>
              <a:buNone/>
            </a:pPr>
            <a:endParaRPr lang="en-VN" sz="1800" dirty="0">
              <a:effectLst/>
              <a:latin typeface="+mn-lt"/>
              <a:ea typeface="Times New Roman" panose="02020603050405020304" pitchFamily="18" charset="0"/>
            </a:endParaRPr>
          </a:p>
          <a:p>
            <a:pPr>
              <a:buNone/>
            </a:pPr>
            <a:r>
              <a:rPr lang="en-VN" sz="1800" dirty="0">
                <a:effectLst/>
                <a:latin typeface="+mn-lt"/>
                <a:ea typeface="Times New Roman" panose="02020603050405020304" pitchFamily="18" charset="0"/>
              </a:rPr>
              <a:t>Người bệnh có biểu hiện lo lắng, cô đơn và chưa có kế hoạch chăm sóc sau xuất viện. Trường hợp cần được đánh giá và hỗ trợ toàn diện về tâm lý – xã hội, kết nối nguồn lực và xây dựng kế hoạch hỗ trợ dài hạn.</a:t>
            </a:r>
          </a:p>
        </p:txBody>
      </p:sp>
    </p:spTree>
    <p:extLst>
      <p:ext uri="{BB962C8B-B14F-4D97-AF65-F5344CB8AC3E}">
        <p14:creationId xmlns:p14="http://schemas.microsoft.com/office/powerpoint/2010/main" val="21875740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987299-1014-D3B8-114A-09CA611B9C8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60</a:t>
            </a:fld>
            <a:endParaRPr lang="en"/>
          </a:p>
        </p:txBody>
      </p:sp>
      <p:graphicFrame>
        <p:nvGraphicFramePr>
          <p:cNvPr id="5" name="Table 4">
            <a:extLst>
              <a:ext uri="{FF2B5EF4-FFF2-40B4-BE49-F238E27FC236}">
                <a16:creationId xmlns:a16="http://schemas.microsoft.com/office/drawing/2014/main" id="{6333812B-5C47-A3D8-A49E-D244F239AE98}"/>
              </a:ext>
            </a:extLst>
          </p:cNvPr>
          <p:cNvGraphicFramePr>
            <a:graphicFrameLocks noGrp="1"/>
          </p:cNvGraphicFramePr>
          <p:nvPr>
            <p:extLst>
              <p:ext uri="{D42A27DB-BD31-4B8C-83A1-F6EECF244321}">
                <p14:modId xmlns:p14="http://schemas.microsoft.com/office/powerpoint/2010/main" val="3296377777"/>
              </p:ext>
            </p:extLst>
          </p:nvPr>
        </p:nvGraphicFramePr>
        <p:xfrm>
          <a:off x="752559" y="971044"/>
          <a:ext cx="7744078" cy="3662296"/>
        </p:xfrm>
        <a:graphic>
          <a:graphicData uri="http://schemas.openxmlformats.org/drawingml/2006/table">
            <a:tbl>
              <a:tblPr firstRow="1" firstCol="1" bandRow="1">
                <a:tableStyleId>{5765BD47-0766-45DA-83AF-D0E9DCAA76E3}</a:tableStyleId>
              </a:tblPr>
              <a:tblGrid>
                <a:gridCol w="2044179">
                  <a:extLst>
                    <a:ext uri="{9D8B030D-6E8A-4147-A177-3AD203B41FA5}">
                      <a16:colId xmlns:a16="http://schemas.microsoft.com/office/drawing/2014/main" val="2581298254"/>
                    </a:ext>
                  </a:extLst>
                </a:gridCol>
                <a:gridCol w="5699899">
                  <a:extLst>
                    <a:ext uri="{9D8B030D-6E8A-4147-A177-3AD203B41FA5}">
                      <a16:colId xmlns:a16="http://schemas.microsoft.com/office/drawing/2014/main" val="3209409185"/>
                    </a:ext>
                  </a:extLst>
                </a:gridCol>
              </a:tblGrid>
              <a:tr h="250853">
                <a:tc>
                  <a:txBody>
                    <a:bodyPr/>
                    <a:lstStyle/>
                    <a:p>
                      <a:pPr algn="ctr">
                        <a:buNone/>
                      </a:pPr>
                      <a:r>
                        <a:rPr lang="en-VN" sz="1200" kern="100">
                          <a:effectLst/>
                        </a:rPr>
                        <a:t>Nội dung đánh giá</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lgn="ctr">
                        <a:buNone/>
                      </a:pPr>
                      <a:r>
                        <a:rPr lang="en-VN" sz="1200" kern="100">
                          <a:effectLst/>
                        </a:rPr>
                        <a:t>Thông tin ghi nhận</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163439419"/>
                  </a:ext>
                </a:extLst>
              </a:tr>
              <a:tr h="375482">
                <a:tc>
                  <a:txBody>
                    <a:bodyPr/>
                    <a:lstStyle/>
                    <a:p>
                      <a:pPr>
                        <a:buNone/>
                      </a:pPr>
                      <a:r>
                        <a:rPr lang="en-VN" sz="1200" kern="100">
                          <a:effectLst/>
                        </a:rPr>
                        <a:t>Tình trạng sức khỏe hiện tại</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Yếu liệt nửa người phải, nói khó, hạn chế vận động sau tai biến mạch máu não</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1857926132"/>
                  </a:ext>
                </a:extLst>
              </a:tr>
              <a:tr h="381903">
                <a:tc>
                  <a:txBody>
                    <a:bodyPr/>
                    <a:lstStyle/>
                    <a:p>
                      <a:pPr>
                        <a:buNone/>
                      </a:pPr>
                      <a:r>
                        <a:rPr lang="en-VN" sz="1200" kern="100">
                          <a:effectLst/>
                        </a:rPr>
                        <a:t>Khả năng tự chăm sóc</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Phụ thuộc gần như hoàn toàn vào điều dưỡng trong ăn uống, vệ sinh cá nhân và di chuyển</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1831855378"/>
                  </a:ext>
                </a:extLst>
              </a:tr>
              <a:tr h="381903">
                <a:tc>
                  <a:txBody>
                    <a:bodyPr/>
                    <a:lstStyle/>
                    <a:p>
                      <a:pPr>
                        <a:buNone/>
                      </a:pPr>
                      <a:r>
                        <a:rPr lang="en-VN" sz="1200" kern="100">
                          <a:effectLst/>
                        </a:rPr>
                        <a:t>Tình trạng tâm lý</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Lo lắng về khả năng hồi phục và cuộc sống sau xuất viện; có biểu hiện buồn bã, ít giao tiếp</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3220668987"/>
                  </a:ext>
                </a:extLst>
              </a:tr>
              <a:tr h="375482">
                <a:tc>
                  <a:txBody>
                    <a:bodyPr/>
                    <a:lstStyle/>
                    <a:p>
                      <a:pPr>
                        <a:buNone/>
                      </a:pPr>
                      <a:r>
                        <a:rPr lang="en-VN" sz="1200" kern="100">
                          <a:effectLst/>
                        </a:rPr>
                        <a:t>Hoàn cảnh gia đình</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Vợ đã mất; hai người con đi làm ăn xa, ít có điều kiện chăm sóc</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1024447296"/>
                  </a:ext>
                </a:extLst>
              </a:tr>
              <a:tr h="381903">
                <a:tc>
                  <a:txBody>
                    <a:bodyPr/>
                    <a:lstStyle/>
                    <a:p>
                      <a:pPr>
                        <a:buNone/>
                      </a:pPr>
                      <a:r>
                        <a:rPr lang="en-VN" sz="1200" kern="100">
                          <a:effectLst/>
                        </a:rPr>
                        <a:t>Điều kiện kinh tế</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Khó khăn; sống nhờ trợ cấp người cao tuổi và hỗ trợ không thường xuyên từ hàng xóm</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4019495121"/>
                  </a:ext>
                </a:extLst>
              </a:tr>
              <a:tr h="375482">
                <a:tc>
                  <a:txBody>
                    <a:bodyPr/>
                    <a:lstStyle/>
                    <a:p>
                      <a:pPr>
                        <a:buNone/>
                      </a:pPr>
                      <a:r>
                        <a:rPr lang="en-VN" sz="1200" kern="100">
                          <a:effectLst/>
                        </a:rPr>
                        <a:t>Điều kiện nhà ở</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Phòng trọ nhỏ, chật hẹp, thiếu điều kiện an toàn cho người cao tuổi</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3661027135"/>
                  </a:ext>
                </a:extLst>
              </a:tr>
              <a:tr h="375482">
                <a:tc>
                  <a:txBody>
                    <a:bodyPr/>
                    <a:lstStyle/>
                    <a:p>
                      <a:pPr>
                        <a:buNone/>
                      </a:pPr>
                      <a:r>
                        <a:rPr lang="en-VN" sz="1200" kern="100">
                          <a:effectLst/>
                        </a:rPr>
                        <a:t>Nguồn hỗ trợ hiện có</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Điều dưỡng bệnh viện và hàng xóm hỗ trợ không thường xuyên</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2017930417"/>
                  </a:ext>
                </a:extLst>
              </a:tr>
              <a:tr h="381903">
                <a:tc>
                  <a:txBody>
                    <a:bodyPr/>
                    <a:lstStyle/>
                    <a:p>
                      <a:pPr>
                        <a:buNone/>
                      </a:pPr>
                      <a:r>
                        <a:rPr lang="en-VN" sz="1200" kern="100">
                          <a:effectLst/>
                        </a:rPr>
                        <a:t>Nhu cầu hỗ trợ trước mắt</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a:effectLst/>
                        </a:rPr>
                        <a:t>Chăm sóc cá nhân, hỗ trợ tâm lý, kết nối nguồn lực xã hội và chuẩn bị kế hoạch chăm sóc sau xuất viện</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4142457039"/>
                  </a:ext>
                </a:extLst>
              </a:tr>
              <a:tr h="381903">
                <a:tc>
                  <a:txBody>
                    <a:bodyPr/>
                    <a:lstStyle/>
                    <a:p>
                      <a:pPr>
                        <a:buNone/>
                      </a:pPr>
                      <a:r>
                        <a:rPr lang="en-VN" sz="1200" kern="100">
                          <a:effectLst/>
                        </a:rPr>
                        <a:t>Nguy cơ cần lưu ý</a:t>
                      </a:r>
                      <a:endParaRPr lang="en-VN" sz="11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tc>
                  <a:txBody>
                    <a:bodyPr/>
                    <a:lstStyle/>
                    <a:p>
                      <a:pPr>
                        <a:buNone/>
                      </a:pPr>
                      <a:r>
                        <a:rPr lang="en-VN" sz="1200" kern="100" dirty="0">
                          <a:effectLst/>
                        </a:rPr>
                        <a:t>Nguy cơ trầm cảm, tái nhập viện do thiếu người chăm sóc, gián đoạn điều trị vì khó khăn kinh tế</a:t>
                      </a:r>
                      <a:endParaRPr lang="en-V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2240" marR="62240" marT="0" marB="0"/>
                </a:tc>
                <a:extLst>
                  <a:ext uri="{0D108BD9-81ED-4DB2-BD59-A6C34878D82A}">
                    <a16:rowId xmlns:a16="http://schemas.microsoft.com/office/drawing/2014/main" val="45027461"/>
                  </a:ext>
                </a:extLst>
              </a:tr>
            </a:tbl>
          </a:graphicData>
        </a:graphic>
      </p:graphicFrame>
      <p:sp>
        <p:nvSpPr>
          <p:cNvPr id="7" name="TextBox 6">
            <a:extLst>
              <a:ext uri="{FF2B5EF4-FFF2-40B4-BE49-F238E27FC236}">
                <a16:creationId xmlns:a16="http://schemas.microsoft.com/office/drawing/2014/main" id="{F3428346-7A6B-D707-81E3-987EB232E5B5}"/>
              </a:ext>
            </a:extLst>
          </p:cNvPr>
          <p:cNvSpPr txBox="1"/>
          <p:nvPr/>
        </p:nvSpPr>
        <p:spPr>
          <a:xfrm>
            <a:off x="691869" y="514020"/>
            <a:ext cx="4572000" cy="307777"/>
          </a:xfrm>
          <a:prstGeom prst="rect">
            <a:avLst/>
          </a:prstGeom>
          <a:noFill/>
        </p:spPr>
        <p:txBody>
          <a:bodyPr wrap="square">
            <a:spAutoFit/>
          </a:bodyPr>
          <a:lstStyle/>
          <a:p>
            <a:pPr>
              <a:buNone/>
            </a:pPr>
            <a:r>
              <a:rPr lang="en-VN" sz="1400" b="1" dirty="0">
                <a:effectLst/>
                <a:latin typeface="+mn-lt"/>
                <a:ea typeface="Times New Roman" panose="02020603050405020304" pitchFamily="18" charset="0"/>
              </a:rPr>
              <a:t>III. ĐÁNH GIÁ </a:t>
            </a:r>
            <a:r>
              <a:rPr lang="en-US" sz="1400" b="1" dirty="0">
                <a:effectLst/>
                <a:latin typeface="+mn-lt"/>
                <a:ea typeface="Times New Roman" panose="02020603050405020304" pitchFamily="18" charset="0"/>
              </a:rPr>
              <a:t>SƠ BỘ </a:t>
            </a:r>
            <a:r>
              <a:rPr lang="en-VN" sz="1400" b="1" dirty="0">
                <a:effectLst/>
                <a:latin typeface="+mn-lt"/>
                <a:ea typeface="Times New Roman" panose="02020603050405020304" pitchFamily="18" charset="0"/>
              </a:rPr>
              <a:t>BAN ĐẦU</a:t>
            </a:r>
          </a:p>
        </p:txBody>
      </p:sp>
    </p:spTree>
    <p:extLst>
      <p:ext uri="{BB962C8B-B14F-4D97-AF65-F5344CB8AC3E}">
        <p14:creationId xmlns:p14="http://schemas.microsoft.com/office/powerpoint/2010/main" val="38187836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BB00E2-C30E-C0A9-D1E8-6CC52AC8D8D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61</a:t>
            </a:fld>
            <a:endParaRPr lang="en"/>
          </a:p>
        </p:txBody>
      </p:sp>
      <p:sp>
        <p:nvSpPr>
          <p:cNvPr id="6" name="TextBox 5">
            <a:extLst>
              <a:ext uri="{FF2B5EF4-FFF2-40B4-BE49-F238E27FC236}">
                <a16:creationId xmlns:a16="http://schemas.microsoft.com/office/drawing/2014/main" id="{FC0172F6-419D-E8A5-8F8A-C88E9756BF6E}"/>
              </a:ext>
            </a:extLst>
          </p:cNvPr>
          <p:cNvSpPr txBox="1"/>
          <p:nvPr/>
        </p:nvSpPr>
        <p:spPr>
          <a:xfrm>
            <a:off x="1278541" y="756005"/>
            <a:ext cx="7266647" cy="3046988"/>
          </a:xfrm>
          <a:prstGeom prst="rect">
            <a:avLst/>
          </a:prstGeom>
          <a:noFill/>
        </p:spPr>
        <p:txBody>
          <a:bodyPr wrap="square">
            <a:spAutoFit/>
          </a:bodyPr>
          <a:lstStyle/>
          <a:p>
            <a:pPr>
              <a:buNone/>
            </a:pPr>
            <a:r>
              <a:rPr lang="en-VN" sz="1600" b="1" dirty="0">
                <a:effectLst/>
                <a:latin typeface="+mn-lt"/>
                <a:ea typeface="Times New Roman" panose="02020603050405020304" pitchFamily="18" charset="0"/>
              </a:rPr>
              <a:t>IV. QUAN SÁT VÀ NHẬN ĐỊNH BAN ĐẦU CỦA NHÂN VIÊN </a:t>
            </a:r>
            <a:r>
              <a:rPr lang="en-US" sz="1600" b="1" dirty="0">
                <a:effectLst/>
                <a:latin typeface="+mn-lt"/>
                <a:ea typeface="Times New Roman" panose="02020603050405020304" pitchFamily="18" charset="0"/>
              </a:rPr>
              <a:t>CTXH</a:t>
            </a:r>
          </a:p>
          <a:p>
            <a:pPr>
              <a:buNone/>
            </a:pPr>
            <a:endParaRPr lang="en-VN" sz="1600" b="1" dirty="0">
              <a:effectLst/>
              <a:latin typeface="+mn-lt"/>
              <a:ea typeface="Times New Roman" panose="02020603050405020304" pitchFamily="18" charset="0"/>
            </a:endParaRPr>
          </a:p>
          <a:p>
            <a:pPr>
              <a:buNone/>
            </a:pPr>
            <a:r>
              <a:rPr lang="en-VN" sz="1600" dirty="0">
                <a:effectLst/>
                <a:latin typeface="+mn-lt"/>
                <a:ea typeface="Times New Roman" panose="02020603050405020304" pitchFamily="18" charset="0"/>
              </a:rPr>
              <a:t>Trong quá trình tiếp xúc, người bệnh tỉnh táo, nhận thức được tình trạng bệnh nhưng giao tiếp chậm và phát âm khó. Ông hợp tác trong trao đổi nhưng có biểu hiện lo âu khi nhắc đến vấn đề chăm sóc sau xuất viện. Người bệnh nhiều lần bày tỏ lo sợ trở thành gánh nặng cho con cái và thiếu người hỗ trợ lâu dài.</a:t>
            </a:r>
          </a:p>
          <a:p>
            <a:pPr>
              <a:buNone/>
            </a:pPr>
            <a:endParaRPr lang="en-VN" sz="1600" dirty="0">
              <a:effectLst/>
              <a:latin typeface="+mn-lt"/>
              <a:ea typeface="Times New Roman" panose="02020603050405020304" pitchFamily="18" charset="0"/>
            </a:endParaRPr>
          </a:p>
          <a:p>
            <a:pPr>
              <a:buNone/>
            </a:pPr>
            <a:r>
              <a:rPr lang="en-VN" sz="1600" dirty="0">
                <a:effectLst/>
                <a:latin typeface="+mn-lt"/>
                <a:ea typeface="Times New Roman" panose="02020603050405020304" pitchFamily="18" charset="0"/>
              </a:rPr>
              <a:t>Qua đánh giá ban đầu, đây là trường hợp người cao tuổi có nguy cơ tổn thương cao do đồng thời gặp khó khăn về sức khỏe, tâm lý, kinh tế và thiếu mạng lưới hỗ trợ xã hội. Trường hợp cần được đưa vào quy trình quản lý trường hợp để đánh giá toàn diện và xây dựng kế hoạch can thiệp liên ngành.</a:t>
            </a:r>
          </a:p>
        </p:txBody>
      </p:sp>
    </p:spTree>
    <p:extLst>
      <p:ext uri="{BB962C8B-B14F-4D97-AF65-F5344CB8AC3E}">
        <p14:creationId xmlns:p14="http://schemas.microsoft.com/office/powerpoint/2010/main" val="1088458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C2A842-5F9D-7D0D-9E0E-590C3FF744C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62</a:t>
            </a:fld>
            <a:endParaRPr lang="en"/>
          </a:p>
        </p:txBody>
      </p:sp>
      <p:sp>
        <p:nvSpPr>
          <p:cNvPr id="6" name="TextBox 5">
            <a:extLst>
              <a:ext uri="{FF2B5EF4-FFF2-40B4-BE49-F238E27FC236}">
                <a16:creationId xmlns:a16="http://schemas.microsoft.com/office/drawing/2014/main" id="{860B9B47-163B-432C-26BD-CB0DDD3CC627}"/>
              </a:ext>
            </a:extLst>
          </p:cNvPr>
          <p:cNvSpPr txBox="1"/>
          <p:nvPr/>
        </p:nvSpPr>
        <p:spPr>
          <a:xfrm>
            <a:off x="1145022" y="660910"/>
            <a:ext cx="7157405" cy="2308324"/>
          </a:xfrm>
          <a:prstGeom prst="rect">
            <a:avLst/>
          </a:prstGeom>
          <a:noFill/>
        </p:spPr>
        <p:txBody>
          <a:bodyPr wrap="square">
            <a:spAutoFit/>
          </a:bodyPr>
          <a:lstStyle/>
          <a:p>
            <a:pPr>
              <a:buNone/>
            </a:pPr>
            <a:r>
              <a:rPr lang="en-VN" sz="1600" b="1" dirty="0">
                <a:effectLst/>
                <a:latin typeface="+mn-lt"/>
                <a:ea typeface="Times New Roman" panose="02020603050405020304" pitchFamily="18" charset="0"/>
              </a:rPr>
              <a:t>V. ĐỀ XUẤT HỖ TRỢ BAN ĐẦU</a:t>
            </a:r>
          </a:p>
          <a:p>
            <a:pPr>
              <a:buNone/>
            </a:pPr>
            <a:endParaRPr lang="en-VN" sz="1600" b="1" dirty="0">
              <a:effectLst/>
              <a:latin typeface="+mn-lt"/>
              <a:ea typeface="Times New Roman" panose="02020603050405020304" pitchFamily="18" charset="0"/>
            </a:endParaRPr>
          </a:p>
          <a:p>
            <a:pPr marL="342900" lvl="0" indent="-342900">
              <a:buFont typeface="Wingdings" pitchFamily="2" charset="2"/>
              <a:buChar char="ü"/>
              <a:tabLst>
                <a:tab pos="457200" algn="l"/>
              </a:tabLst>
            </a:pPr>
            <a:r>
              <a:rPr lang="en-VN" sz="1600" dirty="0">
                <a:effectLst/>
                <a:latin typeface="+mn-lt"/>
                <a:ea typeface="Times New Roman" panose="02020603050405020304" pitchFamily="18" charset="0"/>
              </a:rPr>
              <a:t>Thực hiện đánh giá toàn diện về nhu cầu tâm lý – xã hội và khả năng tự chăm sóc của người bệnh.</a:t>
            </a:r>
          </a:p>
          <a:p>
            <a:pPr marL="342900" lvl="0" indent="-342900">
              <a:buFont typeface="Wingdings" pitchFamily="2" charset="2"/>
              <a:buChar char="ü"/>
              <a:tabLst>
                <a:tab pos="457200" algn="l"/>
              </a:tabLst>
            </a:pPr>
            <a:r>
              <a:rPr lang="en-VN" sz="1600" dirty="0">
                <a:effectLst/>
                <a:latin typeface="+mn-lt"/>
                <a:ea typeface="Times New Roman" panose="02020603050405020304" pitchFamily="18" charset="0"/>
              </a:rPr>
              <a:t>Phối hợp điều dưỡng hỗ trợ chăm sóc cá nhân trong thời gian nằm viện.</a:t>
            </a:r>
          </a:p>
          <a:p>
            <a:pPr marL="342900" lvl="0" indent="-342900">
              <a:buFont typeface="Wingdings" pitchFamily="2" charset="2"/>
              <a:buChar char="ü"/>
              <a:tabLst>
                <a:tab pos="457200" algn="l"/>
              </a:tabLst>
            </a:pPr>
            <a:r>
              <a:rPr lang="en-VN" sz="1600" dirty="0">
                <a:effectLst/>
                <a:latin typeface="+mn-lt"/>
                <a:ea typeface="Times New Roman" panose="02020603050405020304" pitchFamily="18" charset="0"/>
              </a:rPr>
              <a:t>Thực hiện tham vấn tâm lý nhằm giảm cảm giác lo âu và cô đơn.</a:t>
            </a:r>
          </a:p>
          <a:p>
            <a:pPr marL="342900" lvl="0" indent="-342900">
              <a:buFont typeface="Wingdings" pitchFamily="2" charset="2"/>
              <a:buChar char="ü"/>
              <a:tabLst>
                <a:tab pos="457200" algn="l"/>
              </a:tabLst>
            </a:pPr>
            <a:r>
              <a:rPr lang="en-VN" sz="1600" dirty="0">
                <a:effectLst/>
                <a:latin typeface="+mn-lt"/>
                <a:ea typeface="Times New Roman" panose="02020603050405020304" pitchFamily="18" charset="0"/>
              </a:rPr>
              <a:t>Kết nối nguồn lực hỗ trợ xã hội và dịch vụ dành cho người cao tuổi neo đơn.</a:t>
            </a:r>
          </a:p>
          <a:p>
            <a:pPr marL="342900" lvl="0" indent="-342900">
              <a:buFont typeface="Wingdings" pitchFamily="2" charset="2"/>
              <a:buChar char="ü"/>
              <a:tabLst>
                <a:tab pos="457200" algn="l"/>
              </a:tabLst>
            </a:pPr>
            <a:r>
              <a:rPr lang="en-VN" sz="1600" dirty="0">
                <a:effectLst/>
                <a:latin typeface="+mn-lt"/>
                <a:ea typeface="Times New Roman" panose="02020603050405020304" pitchFamily="18" charset="0"/>
              </a:rPr>
              <a:t>Xây dựng kế hoạch chăm sóc và hỗ trợ sau xuất viện.</a:t>
            </a:r>
          </a:p>
        </p:txBody>
      </p:sp>
      <p:sp>
        <p:nvSpPr>
          <p:cNvPr id="12" name="TextBox 11">
            <a:extLst>
              <a:ext uri="{FF2B5EF4-FFF2-40B4-BE49-F238E27FC236}">
                <a16:creationId xmlns:a16="http://schemas.microsoft.com/office/drawing/2014/main" id="{6F745316-7739-D19D-4EAA-722DB3AC8D4E}"/>
              </a:ext>
            </a:extLst>
          </p:cNvPr>
          <p:cNvSpPr txBox="1"/>
          <p:nvPr/>
        </p:nvSpPr>
        <p:spPr>
          <a:xfrm>
            <a:off x="780881" y="3154457"/>
            <a:ext cx="4572000" cy="738664"/>
          </a:xfrm>
          <a:prstGeom prst="rect">
            <a:avLst/>
          </a:prstGeom>
          <a:noFill/>
        </p:spPr>
        <p:txBody>
          <a:bodyPr wrap="square">
            <a:spAutoFit/>
          </a:bodyPr>
          <a:lstStyle/>
          <a:p>
            <a:r>
              <a:rPr lang="en-VN" sz="1400" kern="100" dirty="0">
                <a:effectLst/>
              </a:rPr>
              <a:t>Họ và tên nhân viên </a:t>
            </a:r>
            <a:r>
              <a:rPr lang="en-VN" kern="100" dirty="0"/>
              <a:t>CTXH:  Nguyễn Văn A</a:t>
            </a:r>
          </a:p>
          <a:p>
            <a:r>
              <a:rPr lang="en-VN" dirty="0"/>
              <a:t>Ngày lập phiếu :</a:t>
            </a:r>
          </a:p>
          <a:p>
            <a:endParaRPr lang="en-VN" kern="1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2FDB8CB-383F-9D6F-7722-38EC3CE5D72F}"/>
              </a:ext>
            </a:extLst>
          </p:cNvPr>
          <p:cNvSpPr txBox="1"/>
          <p:nvPr/>
        </p:nvSpPr>
        <p:spPr>
          <a:xfrm>
            <a:off x="1416106" y="3893121"/>
            <a:ext cx="2229356" cy="523220"/>
          </a:xfrm>
          <a:prstGeom prst="rect">
            <a:avLst/>
          </a:prstGeom>
          <a:noFill/>
        </p:spPr>
        <p:txBody>
          <a:bodyPr wrap="square">
            <a:spAutoFit/>
          </a:bodyPr>
          <a:lstStyle/>
          <a:p>
            <a:pPr algn="ctr">
              <a:buNone/>
            </a:pPr>
            <a:r>
              <a:rPr lang="en-VN" sz="1400" kern="100" dirty="0">
                <a:effectLst/>
              </a:rPr>
              <a:t>Người lập phiếu</a:t>
            </a:r>
          </a:p>
          <a:p>
            <a:pPr algn="ctr">
              <a:buNone/>
            </a:pPr>
            <a:r>
              <a:rPr lang="en-VN" sz="1400" kern="100" dirty="0">
                <a:effectLst/>
              </a:rPr>
              <a:t>(Ký, ghi rõ họ tên)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0C344B1-AFF2-C7FD-EA19-64FE7850588A}"/>
              </a:ext>
            </a:extLst>
          </p:cNvPr>
          <p:cNvSpPr txBox="1"/>
          <p:nvPr/>
        </p:nvSpPr>
        <p:spPr>
          <a:xfrm>
            <a:off x="5599687" y="3893121"/>
            <a:ext cx="2975845" cy="523220"/>
          </a:xfrm>
          <a:prstGeom prst="rect">
            <a:avLst/>
          </a:prstGeom>
          <a:noFill/>
        </p:spPr>
        <p:txBody>
          <a:bodyPr wrap="square">
            <a:spAutoFit/>
          </a:bodyPr>
          <a:lstStyle/>
          <a:p>
            <a:pPr algn="ctr">
              <a:buNone/>
            </a:pPr>
            <a:r>
              <a:rPr lang="en-VN" sz="1400" kern="100" dirty="0">
                <a:effectLst/>
              </a:rPr>
              <a:t>Xác nhận của phụ trách bộ phận</a:t>
            </a:r>
          </a:p>
          <a:p>
            <a:pPr algn="ctr">
              <a:buNone/>
            </a:pPr>
            <a:r>
              <a:rPr lang="en-VN" sz="1400" kern="100" dirty="0">
                <a:effectLst/>
              </a:rPr>
              <a:t>(Ký, ghi rõ họ tên)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25159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74207C-341A-51E2-E081-86C12FD5082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63</a:t>
            </a:fld>
            <a:endParaRPr lang="en"/>
          </a:p>
        </p:txBody>
      </p:sp>
      <p:graphicFrame>
        <p:nvGraphicFramePr>
          <p:cNvPr id="5" name="Table 4">
            <a:extLst>
              <a:ext uri="{FF2B5EF4-FFF2-40B4-BE49-F238E27FC236}">
                <a16:creationId xmlns:a16="http://schemas.microsoft.com/office/drawing/2014/main" id="{145047AE-F67F-219A-F8FE-24BB391545A2}"/>
              </a:ext>
            </a:extLst>
          </p:cNvPr>
          <p:cNvGraphicFramePr>
            <a:graphicFrameLocks noGrp="1"/>
          </p:cNvGraphicFramePr>
          <p:nvPr>
            <p:extLst>
              <p:ext uri="{D42A27DB-BD31-4B8C-83A1-F6EECF244321}">
                <p14:modId xmlns:p14="http://schemas.microsoft.com/office/powerpoint/2010/main" val="3925980708"/>
              </p:ext>
            </p:extLst>
          </p:nvPr>
        </p:nvGraphicFramePr>
        <p:xfrm>
          <a:off x="554306" y="388698"/>
          <a:ext cx="8035388" cy="4693920"/>
        </p:xfrm>
        <a:graphic>
          <a:graphicData uri="http://schemas.openxmlformats.org/drawingml/2006/table">
            <a:tbl>
              <a:tblPr firstRow="1" firstCol="1" bandRow="1">
                <a:tableStyleId>{5765BD47-0766-45DA-83AF-D0E9DCAA76E3}</a:tableStyleId>
              </a:tblPr>
              <a:tblGrid>
                <a:gridCol w="1217850">
                  <a:extLst>
                    <a:ext uri="{9D8B030D-6E8A-4147-A177-3AD203B41FA5}">
                      <a16:colId xmlns:a16="http://schemas.microsoft.com/office/drawing/2014/main" val="2037493529"/>
                    </a:ext>
                  </a:extLst>
                </a:gridCol>
                <a:gridCol w="2233402">
                  <a:extLst>
                    <a:ext uri="{9D8B030D-6E8A-4147-A177-3AD203B41FA5}">
                      <a16:colId xmlns:a16="http://schemas.microsoft.com/office/drawing/2014/main" val="3165659865"/>
                    </a:ext>
                  </a:extLst>
                </a:gridCol>
                <a:gridCol w="2575289">
                  <a:extLst>
                    <a:ext uri="{9D8B030D-6E8A-4147-A177-3AD203B41FA5}">
                      <a16:colId xmlns:a16="http://schemas.microsoft.com/office/drawing/2014/main" val="4051660738"/>
                    </a:ext>
                  </a:extLst>
                </a:gridCol>
                <a:gridCol w="2008847">
                  <a:extLst>
                    <a:ext uri="{9D8B030D-6E8A-4147-A177-3AD203B41FA5}">
                      <a16:colId xmlns:a16="http://schemas.microsoft.com/office/drawing/2014/main" val="1754632392"/>
                    </a:ext>
                  </a:extLst>
                </a:gridCol>
              </a:tblGrid>
              <a:tr h="162681">
                <a:tc>
                  <a:txBody>
                    <a:bodyPr/>
                    <a:lstStyle/>
                    <a:p>
                      <a:pPr algn="ctr">
                        <a:buNone/>
                      </a:pPr>
                      <a:r>
                        <a:rPr lang="en-VN" sz="1400" kern="100" dirty="0">
                          <a:effectLst/>
                        </a:rPr>
                        <a:t>Lĩnh vực đánh giá</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lgn="ctr">
                        <a:buNone/>
                      </a:pPr>
                      <a:r>
                        <a:rPr lang="en-VN" sz="1400" kern="100">
                          <a:effectLst/>
                        </a:rPr>
                        <a:t>Thông tin ghi nhận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lgn="ctr">
                        <a:buNone/>
                      </a:pPr>
                      <a:r>
                        <a:rPr lang="en-VN" sz="1400" kern="100">
                          <a:effectLst/>
                        </a:rPr>
                        <a:t>Phân tích chuyên môn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lgn="ctr">
                        <a:buNone/>
                      </a:pPr>
                      <a:r>
                        <a:rPr lang="en-VN" sz="1400" kern="100">
                          <a:effectLst/>
                        </a:rPr>
                        <a:t>Nhu cầu hỗ trợ</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extLst>
                  <a:ext uri="{0D108BD9-81ED-4DB2-BD59-A6C34878D82A}">
                    <a16:rowId xmlns:a16="http://schemas.microsoft.com/office/drawing/2014/main" val="1454272465"/>
                  </a:ext>
                </a:extLst>
              </a:tr>
              <a:tr h="976086">
                <a:tc>
                  <a:txBody>
                    <a:bodyPr/>
                    <a:lstStyle/>
                    <a:p>
                      <a:pPr>
                        <a:buNone/>
                      </a:pPr>
                      <a:r>
                        <a:rPr lang="en-VN" sz="1400" kern="100" dirty="0">
                          <a:effectLst/>
                        </a:rPr>
                        <a:t>1. Sức khỏe thể chất</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dirty="0">
                          <a:effectLst/>
                        </a:rPr>
                        <a:t>Người bệnh yếu liệt nửa người phải, nói khó, hạn chế vận động sau tai biến mạch máu não. Phụ thuộc nhiều vào điều dưỡng trong sinh hoạt hằng ngày.</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a:effectLst/>
                        </a:rPr>
                        <a:t>Người bệnh có nguy cơ té ngã, loét tỳ đè và suy giảm khả năng tự chăm sóc nếu không được phục hồi chức năng và hỗ trợ chăm sóc phù hợp.</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a:effectLst/>
                        </a:rPr>
                        <a:t>Hỗ trợ chăm sóc cá nhân; phục hồi chức năng; theo dõi dinh dưỡng và phòng ngừa biến chứng.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extLst>
                  <a:ext uri="{0D108BD9-81ED-4DB2-BD59-A6C34878D82A}">
                    <a16:rowId xmlns:a16="http://schemas.microsoft.com/office/drawing/2014/main" val="2214957258"/>
                  </a:ext>
                </a:extLst>
              </a:tr>
              <a:tr h="813405">
                <a:tc>
                  <a:txBody>
                    <a:bodyPr/>
                    <a:lstStyle/>
                    <a:p>
                      <a:pPr>
                        <a:buNone/>
                      </a:pPr>
                      <a:r>
                        <a:rPr lang="en-VN" sz="1400" kern="100">
                          <a:effectLst/>
                        </a:rPr>
                        <a:t>2. Tình trạng tâm lý</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dirty="0">
                          <a:effectLst/>
                        </a:rPr>
                        <a:t>Người bệnh thường xuyên lo lắng về khả năng hồi phục và cuộc sống sau xuất viện; có biểu hiện buồn bã, ít giao tiếp.</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dirty="0">
                          <a:effectLst/>
                        </a:rPr>
                        <a:t>Có nguy cơ căng thẳng tâm lý và trầm cảm ở người cao tuổi sau tai biến do mất khả năng lao động và thiếu người chăm sóc.</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a:effectLst/>
                        </a:rPr>
                        <a:t>Tham vấn tâm lý; hỗ trợ tinh thần; tăng cường giao tiếp và kết nối xã hội.</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extLst>
                  <a:ext uri="{0D108BD9-81ED-4DB2-BD59-A6C34878D82A}">
                    <a16:rowId xmlns:a16="http://schemas.microsoft.com/office/drawing/2014/main" val="2127943011"/>
                  </a:ext>
                </a:extLst>
              </a:tr>
              <a:tr h="813405">
                <a:tc>
                  <a:txBody>
                    <a:bodyPr/>
                    <a:lstStyle/>
                    <a:p>
                      <a:pPr>
                        <a:buNone/>
                      </a:pPr>
                      <a:r>
                        <a:rPr lang="en-VN" sz="1400" kern="100">
                          <a:effectLst/>
                        </a:rPr>
                        <a:t>3. Nhận thức và giao tiếp</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a:effectLst/>
                        </a:rPr>
                        <a:t>Người bệnh tỉnh táo, nhận thức được tình trạng bệnh nhưng giao tiếp chậm và phát âm khó.</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dirty="0">
                          <a:effectLst/>
                        </a:rPr>
                        <a:t>Khả năng nhận thức còn tốt nhưng khó khăn giao tiếp có thể ảnh hưởng đến việc diễn đạt nhu cầu và tham gia điều trị.</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dirty="0">
                          <a:effectLst/>
                        </a:rPr>
                        <a:t>Hỗ trợ giao tiếp; phối hợp phục hồi chức năng ngôn ngữ.</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extLst>
                  <a:ext uri="{0D108BD9-81ED-4DB2-BD59-A6C34878D82A}">
                    <a16:rowId xmlns:a16="http://schemas.microsoft.com/office/drawing/2014/main" val="3073226488"/>
                  </a:ext>
                </a:extLst>
              </a:tr>
              <a:tr h="650724">
                <a:tc>
                  <a:txBody>
                    <a:bodyPr/>
                    <a:lstStyle/>
                    <a:p>
                      <a:pPr>
                        <a:buNone/>
                      </a:pPr>
                      <a:r>
                        <a:rPr lang="en-VN" sz="1400" kern="100">
                          <a:effectLst/>
                        </a:rPr>
                        <a:t>4. Hoàn cảnh gia đình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a:effectLst/>
                        </a:rPr>
                        <a:t>Vợ đã mất; hai người con đi làm ăn xa, ít có điều kiện chăm sóc thường xuyên.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a:effectLst/>
                        </a:rPr>
                        <a:t>Người bệnh thiếu nguồn hỗ trợ gia đình trực tiếp trong quá trình điều trị và sau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tc>
                  <a:txBody>
                    <a:bodyPr/>
                    <a:lstStyle/>
                    <a:p>
                      <a:pPr>
                        <a:buNone/>
                      </a:pPr>
                      <a:r>
                        <a:rPr lang="en-VN" sz="1400" kern="100" dirty="0">
                          <a:effectLst/>
                        </a:rPr>
                        <a:t>Tăng cường kết nối gia đình; tìm kiếm nguồn hỗ trợ thay thế tại cộng đồng.</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1005" marR="61005" marT="0" marB="0"/>
                </a:tc>
                <a:extLst>
                  <a:ext uri="{0D108BD9-81ED-4DB2-BD59-A6C34878D82A}">
                    <a16:rowId xmlns:a16="http://schemas.microsoft.com/office/drawing/2014/main" val="290023102"/>
                  </a:ext>
                </a:extLst>
              </a:tr>
            </a:tbl>
          </a:graphicData>
        </a:graphic>
      </p:graphicFrame>
      <p:sp>
        <p:nvSpPr>
          <p:cNvPr id="6" name="TextBox 5">
            <a:extLst>
              <a:ext uri="{FF2B5EF4-FFF2-40B4-BE49-F238E27FC236}">
                <a16:creationId xmlns:a16="http://schemas.microsoft.com/office/drawing/2014/main" id="{A085C975-F64A-A4DC-D0F5-3B2EA5754633}"/>
              </a:ext>
            </a:extLst>
          </p:cNvPr>
          <p:cNvSpPr txBox="1"/>
          <p:nvPr/>
        </p:nvSpPr>
        <p:spPr>
          <a:xfrm>
            <a:off x="671639" y="145657"/>
            <a:ext cx="2937409" cy="307777"/>
          </a:xfrm>
          <a:prstGeom prst="rect">
            <a:avLst/>
          </a:prstGeom>
          <a:noFill/>
        </p:spPr>
        <p:txBody>
          <a:bodyPr wrap="square" rtlCol="0">
            <a:spAutoFit/>
          </a:bodyPr>
          <a:lstStyle/>
          <a:p>
            <a:r>
              <a:rPr lang="en-VN" dirty="0"/>
              <a:t>ĐÁNH GIÁ TOÀN DIỆN</a:t>
            </a:r>
          </a:p>
        </p:txBody>
      </p:sp>
    </p:spTree>
    <p:extLst>
      <p:ext uri="{BB962C8B-B14F-4D97-AF65-F5344CB8AC3E}">
        <p14:creationId xmlns:p14="http://schemas.microsoft.com/office/powerpoint/2010/main" val="1963421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3A99-D326-E646-CDB4-616C1198A7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BB1040-6571-1CD6-3900-5754BF6C377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64</a:t>
            </a:fld>
            <a:endParaRPr lang="en"/>
          </a:p>
        </p:txBody>
      </p:sp>
      <p:sp>
        <p:nvSpPr>
          <p:cNvPr id="6" name="TextBox 5">
            <a:extLst>
              <a:ext uri="{FF2B5EF4-FFF2-40B4-BE49-F238E27FC236}">
                <a16:creationId xmlns:a16="http://schemas.microsoft.com/office/drawing/2014/main" id="{49843D9E-F89F-C18D-5A78-4E24D5DA11E1}"/>
              </a:ext>
            </a:extLst>
          </p:cNvPr>
          <p:cNvSpPr txBox="1"/>
          <p:nvPr/>
        </p:nvSpPr>
        <p:spPr>
          <a:xfrm>
            <a:off x="671639" y="145657"/>
            <a:ext cx="2937409" cy="307777"/>
          </a:xfrm>
          <a:prstGeom prst="rect">
            <a:avLst/>
          </a:prstGeom>
          <a:noFill/>
        </p:spPr>
        <p:txBody>
          <a:bodyPr wrap="square" rtlCol="0">
            <a:spAutoFit/>
          </a:bodyPr>
          <a:lstStyle/>
          <a:p>
            <a:r>
              <a:rPr lang="en-VN" dirty="0"/>
              <a:t>ĐÁNH GIÁ TOÀN DIỆN</a:t>
            </a:r>
          </a:p>
        </p:txBody>
      </p:sp>
      <p:graphicFrame>
        <p:nvGraphicFramePr>
          <p:cNvPr id="3" name="Table 2">
            <a:extLst>
              <a:ext uri="{FF2B5EF4-FFF2-40B4-BE49-F238E27FC236}">
                <a16:creationId xmlns:a16="http://schemas.microsoft.com/office/drawing/2014/main" id="{933BC0DE-34B0-7BFB-E690-AD874F9CE5A5}"/>
              </a:ext>
            </a:extLst>
          </p:cNvPr>
          <p:cNvGraphicFramePr>
            <a:graphicFrameLocks noGrp="1"/>
          </p:cNvGraphicFramePr>
          <p:nvPr>
            <p:extLst>
              <p:ext uri="{D42A27DB-BD31-4B8C-83A1-F6EECF244321}">
                <p14:modId xmlns:p14="http://schemas.microsoft.com/office/powerpoint/2010/main" val="3370064760"/>
              </p:ext>
            </p:extLst>
          </p:nvPr>
        </p:nvGraphicFramePr>
        <p:xfrm>
          <a:off x="712788" y="574674"/>
          <a:ext cx="7718424" cy="4094429"/>
        </p:xfrm>
        <a:graphic>
          <a:graphicData uri="http://schemas.openxmlformats.org/drawingml/2006/table">
            <a:tbl>
              <a:tblPr firstRow="1" firstCol="1" bandRow="1">
                <a:tableStyleId>{5765BD47-0766-45DA-83AF-D0E9DCAA76E3}</a:tableStyleId>
              </a:tblPr>
              <a:tblGrid>
                <a:gridCol w="1391141">
                  <a:extLst>
                    <a:ext uri="{9D8B030D-6E8A-4147-A177-3AD203B41FA5}">
                      <a16:colId xmlns:a16="http://schemas.microsoft.com/office/drawing/2014/main" val="3825607582"/>
                    </a:ext>
                  </a:extLst>
                </a:gridCol>
                <a:gridCol w="2095837">
                  <a:extLst>
                    <a:ext uri="{9D8B030D-6E8A-4147-A177-3AD203B41FA5}">
                      <a16:colId xmlns:a16="http://schemas.microsoft.com/office/drawing/2014/main" val="515497577"/>
                    </a:ext>
                  </a:extLst>
                </a:gridCol>
                <a:gridCol w="2301840">
                  <a:extLst>
                    <a:ext uri="{9D8B030D-6E8A-4147-A177-3AD203B41FA5}">
                      <a16:colId xmlns:a16="http://schemas.microsoft.com/office/drawing/2014/main" val="4159307589"/>
                    </a:ext>
                  </a:extLst>
                </a:gridCol>
                <a:gridCol w="1929606">
                  <a:extLst>
                    <a:ext uri="{9D8B030D-6E8A-4147-A177-3AD203B41FA5}">
                      <a16:colId xmlns:a16="http://schemas.microsoft.com/office/drawing/2014/main" val="2471200342"/>
                    </a:ext>
                  </a:extLst>
                </a:gridCol>
              </a:tblGrid>
              <a:tr h="963395">
                <a:tc>
                  <a:txBody>
                    <a:bodyPr/>
                    <a:lstStyle/>
                    <a:p>
                      <a:pPr>
                        <a:buNone/>
                      </a:pPr>
                      <a:r>
                        <a:rPr lang="en-VN" sz="1400" kern="100" dirty="0">
                          <a:effectLst/>
                        </a:rPr>
                        <a:t>5. Điều kiện kinh tế</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Không còn khả năng lao động; sống dựa vào trợ cấp người cao tuổi và hỗ trợ từ hàng xóm.</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Hoàn cảnh kinh tế khó khăn ảnh hưởng đến khả năng duy trì điều trị và chăm sóc dài hạn.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Hỗ trợ an sinh xã hội; kết nối quỹ hỗ trợ và nguồn lực cộng đồng.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00087446"/>
                  </a:ext>
                </a:extLst>
              </a:tr>
              <a:tr h="1204244">
                <a:tc>
                  <a:txBody>
                    <a:bodyPr/>
                    <a:lstStyle/>
                    <a:p>
                      <a:pPr>
                        <a:buNone/>
                      </a:pPr>
                      <a:r>
                        <a:rPr lang="en-VN" sz="1400" kern="100" dirty="0">
                          <a:effectLst/>
                        </a:rPr>
                        <a:t>6. Điều kiện nhà ở và môi trường sống</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Sống trong phòng trọ nhỏ, chật hẹp; thiếu thiết bị hỗ trợ an toàn cho người cao tuổi.</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Môi trường sống hiện tại không phù hợp với tình trạng sức khỏe sau tai biến, làm tăng nguy cơ té ngã và tái nhập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Đánh giá an toàn nơi ở; hỗ trợ cải thiện điều kiện sinh hoạt; xem xét dịch vụ chăm sóc tại nhà.</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91630183"/>
                  </a:ext>
                </a:extLst>
              </a:tr>
              <a:tr h="963395">
                <a:tc>
                  <a:txBody>
                    <a:bodyPr/>
                    <a:lstStyle/>
                    <a:p>
                      <a:pPr>
                        <a:buNone/>
                      </a:pPr>
                      <a:r>
                        <a:rPr lang="en-VN" sz="1400" kern="100">
                          <a:effectLst/>
                        </a:rPr>
                        <a:t>7. Mạng lưới hỗ trợ xã hội</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Chủ yếu nhận hỗ trợ không thường xuyên từ hàng xóm và nhân viên y tế.</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Mạng lưới hỗ trợ xã hội hạn chế, nguy cơ cô lập xã hội cao.</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Kết nối Hội Người cao tuổi, chính quyền địa phương và dịch vụ hỗ trợ cộng đồng.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83787071"/>
                  </a:ext>
                </a:extLst>
              </a:tr>
              <a:tr h="963395">
                <a:tc>
                  <a:txBody>
                    <a:bodyPr/>
                    <a:lstStyle/>
                    <a:p>
                      <a:pPr>
                        <a:buNone/>
                      </a:pPr>
                      <a:r>
                        <a:rPr lang="en-VN" sz="1400" kern="100">
                          <a:effectLst/>
                        </a:rPr>
                        <a:t>8. Khả năng tự chăm sóc sau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Chưa có kế hoạch chăm sóc sau xuất viện; chưa xác định được người hỗ trợ lâu dài.</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Nguy cơ gián đoạn điều trị và tái nhập viện nếu thiếu kế hoạch hỗ trợ liên tục.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Xây dựng kế hoạch chăm sóc sau xuất viện; kết nối dịch vụ chăm sóc cộng đồng.</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593973422"/>
                  </a:ext>
                </a:extLst>
              </a:tr>
            </a:tbl>
          </a:graphicData>
        </a:graphic>
      </p:graphicFrame>
    </p:spTree>
    <p:extLst>
      <p:ext uri="{BB962C8B-B14F-4D97-AF65-F5344CB8AC3E}">
        <p14:creationId xmlns:p14="http://schemas.microsoft.com/office/powerpoint/2010/main" val="28051121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EA6033-C0D6-4A7F-EA89-7E1D373F912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65</a:t>
            </a:fld>
            <a:endParaRPr lang="en"/>
          </a:p>
        </p:txBody>
      </p:sp>
      <p:sp>
        <p:nvSpPr>
          <p:cNvPr id="6" name="TextBox 5">
            <a:extLst>
              <a:ext uri="{FF2B5EF4-FFF2-40B4-BE49-F238E27FC236}">
                <a16:creationId xmlns:a16="http://schemas.microsoft.com/office/drawing/2014/main" id="{55C0DCFF-FBD2-946C-C6A7-1D01F4579F90}"/>
              </a:ext>
            </a:extLst>
          </p:cNvPr>
          <p:cNvSpPr txBox="1"/>
          <p:nvPr/>
        </p:nvSpPr>
        <p:spPr>
          <a:xfrm>
            <a:off x="497660" y="450001"/>
            <a:ext cx="8492591" cy="1384995"/>
          </a:xfrm>
          <a:prstGeom prst="rect">
            <a:avLst/>
          </a:prstGeom>
          <a:noFill/>
        </p:spPr>
        <p:txBody>
          <a:bodyPr wrap="square">
            <a:spAutoFit/>
          </a:bodyPr>
          <a:lstStyle/>
          <a:p>
            <a:pPr>
              <a:buNone/>
            </a:pPr>
            <a:r>
              <a:rPr lang="en-VN" sz="1400" b="1" kern="1800" dirty="0">
                <a:effectLst/>
                <a:latin typeface="+mn-lt"/>
                <a:ea typeface="Times New Roman" panose="02020603050405020304" pitchFamily="18" charset="0"/>
              </a:rPr>
              <a:t>II. MỤC TIÊU CAN THIỆP</a:t>
            </a:r>
            <a:endParaRPr lang="en-VN" sz="1400" dirty="0">
              <a:effectLst/>
              <a:latin typeface="+mn-lt"/>
              <a:ea typeface="Times New Roman" panose="02020603050405020304" pitchFamily="18" charset="0"/>
            </a:endParaRPr>
          </a:p>
          <a:p>
            <a:pPr>
              <a:buNone/>
            </a:pPr>
            <a:r>
              <a:rPr lang="en-VN" sz="1400" b="1" dirty="0">
                <a:effectLst/>
                <a:latin typeface="+mn-lt"/>
                <a:ea typeface="Times New Roman" panose="02020603050405020304" pitchFamily="18" charset="0"/>
              </a:rPr>
              <a:t>1. Mục tiêu tổng quát</a:t>
            </a:r>
            <a:endParaRPr lang="en-VN" sz="1400" dirty="0">
              <a:effectLst/>
              <a:latin typeface="+mn-lt"/>
              <a:ea typeface="Times New Roman" panose="02020603050405020304" pitchFamily="18" charset="0"/>
            </a:endParaRPr>
          </a:p>
          <a:p>
            <a:pPr>
              <a:buNone/>
            </a:pPr>
            <a:r>
              <a:rPr lang="en-VN" sz="1400" dirty="0">
                <a:effectLst/>
                <a:latin typeface="+mn-lt"/>
                <a:ea typeface="Times New Roman" panose="02020603050405020304" pitchFamily="18" charset="0"/>
              </a:rPr>
              <a:t>Hỗ trợ ông Ngô Văn C. ổn định tâm lý, cải thiện khả năng tự chăm sóc, tăng cường phục hồi chức năng và kết nối các nguồn lực hỗ trợ nhằm bảo đảm điều kiện chăm sóc an toàn trong thời gian điều trị và sau xuất viện.</a:t>
            </a:r>
          </a:p>
          <a:p>
            <a:pPr>
              <a:buNone/>
            </a:pPr>
            <a:r>
              <a:rPr lang="en-VN" sz="1400" b="1" dirty="0">
                <a:effectLst/>
                <a:latin typeface="+mn-lt"/>
                <a:ea typeface="Times New Roman" panose="02020603050405020304" pitchFamily="18" charset="0"/>
              </a:rPr>
              <a:t>2. Mục tiêu cụ thể</a:t>
            </a:r>
            <a:endParaRPr lang="en-VN" sz="1400" dirty="0">
              <a:effectLst/>
              <a:latin typeface="+mn-lt"/>
              <a:ea typeface="Times New Roman" panose="02020603050405020304" pitchFamily="18" charset="0"/>
            </a:endParaRPr>
          </a:p>
        </p:txBody>
      </p:sp>
      <p:graphicFrame>
        <p:nvGraphicFramePr>
          <p:cNvPr id="7" name="Table 6">
            <a:extLst>
              <a:ext uri="{FF2B5EF4-FFF2-40B4-BE49-F238E27FC236}">
                <a16:creationId xmlns:a16="http://schemas.microsoft.com/office/drawing/2014/main" id="{2A2281D0-41C7-1BE3-972B-AC534C068157}"/>
              </a:ext>
            </a:extLst>
          </p:cNvPr>
          <p:cNvGraphicFramePr>
            <a:graphicFrameLocks noGrp="1"/>
          </p:cNvGraphicFramePr>
          <p:nvPr>
            <p:extLst>
              <p:ext uri="{D42A27DB-BD31-4B8C-83A1-F6EECF244321}">
                <p14:modId xmlns:p14="http://schemas.microsoft.com/office/powerpoint/2010/main" val="4081719850"/>
              </p:ext>
            </p:extLst>
          </p:nvPr>
        </p:nvGraphicFramePr>
        <p:xfrm>
          <a:off x="712788" y="1920635"/>
          <a:ext cx="7718424" cy="2682240"/>
        </p:xfrm>
        <a:graphic>
          <a:graphicData uri="http://schemas.openxmlformats.org/drawingml/2006/table">
            <a:tbl>
              <a:tblPr firstRow="1" firstCol="1" bandRow="1">
                <a:tableStyleId>{5765BD47-0766-45DA-83AF-D0E9DCAA76E3}</a:tableStyleId>
              </a:tblPr>
              <a:tblGrid>
                <a:gridCol w="581938">
                  <a:extLst>
                    <a:ext uri="{9D8B030D-6E8A-4147-A177-3AD203B41FA5}">
                      <a16:colId xmlns:a16="http://schemas.microsoft.com/office/drawing/2014/main" val="4032379853"/>
                    </a:ext>
                  </a:extLst>
                </a:gridCol>
                <a:gridCol w="4563678">
                  <a:extLst>
                    <a:ext uri="{9D8B030D-6E8A-4147-A177-3AD203B41FA5}">
                      <a16:colId xmlns:a16="http://schemas.microsoft.com/office/drawing/2014/main" val="1979568568"/>
                    </a:ext>
                  </a:extLst>
                </a:gridCol>
                <a:gridCol w="2572808">
                  <a:extLst>
                    <a:ext uri="{9D8B030D-6E8A-4147-A177-3AD203B41FA5}">
                      <a16:colId xmlns:a16="http://schemas.microsoft.com/office/drawing/2014/main" val="966119980"/>
                    </a:ext>
                  </a:extLst>
                </a:gridCol>
              </a:tblGrid>
              <a:tr h="0">
                <a:tc>
                  <a:txBody>
                    <a:bodyPr/>
                    <a:lstStyle/>
                    <a:p>
                      <a:pPr algn="ctr">
                        <a:buNone/>
                      </a:pPr>
                      <a:r>
                        <a:rPr lang="en-VN" sz="1200" kern="100">
                          <a:effectLst/>
                        </a:rPr>
                        <a:t>STT</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600" kern="100" dirty="0">
                          <a:effectLst/>
                        </a:rPr>
                        <a:t>Mục tiêu cụ thể</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600" kern="100">
                          <a:effectLst/>
                        </a:rPr>
                        <a:t>Thời gian dự kiến</a:t>
                      </a:r>
                      <a:endParaRPr lang="en-VN"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50894553"/>
                  </a:ext>
                </a:extLst>
              </a:tr>
              <a:tr h="0">
                <a:tc>
                  <a:txBody>
                    <a:bodyPr/>
                    <a:lstStyle/>
                    <a:p>
                      <a:pPr>
                        <a:buNone/>
                      </a:pPr>
                      <a:r>
                        <a:rPr lang="en-VN" sz="1200" kern="100">
                          <a:effectLst/>
                        </a:rPr>
                        <a:t>1</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dirty="0">
                          <a:effectLst/>
                        </a:rPr>
                        <a:t>Hỗ trợ chăm sóc cá nhân và bảo đảm nhu cầu sinh hoạt cơ bản trong thời gian nằm viện</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a:effectLst/>
                        </a:rPr>
                        <a:t>Trong suốt thời gian điều trị</a:t>
                      </a:r>
                      <a:endParaRPr lang="en-VN"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12013353"/>
                  </a:ext>
                </a:extLst>
              </a:tr>
              <a:tr h="0">
                <a:tc>
                  <a:txBody>
                    <a:bodyPr/>
                    <a:lstStyle/>
                    <a:p>
                      <a:pPr>
                        <a:buNone/>
                      </a:pPr>
                      <a:r>
                        <a:rPr lang="en-VN" sz="1200" kern="100">
                          <a:effectLst/>
                        </a:rPr>
                        <a:t>2</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dirty="0">
                          <a:effectLst/>
                        </a:rPr>
                        <a:t>Giảm cảm giác lo âu, cô đơn và tăng động lực phục hồi cho người bệnh</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a:effectLst/>
                        </a:rPr>
                        <a:t>Trong vòng 2–4 tuần</a:t>
                      </a:r>
                      <a:endParaRPr lang="en-VN"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5462012"/>
                  </a:ext>
                </a:extLst>
              </a:tr>
              <a:tr h="0">
                <a:tc>
                  <a:txBody>
                    <a:bodyPr/>
                    <a:lstStyle/>
                    <a:p>
                      <a:pPr>
                        <a:buNone/>
                      </a:pPr>
                      <a:r>
                        <a:rPr lang="en-VN" sz="1200" kern="100">
                          <a:effectLst/>
                        </a:rPr>
                        <a:t>3</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dirty="0">
                          <a:effectLst/>
                        </a:rPr>
                        <a:t>Tăng khả năng vận động và phục hồi chức năng cơ bản</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dirty="0">
                          <a:effectLst/>
                        </a:rPr>
                        <a:t>Trong vòng 1–2 tháng</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56978069"/>
                  </a:ext>
                </a:extLst>
              </a:tr>
              <a:tr h="0">
                <a:tc>
                  <a:txBody>
                    <a:bodyPr/>
                    <a:lstStyle/>
                    <a:p>
                      <a:pPr>
                        <a:buNone/>
                      </a:pPr>
                      <a:r>
                        <a:rPr lang="en-VN" sz="1200" kern="100">
                          <a:effectLst/>
                        </a:rPr>
                        <a:t>4</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a:effectLst/>
                        </a:rPr>
                        <a:t>Kết nối nguồn lực hỗ trợ xã hội và hỗ trợ tài chính phù hợp</a:t>
                      </a:r>
                      <a:endParaRPr lang="en-VN"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dirty="0">
                          <a:effectLst/>
                        </a:rPr>
                        <a:t>Trong vòng 2 tuần</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4458252"/>
                  </a:ext>
                </a:extLst>
              </a:tr>
              <a:tr h="0">
                <a:tc>
                  <a:txBody>
                    <a:bodyPr/>
                    <a:lstStyle/>
                    <a:p>
                      <a:pPr>
                        <a:buNone/>
                      </a:pPr>
                      <a:r>
                        <a:rPr lang="en-VN" sz="1200" kern="100">
                          <a:effectLst/>
                        </a:rPr>
                        <a:t>5</a:t>
                      </a:r>
                      <a:endParaRPr lang="en-V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a:effectLst/>
                        </a:rPr>
                        <a:t>Xây dựng kế hoạch chăm sóc và hỗ trợ sau xuất viện</a:t>
                      </a:r>
                      <a:endParaRPr lang="en-VN" sz="16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600" kern="100" dirty="0">
                          <a:effectLst/>
                        </a:rPr>
                        <a:t>Trước thời điểm xuất viện</a:t>
                      </a:r>
                      <a:endParaRPr lang="en-V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98086640"/>
                  </a:ext>
                </a:extLst>
              </a:tr>
            </a:tbl>
          </a:graphicData>
        </a:graphic>
      </p:graphicFrame>
    </p:spTree>
    <p:extLst>
      <p:ext uri="{BB962C8B-B14F-4D97-AF65-F5344CB8AC3E}">
        <p14:creationId xmlns:p14="http://schemas.microsoft.com/office/powerpoint/2010/main" val="34286227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253F40-27C6-F798-095F-85728A0EB1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66</a:t>
            </a:fld>
            <a:endParaRPr lang="en"/>
          </a:p>
        </p:txBody>
      </p:sp>
      <p:graphicFrame>
        <p:nvGraphicFramePr>
          <p:cNvPr id="5" name="Table 4">
            <a:extLst>
              <a:ext uri="{FF2B5EF4-FFF2-40B4-BE49-F238E27FC236}">
                <a16:creationId xmlns:a16="http://schemas.microsoft.com/office/drawing/2014/main" id="{D117F010-9731-0951-4207-D1E2CE834128}"/>
              </a:ext>
            </a:extLst>
          </p:cNvPr>
          <p:cNvGraphicFramePr>
            <a:graphicFrameLocks noGrp="1"/>
          </p:cNvGraphicFramePr>
          <p:nvPr>
            <p:extLst>
              <p:ext uri="{D42A27DB-BD31-4B8C-83A1-F6EECF244321}">
                <p14:modId xmlns:p14="http://schemas.microsoft.com/office/powerpoint/2010/main" val="1371222562"/>
              </p:ext>
            </p:extLst>
          </p:nvPr>
        </p:nvGraphicFramePr>
        <p:xfrm>
          <a:off x="420785" y="518170"/>
          <a:ext cx="8302430" cy="4407190"/>
        </p:xfrm>
        <a:graphic>
          <a:graphicData uri="http://schemas.openxmlformats.org/drawingml/2006/table">
            <a:tbl>
              <a:tblPr firstRow="1" firstCol="1" bandRow="1">
                <a:tableStyleId>{5765BD47-0766-45DA-83AF-D0E9DCAA76E3}</a:tableStyleId>
              </a:tblPr>
              <a:tblGrid>
                <a:gridCol w="1642684">
                  <a:extLst>
                    <a:ext uri="{9D8B030D-6E8A-4147-A177-3AD203B41FA5}">
                      <a16:colId xmlns:a16="http://schemas.microsoft.com/office/drawing/2014/main" val="108434261"/>
                    </a:ext>
                  </a:extLst>
                </a:gridCol>
                <a:gridCol w="2484255">
                  <a:extLst>
                    <a:ext uri="{9D8B030D-6E8A-4147-A177-3AD203B41FA5}">
                      <a16:colId xmlns:a16="http://schemas.microsoft.com/office/drawing/2014/main" val="1541997424"/>
                    </a:ext>
                  </a:extLst>
                </a:gridCol>
                <a:gridCol w="1076241">
                  <a:extLst>
                    <a:ext uri="{9D8B030D-6E8A-4147-A177-3AD203B41FA5}">
                      <a16:colId xmlns:a16="http://schemas.microsoft.com/office/drawing/2014/main" val="1413751383"/>
                    </a:ext>
                  </a:extLst>
                </a:gridCol>
                <a:gridCol w="938675">
                  <a:extLst>
                    <a:ext uri="{9D8B030D-6E8A-4147-A177-3AD203B41FA5}">
                      <a16:colId xmlns:a16="http://schemas.microsoft.com/office/drawing/2014/main" val="1199905445"/>
                    </a:ext>
                  </a:extLst>
                </a:gridCol>
                <a:gridCol w="2160575">
                  <a:extLst>
                    <a:ext uri="{9D8B030D-6E8A-4147-A177-3AD203B41FA5}">
                      <a16:colId xmlns:a16="http://schemas.microsoft.com/office/drawing/2014/main" val="73580024"/>
                    </a:ext>
                  </a:extLst>
                </a:gridCol>
              </a:tblGrid>
              <a:tr h="334039">
                <a:tc>
                  <a:txBody>
                    <a:bodyPr/>
                    <a:lstStyle/>
                    <a:p>
                      <a:pPr algn="ctr">
                        <a:buNone/>
                      </a:pPr>
                      <a:r>
                        <a:rPr lang="en-VN" sz="1400" kern="100" dirty="0">
                          <a:effectLst/>
                        </a:rPr>
                        <a:t>Vấn đề cần can thiệp</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lgn="ctr">
                        <a:buNone/>
                      </a:pPr>
                      <a:r>
                        <a:rPr lang="en-VN" sz="1400" kern="100">
                          <a:effectLst/>
                        </a:rPr>
                        <a:t>Hoạt động hỗ trợ</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lgn="ctr">
                        <a:buNone/>
                      </a:pPr>
                      <a:r>
                        <a:rPr lang="en-VN" sz="1400" kern="100" dirty="0">
                          <a:effectLst/>
                        </a:rPr>
                        <a:t>Người thực hiện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lgn="ctr">
                        <a:buNone/>
                      </a:pPr>
                      <a:r>
                        <a:rPr lang="en-VN" sz="1400" kern="100">
                          <a:effectLst/>
                        </a:rPr>
                        <a:t>Thời gian thực hiện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lgn="ctr">
                        <a:buNone/>
                      </a:pPr>
                      <a:r>
                        <a:rPr lang="en-VN" sz="1400" kern="100">
                          <a:effectLst/>
                        </a:rPr>
                        <a:t>Kết quả mong đợi</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717281560"/>
                  </a:ext>
                </a:extLst>
              </a:tr>
              <a:tr h="668078">
                <a:tc>
                  <a:txBody>
                    <a:bodyPr/>
                    <a:lstStyle/>
                    <a:p>
                      <a:pPr>
                        <a:buNone/>
                      </a:pPr>
                      <a:r>
                        <a:rPr lang="en-VN" sz="1400" kern="100" dirty="0">
                          <a:effectLst/>
                        </a:rPr>
                        <a:t>NB phụ thuộc nhiều trong sinh hoạt hằng ngày</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Phối hợp điều dưỡng xây dựng lịch chăm sóc cá nhân và hỗ trợ sinh hoạt hằng ngày</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Nhân viên CTXH, điều dưỡng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Hằng ngày</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Người bệnh được chăm sóc đầy đủ, an toàn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450552166"/>
                  </a:ext>
                </a:extLst>
              </a:tr>
              <a:tr h="668078">
                <a:tc>
                  <a:txBody>
                    <a:bodyPr/>
                    <a:lstStyle/>
                    <a:p>
                      <a:pPr>
                        <a:buNone/>
                      </a:pPr>
                      <a:r>
                        <a:rPr lang="en-VN" sz="1400" kern="100">
                          <a:effectLst/>
                        </a:rPr>
                        <a:t>Lo âu, cô đơn và thiếu hỗ trợ tinh thần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Thực hiện tham vấn tâm lý định kỳ; hỗ trợ giao tiếp và động viên tinh thần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Nhân viên CTXH</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1 buổi/tuần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Người bệnh giảm lo âu, hợp tác điều trị tốt hơn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383733910"/>
                  </a:ext>
                </a:extLst>
              </a:tr>
              <a:tr h="501059">
                <a:tc>
                  <a:txBody>
                    <a:bodyPr/>
                    <a:lstStyle/>
                    <a:p>
                      <a:pPr>
                        <a:buNone/>
                      </a:pPr>
                      <a:r>
                        <a:rPr lang="en-VN" sz="1400" kern="100" dirty="0">
                          <a:effectLst/>
                        </a:rPr>
                        <a:t>Hạn chế vận động sau tai biến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Phối hợp khoa Phục hồi chức năng hỗ trợ tập vận động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Kỹ thuật viên PHCN, điều dưỡng</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Theo lịch điều trị</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Người bệnh cải thiện khả năng vận động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3496673824"/>
                  </a:ext>
                </a:extLst>
              </a:tr>
              <a:tr h="668078">
                <a:tc>
                  <a:txBody>
                    <a:bodyPr/>
                    <a:lstStyle/>
                    <a:p>
                      <a:pPr>
                        <a:buNone/>
                      </a:pPr>
                      <a:r>
                        <a:rPr lang="en-VN" sz="1400" kern="100">
                          <a:effectLst/>
                        </a:rPr>
                        <a:t>Khó khăn kinh tế và thiếu nguồn lực hỗ trợ</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Liên hệ quỹ hỗ trợ người bệnh khó khăn và Hội Người cao tuổi địa phương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Nhân viên CTXH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Trong 2 tuần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Người bệnh được hỗ trợ một phần chi phí và nhu yếu phẩm</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2388993595"/>
                  </a:ext>
                </a:extLst>
              </a:tr>
              <a:tr h="668078">
                <a:tc>
                  <a:txBody>
                    <a:bodyPr/>
                    <a:lstStyle/>
                    <a:p>
                      <a:pPr>
                        <a:buNone/>
                      </a:pPr>
                      <a:r>
                        <a:rPr lang="en-VN" sz="1400" kern="100">
                          <a:effectLst/>
                        </a:rPr>
                        <a:t>Thiếu kế hoạch chăm sóc sau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Đánh giá điều kiện nơi ở; liên hệ gia đình và chính quyền địa phương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Nhân viên CTXH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Trước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Có kế hoạch hỗ trợ và chăm sóc phù hợp sau xuất viện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4246482499"/>
                  </a:ext>
                </a:extLst>
              </a:tr>
              <a:tr h="668078">
                <a:tc>
                  <a:txBody>
                    <a:bodyPr/>
                    <a:lstStyle/>
                    <a:p>
                      <a:pPr>
                        <a:buNone/>
                      </a:pPr>
                      <a:r>
                        <a:rPr lang="en-VN" sz="1400" kern="100">
                          <a:effectLst/>
                        </a:rPr>
                        <a:t>Nguy cơ tái nhập viện do thiếu người chăm sóc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Kết nối dịch vụ chăm sóc tại nhà và hướng dẫn gia đình theo dõi sức khỏe</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Nhân viên CTXH, địa phương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a:effectLst/>
                        </a:rPr>
                        <a:t>Trước và sau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tc>
                  <a:txBody>
                    <a:bodyPr/>
                    <a:lstStyle/>
                    <a:p>
                      <a:pPr>
                        <a:buNone/>
                      </a:pPr>
                      <a:r>
                        <a:rPr lang="en-VN" sz="1400" kern="100" dirty="0">
                          <a:effectLst/>
                        </a:rPr>
                        <a:t>Giảm nguy cơ tái nhập viện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244" marR="51244" marT="0" marB="0"/>
                </a:tc>
                <a:extLst>
                  <a:ext uri="{0D108BD9-81ED-4DB2-BD59-A6C34878D82A}">
                    <a16:rowId xmlns:a16="http://schemas.microsoft.com/office/drawing/2014/main" val="740295566"/>
                  </a:ext>
                </a:extLst>
              </a:tr>
            </a:tbl>
          </a:graphicData>
        </a:graphic>
      </p:graphicFrame>
      <p:sp>
        <p:nvSpPr>
          <p:cNvPr id="6" name="TextBox 5">
            <a:extLst>
              <a:ext uri="{FF2B5EF4-FFF2-40B4-BE49-F238E27FC236}">
                <a16:creationId xmlns:a16="http://schemas.microsoft.com/office/drawing/2014/main" id="{50232EB5-EC08-64E3-B372-1582DB795F98}"/>
              </a:ext>
            </a:extLst>
          </p:cNvPr>
          <p:cNvSpPr txBox="1"/>
          <p:nvPr/>
        </p:nvSpPr>
        <p:spPr>
          <a:xfrm>
            <a:off x="622152" y="210393"/>
            <a:ext cx="2132315" cy="307777"/>
          </a:xfrm>
          <a:prstGeom prst="rect">
            <a:avLst/>
          </a:prstGeom>
          <a:noFill/>
        </p:spPr>
        <p:txBody>
          <a:bodyPr wrap="none" rtlCol="0">
            <a:spAutoFit/>
          </a:bodyPr>
          <a:lstStyle/>
          <a:p>
            <a:r>
              <a:rPr lang="en-VN" dirty="0"/>
              <a:t>KẾ HOẠCH CAN THIỆP</a:t>
            </a:r>
          </a:p>
        </p:txBody>
      </p:sp>
    </p:spTree>
    <p:extLst>
      <p:ext uri="{BB962C8B-B14F-4D97-AF65-F5344CB8AC3E}">
        <p14:creationId xmlns:p14="http://schemas.microsoft.com/office/powerpoint/2010/main" val="20347163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C699FD-D392-D185-89E7-AEBBBA28751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67</a:t>
            </a:fld>
            <a:endParaRPr lang="en"/>
          </a:p>
        </p:txBody>
      </p:sp>
      <p:sp>
        <p:nvSpPr>
          <p:cNvPr id="6" name="TextBox 5">
            <a:extLst>
              <a:ext uri="{FF2B5EF4-FFF2-40B4-BE49-F238E27FC236}">
                <a16:creationId xmlns:a16="http://schemas.microsoft.com/office/drawing/2014/main" id="{8966CBD1-EF1D-F910-FCFF-14BE8F7A01C4}"/>
              </a:ext>
            </a:extLst>
          </p:cNvPr>
          <p:cNvSpPr txBox="1"/>
          <p:nvPr/>
        </p:nvSpPr>
        <p:spPr>
          <a:xfrm>
            <a:off x="538120" y="207025"/>
            <a:ext cx="4572000" cy="307777"/>
          </a:xfrm>
          <a:prstGeom prst="rect">
            <a:avLst/>
          </a:prstGeom>
          <a:noFill/>
        </p:spPr>
        <p:txBody>
          <a:bodyPr wrap="square">
            <a:spAutoFit/>
          </a:bodyPr>
          <a:lstStyle/>
          <a:p>
            <a:r>
              <a:rPr lang="en-VN" sz="1400" b="1" kern="1800" dirty="0">
                <a:effectLst/>
                <a:latin typeface="+mn-lt"/>
                <a:ea typeface="Times New Roman" panose="02020603050405020304" pitchFamily="18" charset="0"/>
              </a:rPr>
              <a:t>GHI CHÉP TIẾN TRÌNH THỰC HIỆN CAN THIỆP</a:t>
            </a:r>
            <a:r>
              <a:rPr lang="en-VN" dirty="0">
                <a:effectLst/>
                <a:latin typeface="+mn-lt"/>
              </a:rPr>
              <a:t> </a:t>
            </a:r>
            <a:endParaRPr lang="en-VN" dirty="0">
              <a:latin typeface="+mn-lt"/>
            </a:endParaRPr>
          </a:p>
        </p:txBody>
      </p:sp>
      <p:graphicFrame>
        <p:nvGraphicFramePr>
          <p:cNvPr id="7" name="Table 6">
            <a:extLst>
              <a:ext uri="{FF2B5EF4-FFF2-40B4-BE49-F238E27FC236}">
                <a16:creationId xmlns:a16="http://schemas.microsoft.com/office/drawing/2014/main" id="{A95A5F0E-FB4E-B870-A435-9C9904355440}"/>
              </a:ext>
            </a:extLst>
          </p:cNvPr>
          <p:cNvGraphicFramePr>
            <a:graphicFrameLocks noGrp="1"/>
          </p:cNvGraphicFramePr>
          <p:nvPr>
            <p:extLst>
              <p:ext uri="{D42A27DB-BD31-4B8C-83A1-F6EECF244321}">
                <p14:modId xmlns:p14="http://schemas.microsoft.com/office/powerpoint/2010/main" val="2569049512"/>
              </p:ext>
            </p:extLst>
          </p:nvPr>
        </p:nvGraphicFramePr>
        <p:xfrm>
          <a:off x="538120" y="610359"/>
          <a:ext cx="8302428" cy="4085771"/>
        </p:xfrm>
        <a:graphic>
          <a:graphicData uri="http://schemas.openxmlformats.org/drawingml/2006/table">
            <a:tbl>
              <a:tblPr firstRow="1" firstCol="1" bandRow="1">
                <a:tableStyleId>{5765BD47-0766-45DA-83AF-D0E9DCAA76E3}</a:tableStyleId>
              </a:tblPr>
              <a:tblGrid>
                <a:gridCol w="606903">
                  <a:extLst>
                    <a:ext uri="{9D8B030D-6E8A-4147-A177-3AD203B41FA5}">
                      <a16:colId xmlns:a16="http://schemas.microsoft.com/office/drawing/2014/main" val="2498483385"/>
                    </a:ext>
                  </a:extLst>
                </a:gridCol>
                <a:gridCol w="962952">
                  <a:extLst>
                    <a:ext uri="{9D8B030D-6E8A-4147-A177-3AD203B41FA5}">
                      <a16:colId xmlns:a16="http://schemas.microsoft.com/office/drawing/2014/main" val="806837551"/>
                    </a:ext>
                  </a:extLst>
                </a:gridCol>
                <a:gridCol w="768743">
                  <a:extLst>
                    <a:ext uri="{9D8B030D-6E8A-4147-A177-3AD203B41FA5}">
                      <a16:colId xmlns:a16="http://schemas.microsoft.com/office/drawing/2014/main" val="1032122537"/>
                    </a:ext>
                  </a:extLst>
                </a:gridCol>
                <a:gridCol w="3196354">
                  <a:extLst>
                    <a:ext uri="{9D8B030D-6E8A-4147-A177-3AD203B41FA5}">
                      <a16:colId xmlns:a16="http://schemas.microsoft.com/office/drawing/2014/main" val="2464740578"/>
                    </a:ext>
                  </a:extLst>
                </a:gridCol>
                <a:gridCol w="1383738">
                  <a:extLst>
                    <a:ext uri="{9D8B030D-6E8A-4147-A177-3AD203B41FA5}">
                      <a16:colId xmlns:a16="http://schemas.microsoft.com/office/drawing/2014/main" val="1302981457"/>
                    </a:ext>
                  </a:extLst>
                </a:gridCol>
                <a:gridCol w="1383738">
                  <a:extLst>
                    <a:ext uri="{9D8B030D-6E8A-4147-A177-3AD203B41FA5}">
                      <a16:colId xmlns:a16="http://schemas.microsoft.com/office/drawing/2014/main" val="4233957741"/>
                    </a:ext>
                  </a:extLst>
                </a:gridCol>
              </a:tblGrid>
              <a:tr h="244021">
                <a:tc>
                  <a:txBody>
                    <a:bodyPr/>
                    <a:lstStyle/>
                    <a:p>
                      <a:pPr algn="ctr">
                        <a:buNone/>
                      </a:pPr>
                      <a:r>
                        <a:rPr lang="en-VN" sz="1400" kern="100" dirty="0">
                          <a:effectLst/>
                        </a:rPr>
                        <a:t>Ngày </a:t>
                      </a:r>
                    </a:p>
                    <a:p>
                      <a:pPr algn="ctr">
                        <a:buNone/>
                      </a:pPr>
                      <a:r>
                        <a:rPr lang="en-VN" sz="1400" kern="100" dirty="0">
                          <a:effectLst/>
                        </a:rPr>
                        <a:t>thực hiện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lgn="ctr">
                        <a:buNone/>
                      </a:pPr>
                      <a:r>
                        <a:rPr lang="en-VN" sz="1400" kern="100">
                          <a:effectLst/>
                        </a:rPr>
                        <a:t>Nội dung can thiệp</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lgn="ctr">
                        <a:buNone/>
                      </a:pPr>
                      <a:r>
                        <a:rPr lang="en-VN" sz="1400" kern="100">
                          <a:effectLst/>
                        </a:rPr>
                        <a:t>Người thực hiện/phối hợp</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lgn="ctr">
                        <a:buNone/>
                      </a:pPr>
                      <a:r>
                        <a:rPr lang="en-VN" sz="1400" kern="100">
                          <a:effectLst/>
                        </a:rPr>
                        <a:t>Diễn biến và nội dung ghi nhận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lgn="ctr">
                        <a:buNone/>
                      </a:pPr>
                      <a:r>
                        <a:rPr lang="en-VN" sz="1400" kern="100">
                          <a:effectLst/>
                        </a:rPr>
                        <a:t>Kết quả bước đầu</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lgn="ctr">
                        <a:buNone/>
                      </a:pPr>
                      <a:r>
                        <a:rPr lang="en-VN" sz="1400" kern="100">
                          <a:effectLst/>
                        </a:rPr>
                        <a:t>Hướng xử lý tiếp theo</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extLst>
                  <a:ext uri="{0D108BD9-81ED-4DB2-BD59-A6C34878D82A}">
                    <a16:rowId xmlns:a16="http://schemas.microsoft.com/office/drawing/2014/main" val="2126632805"/>
                  </a:ext>
                </a:extLst>
              </a:tr>
              <a:tr h="1952171">
                <a:tc>
                  <a:txBody>
                    <a:bodyPr/>
                    <a:lstStyle/>
                    <a:p>
                      <a:pPr>
                        <a:buNone/>
                      </a:pPr>
                      <a:r>
                        <a:rPr lang="en-VN" sz="1400" kern="100">
                          <a:effectLst/>
                        </a:rPr>
                        <a:t>18/07/2025</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dirty="0">
                          <a:effectLst/>
                        </a:rPr>
                        <a:t>Tiếp xúc và hỗ trợ tâm lý ban đầu</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dirty="0">
                          <a:effectLst/>
                        </a:rPr>
                        <a:t>Nhân viên CTXH</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dirty="0">
                          <a:effectLst/>
                        </a:rPr>
                        <a:t>Người bệnh tỉnh táo nhưng giao tiếp chậm, có biểu hiện lo lắng về khả năng hồi phục và cuộc sống sau xuất viện. Ông chia sẻ lo sợ trở thành gánh nặng cho con cái. Nhân viên CTXH thực hiện lắng nghe, động viên và giải thích về kế hoạch hỗ trợ của bệnh viện.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dirty="0">
                          <a:effectLst/>
                        </a:rPr>
                        <a:t>Người bệnh hợp tác trao đổi, giảm căng thẳng trong buổi làm việc.</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a:effectLst/>
                        </a:rPr>
                        <a:t>Tiếp tục tham vấn tâm lý định kỳ và theo dõi trạng thái cảm xúc.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extLst>
                  <a:ext uri="{0D108BD9-81ED-4DB2-BD59-A6C34878D82A}">
                    <a16:rowId xmlns:a16="http://schemas.microsoft.com/office/drawing/2014/main" val="138408191"/>
                  </a:ext>
                </a:extLst>
              </a:tr>
              <a:tr h="1220107">
                <a:tc>
                  <a:txBody>
                    <a:bodyPr/>
                    <a:lstStyle/>
                    <a:p>
                      <a:pPr>
                        <a:buNone/>
                      </a:pPr>
                      <a:r>
                        <a:rPr lang="en-VN" sz="1400" kern="100">
                          <a:effectLst/>
                        </a:rPr>
                        <a:t>19/07/2025</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a:effectLst/>
                        </a:rPr>
                        <a:t>Phối hợp điều dưỡng hỗ trợ chăm sóc cá nhân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a:effectLst/>
                        </a:rPr>
                        <a:t>Điều dưỡng và nhân viên CTXH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a:effectLst/>
                        </a:rPr>
                        <a:t>Điều dưỡng hỗ trợ ăn uống, vệ sinh cá nhân và thay đổi tư thế nằm cho người bệnh. Nhân viên CTXH trao đổi với điều dưỡng về nhu cầu chăm sóc lâu dài của ông 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dirty="0">
                          <a:effectLst/>
                        </a:rPr>
                        <a:t>Người bệnh được chăm sóc đầy đủ, tinh thần ổn định hơn.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tc>
                  <a:txBody>
                    <a:bodyPr/>
                    <a:lstStyle/>
                    <a:p>
                      <a:pPr>
                        <a:buNone/>
                      </a:pPr>
                      <a:r>
                        <a:rPr lang="en-VN" sz="1400" kern="100" dirty="0">
                          <a:effectLst/>
                        </a:rPr>
                        <a:t>Theo dõi nguy cơ loét tỳ đè và khả năng tự phục vụ.</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45754" marR="45754" marT="0" marB="0"/>
                </a:tc>
                <a:extLst>
                  <a:ext uri="{0D108BD9-81ED-4DB2-BD59-A6C34878D82A}">
                    <a16:rowId xmlns:a16="http://schemas.microsoft.com/office/drawing/2014/main" val="2773888598"/>
                  </a:ext>
                </a:extLst>
              </a:tr>
            </a:tbl>
          </a:graphicData>
        </a:graphic>
      </p:graphicFrame>
    </p:spTree>
    <p:extLst>
      <p:ext uri="{BB962C8B-B14F-4D97-AF65-F5344CB8AC3E}">
        <p14:creationId xmlns:p14="http://schemas.microsoft.com/office/powerpoint/2010/main" val="2260504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5D98E3-2494-3452-7052-DAB95754811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68</a:t>
            </a:fld>
            <a:endParaRPr lang="en"/>
          </a:p>
        </p:txBody>
      </p:sp>
      <p:graphicFrame>
        <p:nvGraphicFramePr>
          <p:cNvPr id="5" name="Table 4">
            <a:extLst>
              <a:ext uri="{FF2B5EF4-FFF2-40B4-BE49-F238E27FC236}">
                <a16:creationId xmlns:a16="http://schemas.microsoft.com/office/drawing/2014/main" id="{6C02669A-B12C-D471-E9F2-9A89AD3AC2E3}"/>
              </a:ext>
            </a:extLst>
          </p:cNvPr>
          <p:cNvGraphicFramePr>
            <a:graphicFrameLocks noGrp="1"/>
          </p:cNvGraphicFramePr>
          <p:nvPr>
            <p:extLst>
              <p:ext uri="{D42A27DB-BD31-4B8C-83A1-F6EECF244321}">
                <p14:modId xmlns:p14="http://schemas.microsoft.com/office/powerpoint/2010/main" val="1300439967"/>
              </p:ext>
            </p:extLst>
          </p:nvPr>
        </p:nvGraphicFramePr>
        <p:xfrm>
          <a:off x="712788" y="844274"/>
          <a:ext cx="7718424" cy="3122647"/>
        </p:xfrm>
        <a:graphic>
          <a:graphicData uri="http://schemas.openxmlformats.org/drawingml/2006/table">
            <a:tbl>
              <a:tblPr firstRow="1" firstCol="1" bandRow="1">
                <a:tableStyleId>{5765BD47-0766-45DA-83AF-D0E9DCAA76E3}</a:tableStyleId>
              </a:tblPr>
              <a:tblGrid>
                <a:gridCol w="2346001">
                  <a:extLst>
                    <a:ext uri="{9D8B030D-6E8A-4147-A177-3AD203B41FA5}">
                      <a16:colId xmlns:a16="http://schemas.microsoft.com/office/drawing/2014/main" val="973092553"/>
                    </a:ext>
                  </a:extLst>
                </a:gridCol>
                <a:gridCol w="5372423">
                  <a:extLst>
                    <a:ext uri="{9D8B030D-6E8A-4147-A177-3AD203B41FA5}">
                      <a16:colId xmlns:a16="http://schemas.microsoft.com/office/drawing/2014/main" val="2588344557"/>
                    </a:ext>
                  </a:extLst>
                </a:gridCol>
              </a:tblGrid>
              <a:tr h="402709">
                <a:tc>
                  <a:txBody>
                    <a:bodyPr/>
                    <a:lstStyle/>
                    <a:p>
                      <a:pPr algn="ctr">
                        <a:buNone/>
                      </a:pPr>
                      <a:r>
                        <a:rPr lang="en-VN" sz="1400" kern="100" dirty="0">
                          <a:effectLst/>
                        </a:rPr>
                        <a:t>Nội dung</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buNone/>
                      </a:pPr>
                      <a:r>
                        <a:rPr lang="en-VN" sz="1400" kern="100" dirty="0">
                          <a:effectLst/>
                        </a:rPr>
                        <a:t>Thông tin ghi nhận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70818002"/>
                  </a:ext>
                </a:extLst>
              </a:tr>
              <a:tr h="402709">
                <a:tc>
                  <a:txBody>
                    <a:bodyPr/>
                    <a:lstStyle/>
                    <a:p>
                      <a:pPr>
                        <a:buNone/>
                      </a:pPr>
                      <a:r>
                        <a:rPr lang="en-VN" sz="1400" kern="100" dirty="0">
                          <a:effectLst/>
                        </a:rPr>
                        <a:t>Ngày thực hiện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VN" sz="1400" kern="100" dirty="0">
                          <a:effectLst/>
                        </a:rPr>
                        <a:t>20/07/2025</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04546626"/>
                  </a:ext>
                </a:extLst>
              </a:tr>
              <a:tr h="402709">
                <a:tc>
                  <a:txBody>
                    <a:bodyPr/>
                    <a:lstStyle/>
                    <a:p>
                      <a:pPr>
                        <a:buNone/>
                      </a:pPr>
                      <a:r>
                        <a:rPr lang="en-VN" sz="1400" kern="100" dirty="0">
                          <a:effectLst/>
                        </a:rPr>
                        <a:t>Nội dung can thiệp</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VN" sz="1400" kern="100" dirty="0">
                          <a:effectLst/>
                        </a:rPr>
                        <a:t>Làm việc với gia đình người bệnh</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21990229"/>
                  </a:ext>
                </a:extLst>
              </a:tr>
              <a:tr h="402709">
                <a:tc>
                  <a:txBody>
                    <a:bodyPr/>
                    <a:lstStyle/>
                    <a:p>
                      <a:pPr>
                        <a:buNone/>
                      </a:pPr>
                      <a:r>
                        <a:rPr lang="en-VN" sz="1400" kern="100">
                          <a:effectLst/>
                        </a:rPr>
                        <a:t>Người thực hiện/phối hợp</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VN" sz="1400" kern="100" dirty="0">
                          <a:effectLst/>
                        </a:rPr>
                        <a:t>Nhân viên CTXH</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48484317"/>
                  </a:ext>
                </a:extLst>
              </a:tr>
              <a:tr h="1511811">
                <a:tc>
                  <a:txBody>
                    <a:bodyPr/>
                    <a:lstStyle/>
                    <a:p>
                      <a:pPr>
                        <a:buNone/>
                      </a:pPr>
                      <a:r>
                        <a:rPr lang="en-VN" sz="1400" kern="100">
                          <a:effectLst/>
                        </a:rPr>
                        <a:t>Diễn biến và nội dung ghi nhận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buNone/>
                      </a:pPr>
                      <a:r>
                        <a:rPr lang="en-VN" sz="1400" kern="100" dirty="0">
                          <a:effectLst/>
                        </a:rPr>
                        <a:t>Nhân viên CTXH liên hệ điện thoại với con trai người bệnh để trao đổi về tình trạng sức khỏe và nhu cầu hỗ trợ sau xuất viện. Gia đình cho biết điều kiện kinh tế khó khăn và chưa thể sắp xếp người chăm sóc ngay.</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08734165"/>
                  </a:ext>
                </a:extLst>
              </a:tr>
            </a:tbl>
          </a:graphicData>
        </a:graphic>
      </p:graphicFrame>
    </p:spTree>
    <p:extLst>
      <p:ext uri="{BB962C8B-B14F-4D97-AF65-F5344CB8AC3E}">
        <p14:creationId xmlns:p14="http://schemas.microsoft.com/office/powerpoint/2010/main" val="26538784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9BD619-D037-E38F-83E6-4BC534E886B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69</a:t>
            </a:fld>
            <a:endParaRPr lang="en"/>
          </a:p>
        </p:txBody>
      </p:sp>
      <p:sp>
        <p:nvSpPr>
          <p:cNvPr id="5" name="TextBox 4">
            <a:extLst>
              <a:ext uri="{FF2B5EF4-FFF2-40B4-BE49-F238E27FC236}">
                <a16:creationId xmlns:a16="http://schemas.microsoft.com/office/drawing/2014/main" id="{B0A07837-068F-3A76-681D-47A758FF2F67}"/>
              </a:ext>
            </a:extLst>
          </p:cNvPr>
          <p:cNvSpPr txBox="1"/>
          <p:nvPr/>
        </p:nvSpPr>
        <p:spPr>
          <a:xfrm>
            <a:off x="720000" y="428878"/>
            <a:ext cx="4126350" cy="307777"/>
          </a:xfrm>
          <a:prstGeom prst="rect">
            <a:avLst/>
          </a:prstGeom>
          <a:noFill/>
        </p:spPr>
        <p:txBody>
          <a:bodyPr wrap="square" rtlCol="0">
            <a:spAutoFit/>
          </a:bodyPr>
          <a:lstStyle/>
          <a:p>
            <a:r>
              <a:rPr lang="en-VN" dirty="0"/>
              <a:t>NỘI DUNG GIÁM SÁT VÀ LƯỢNG GIÁ </a:t>
            </a:r>
          </a:p>
        </p:txBody>
      </p:sp>
      <p:graphicFrame>
        <p:nvGraphicFramePr>
          <p:cNvPr id="6" name="Table 5">
            <a:extLst>
              <a:ext uri="{FF2B5EF4-FFF2-40B4-BE49-F238E27FC236}">
                <a16:creationId xmlns:a16="http://schemas.microsoft.com/office/drawing/2014/main" id="{36118507-AF06-9279-991C-CC6EE1EFDD2B}"/>
              </a:ext>
            </a:extLst>
          </p:cNvPr>
          <p:cNvGraphicFramePr>
            <a:graphicFrameLocks noGrp="1"/>
          </p:cNvGraphicFramePr>
          <p:nvPr>
            <p:extLst>
              <p:ext uri="{D42A27DB-BD31-4B8C-83A1-F6EECF244321}">
                <p14:modId xmlns:p14="http://schemas.microsoft.com/office/powerpoint/2010/main" val="2917686334"/>
              </p:ext>
            </p:extLst>
          </p:nvPr>
        </p:nvGraphicFramePr>
        <p:xfrm>
          <a:off x="873940" y="1123315"/>
          <a:ext cx="7752170" cy="3237218"/>
        </p:xfrm>
        <a:graphic>
          <a:graphicData uri="http://schemas.openxmlformats.org/drawingml/2006/table">
            <a:tbl>
              <a:tblPr firstRow="1" firstCol="1" bandRow="1">
                <a:tableStyleId>{5765BD47-0766-45DA-83AF-D0E9DCAA76E3}</a:tableStyleId>
              </a:tblPr>
              <a:tblGrid>
                <a:gridCol w="1997164">
                  <a:extLst>
                    <a:ext uri="{9D8B030D-6E8A-4147-A177-3AD203B41FA5}">
                      <a16:colId xmlns:a16="http://schemas.microsoft.com/office/drawing/2014/main" val="2701938681"/>
                    </a:ext>
                  </a:extLst>
                </a:gridCol>
                <a:gridCol w="4654489">
                  <a:extLst>
                    <a:ext uri="{9D8B030D-6E8A-4147-A177-3AD203B41FA5}">
                      <a16:colId xmlns:a16="http://schemas.microsoft.com/office/drawing/2014/main" val="577134996"/>
                    </a:ext>
                  </a:extLst>
                </a:gridCol>
                <a:gridCol w="1100517">
                  <a:extLst>
                    <a:ext uri="{9D8B030D-6E8A-4147-A177-3AD203B41FA5}">
                      <a16:colId xmlns:a16="http://schemas.microsoft.com/office/drawing/2014/main" val="3324517205"/>
                    </a:ext>
                  </a:extLst>
                </a:gridCol>
              </a:tblGrid>
              <a:tr h="688366">
                <a:tc>
                  <a:txBody>
                    <a:bodyPr/>
                    <a:lstStyle/>
                    <a:p>
                      <a:pPr>
                        <a:buNone/>
                      </a:pPr>
                      <a:r>
                        <a:rPr lang="en-VN" sz="1400" kern="100" dirty="0">
                          <a:effectLst/>
                        </a:rPr>
                        <a:t>Nội dung đánh giá</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lgn="ctr">
                        <a:buNone/>
                      </a:pPr>
                      <a:r>
                        <a:rPr lang="en-VN" sz="1400" kern="100" dirty="0">
                          <a:effectLst/>
                        </a:rPr>
                        <a:t>Ghi nhận thực tế</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lgn="ctr">
                        <a:buNone/>
                      </a:pPr>
                      <a:r>
                        <a:rPr lang="en-VN" sz="1400" kern="100">
                          <a:effectLst/>
                        </a:rPr>
                        <a:t>Mức độ </a:t>
                      </a:r>
                    </a:p>
                    <a:p>
                      <a:pPr algn="ctr">
                        <a:buNone/>
                      </a:pPr>
                      <a:r>
                        <a:rPr lang="en-VN" sz="1400" kern="100">
                          <a:effectLst/>
                        </a:rPr>
                        <a:t>đạt được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extLst>
                  <a:ext uri="{0D108BD9-81ED-4DB2-BD59-A6C34878D82A}">
                    <a16:rowId xmlns:a16="http://schemas.microsoft.com/office/drawing/2014/main" val="403193928"/>
                  </a:ext>
                </a:extLst>
              </a:tr>
              <a:tr h="564604">
                <a:tc>
                  <a:txBody>
                    <a:bodyPr/>
                    <a:lstStyle/>
                    <a:p>
                      <a:pPr>
                        <a:buNone/>
                      </a:pPr>
                      <a:r>
                        <a:rPr lang="en-VN" sz="1400" kern="100">
                          <a:effectLst/>
                        </a:rPr>
                        <a:t>Khả năng vận động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dirty="0">
                          <a:effectLst/>
                        </a:rPr>
                        <a:t>Người bệnh có thể ngồi dậy với hỗ trợ và cử động nhẹ tay chân bên liệt</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a:effectLst/>
                        </a:rPr>
                        <a:t>Đạt một phần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extLst>
                  <a:ext uri="{0D108BD9-81ED-4DB2-BD59-A6C34878D82A}">
                    <a16:rowId xmlns:a16="http://schemas.microsoft.com/office/drawing/2014/main" val="3906414102"/>
                  </a:ext>
                </a:extLst>
              </a:tr>
              <a:tr h="704088">
                <a:tc>
                  <a:txBody>
                    <a:bodyPr/>
                    <a:lstStyle/>
                    <a:p>
                      <a:pPr>
                        <a:buNone/>
                      </a:pPr>
                      <a:r>
                        <a:rPr lang="en-VN" sz="1400" kern="100">
                          <a:effectLst/>
                        </a:rPr>
                        <a:t>Khả năng tự chăm sóc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dirty="0">
                          <a:effectLst/>
                        </a:rPr>
                        <a:t>Đã có thể tự ăn với hỗ trợ tối thiểu nhưng vẫn cần hỗ trợ vệ sinh cá nhân và di chuyển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a:effectLst/>
                        </a:rPr>
                        <a:t>Đạt một phần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extLst>
                  <a:ext uri="{0D108BD9-81ED-4DB2-BD59-A6C34878D82A}">
                    <a16:rowId xmlns:a16="http://schemas.microsoft.com/office/drawing/2014/main" val="4020697664"/>
                  </a:ext>
                </a:extLst>
              </a:tr>
              <a:tr h="482822">
                <a:tc>
                  <a:txBody>
                    <a:bodyPr/>
                    <a:lstStyle/>
                    <a:p>
                      <a:pPr>
                        <a:buNone/>
                      </a:pPr>
                      <a:r>
                        <a:rPr lang="en-VN" sz="1400" kern="100">
                          <a:effectLst/>
                        </a:rPr>
                        <a:t>Mức độ hợp tác điều trị</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dirty="0">
                          <a:effectLst/>
                        </a:rPr>
                        <a:t>Người bệnh hợp tác tốt với điều dưỡng và kỹ thuật viên phục hồi chức năng</a:t>
                      </a:r>
                    </a:p>
                    <a:p>
                      <a:pPr>
                        <a:buNone/>
                      </a:pP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a:effectLst/>
                        </a:rPr>
                        <a:t>Đạt</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extLst>
                  <a:ext uri="{0D108BD9-81ED-4DB2-BD59-A6C34878D82A}">
                    <a16:rowId xmlns:a16="http://schemas.microsoft.com/office/drawing/2014/main" val="3807575005"/>
                  </a:ext>
                </a:extLst>
              </a:tr>
              <a:tr h="482822">
                <a:tc>
                  <a:txBody>
                    <a:bodyPr/>
                    <a:lstStyle/>
                    <a:p>
                      <a:pPr>
                        <a:buNone/>
                      </a:pPr>
                      <a:r>
                        <a:rPr lang="en-VN" sz="1400" kern="100">
                          <a:effectLst/>
                        </a:rPr>
                        <a:t>Nguy cơ biến chứng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dirty="0">
                          <a:effectLst/>
                        </a:rPr>
                        <a:t>Chưa ghi nhận loét tỳ đè hoặc té ngã trong thời gian nằm viện</a:t>
                      </a:r>
                    </a:p>
                    <a:p>
                      <a:pPr>
                        <a:buNone/>
                      </a:pP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tc>
                  <a:txBody>
                    <a:bodyPr/>
                    <a:lstStyle/>
                    <a:p>
                      <a:pPr>
                        <a:buNone/>
                      </a:pPr>
                      <a:r>
                        <a:rPr lang="en-VN" sz="1400" kern="100" dirty="0">
                          <a:effectLst/>
                        </a:rPr>
                        <a:t>Đạt</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713" marR="33713" marT="0" marB="0"/>
                </a:tc>
                <a:extLst>
                  <a:ext uri="{0D108BD9-81ED-4DB2-BD59-A6C34878D82A}">
                    <a16:rowId xmlns:a16="http://schemas.microsoft.com/office/drawing/2014/main" val="1765017550"/>
                  </a:ext>
                </a:extLst>
              </a:tr>
            </a:tbl>
          </a:graphicData>
        </a:graphic>
      </p:graphicFrame>
      <p:sp>
        <p:nvSpPr>
          <p:cNvPr id="8" name="TextBox 7">
            <a:extLst>
              <a:ext uri="{FF2B5EF4-FFF2-40B4-BE49-F238E27FC236}">
                <a16:creationId xmlns:a16="http://schemas.microsoft.com/office/drawing/2014/main" id="{A9539A0D-4845-126D-0C73-02B92409C0C0}"/>
              </a:ext>
            </a:extLst>
          </p:cNvPr>
          <p:cNvSpPr txBox="1"/>
          <p:nvPr/>
        </p:nvSpPr>
        <p:spPr>
          <a:xfrm>
            <a:off x="873940" y="736655"/>
            <a:ext cx="4572000" cy="307777"/>
          </a:xfrm>
          <a:prstGeom prst="rect">
            <a:avLst/>
          </a:prstGeom>
          <a:noFill/>
        </p:spPr>
        <p:txBody>
          <a:bodyPr wrap="square">
            <a:spAutoFit/>
          </a:bodyPr>
          <a:lstStyle/>
          <a:p>
            <a:pPr>
              <a:buNone/>
            </a:pPr>
            <a:r>
              <a:rPr lang="en-VN" sz="1400" b="1" dirty="0">
                <a:solidFill>
                  <a:srgbClr val="000000"/>
                </a:solidFill>
                <a:effectLst/>
                <a:latin typeface="+mn-lt"/>
                <a:ea typeface="Times New Roman" panose="02020603050405020304" pitchFamily="18" charset="0"/>
              </a:rPr>
              <a:t>1. Tình trạng sức khỏe và phục hồi chức năng</a:t>
            </a:r>
            <a:endParaRPr lang="en-VN" sz="1600" b="1" dirty="0">
              <a:effectLst/>
              <a:latin typeface="+mn-lt"/>
              <a:ea typeface="Times New Roman" panose="02020603050405020304" pitchFamily="18" charset="0"/>
            </a:endParaRPr>
          </a:p>
        </p:txBody>
      </p:sp>
    </p:spTree>
    <p:extLst>
      <p:ext uri="{BB962C8B-B14F-4D97-AF65-F5344CB8AC3E}">
        <p14:creationId xmlns:p14="http://schemas.microsoft.com/office/powerpoint/2010/main" val="33142042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509D-08AD-E095-3792-30944E3184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77A7C3-0100-E022-8AF4-7A3BD5C5B0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70</a:t>
            </a:fld>
            <a:endParaRPr lang="en"/>
          </a:p>
        </p:txBody>
      </p:sp>
      <p:sp>
        <p:nvSpPr>
          <p:cNvPr id="5" name="TextBox 4">
            <a:extLst>
              <a:ext uri="{FF2B5EF4-FFF2-40B4-BE49-F238E27FC236}">
                <a16:creationId xmlns:a16="http://schemas.microsoft.com/office/drawing/2014/main" id="{C0A06005-E5AC-2772-2A99-9CC1F4F89E20}"/>
              </a:ext>
            </a:extLst>
          </p:cNvPr>
          <p:cNvSpPr txBox="1"/>
          <p:nvPr/>
        </p:nvSpPr>
        <p:spPr>
          <a:xfrm>
            <a:off x="720000" y="428878"/>
            <a:ext cx="4126350" cy="307777"/>
          </a:xfrm>
          <a:prstGeom prst="rect">
            <a:avLst/>
          </a:prstGeom>
          <a:noFill/>
        </p:spPr>
        <p:txBody>
          <a:bodyPr wrap="square" rtlCol="0">
            <a:spAutoFit/>
          </a:bodyPr>
          <a:lstStyle/>
          <a:p>
            <a:r>
              <a:rPr lang="en-VN" dirty="0"/>
              <a:t>NỘI DUNG GIÁM SÁT VÀ LƯỢNG GIÁ </a:t>
            </a:r>
          </a:p>
        </p:txBody>
      </p:sp>
      <p:graphicFrame>
        <p:nvGraphicFramePr>
          <p:cNvPr id="3" name="Table 2">
            <a:extLst>
              <a:ext uri="{FF2B5EF4-FFF2-40B4-BE49-F238E27FC236}">
                <a16:creationId xmlns:a16="http://schemas.microsoft.com/office/drawing/2014/main" id="{907C5E7B-FCFE-7E73-DE1E-085C15E26F48}"/>
              </a:ext>
            </a:extLst>
          </p:cNvPr>
          <p:cNvGraphicFramePr>
            <a:graphicFrameLocks noGrp="1"/>
          </p:cNvGraphicFramePr>
          <p:nvPr>
            <p:extLst>
              <p:ext uri="{D42A27DB-BD31-4B8C-83A1-F6EECF244321}">
                <p14:modId xmlns:p14="http://schemas.microsoft.com/office/powerpoint/2010/main" val="105291406"/>
              </p:ext>
            </p:extLst>
          </p:nvPr>
        </p:nvGraphicFramePr>
        <p:xfrm>
          <a:off x="720000" y="1379833"/>
          <a:ext cx="7718424" cy="2773680"/>
        </p:xfrm>
        <a:graphic>
          <a:graphicData uri="http://schemas.openxmlformats.org/drawingml/2006/table">
            <a:tbl>
              <a:tblPr firstRow="1" firstCol="1" bandRow="1">
                <a:tableStyleId>{5765BD47-0766-45DA-83AF-D0E9DCAA76E3}</a:tableStyleId>
              </a:tblPr>
              <a:tblGrid>
                <a:gridCol w="2572808">
                  <a:extLst>
                    <a:ext uri="{9D8B030D-6E8A-4147-A177-3AD203B41FA5}">
                      <a16:colId xmlns:a16="http://schemas.microsoft.com/office/drawing/2014/main" val="2077636022"/>
                    </a:ext>
                  </a:extLst>
                </a:gridCol>
                <a:gridCol w="2572808">
                  <a:extLst>
                    <a:ext uri="{9D8B030D-6E8A-4147-A177-3AD203B41FA5}">
                      <a16:colId xmlns:a16="http://schemas.microsoft.com/office/drawing/2014/main" val="1438645027"/>
                    </a:ext>
                  </a:extLst>
                </a:gridCol>
                <a:gridCol w="2572808">
                  <a:extLst>
                    <a:ext uri="{9D8B030D-6E8A-4147-A177-3AD203B41FA5}">
                      <a16:colId xmlns:a16="http://schemas.microsoft.com/office/drawing/2014/main" val="422900909"/>
                    </a:ext>
                  </a:extLst>
                </a:gridCol>
              </a:tblGrid>
              <a:tr h="0">
                <a:tc>
                  <a:txBody>
                    <a:bodyPr/>
                    <a:lstStyle/>
                    <a:p>
                      <a:pPr algn="ctr">
                        <a:buNone/>
                      </a:pPr>
                      <a:r>
                        <a:rPr lang="en-VN" sz="1400" kern="100" dirty="0">
                          <a:effectLst/>
                        </a:rPr>
                        <a:t>Nội dung đánh giá</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400" kern="100">
                          <a:effectLst/>
                        </a:rPr>
                        <a:t>Ghi nhận thực tế</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400" kern="100">
                          <a:effectLst/>
                        </a:rPr>
                        <a:t>Mức độ </a:t>
                      </a:r>
                    </a:p>
                    <a:p>
                      <a:pPr algn="ctr">
                        <a:buNone/>
                      </a:pPr>
                      <a:r>
                        <a:rPr lang="en-VN" sz="1400" kern="100">
                          <a:effectLst/>
                        </a:rPr>
                        <a:t>đạt được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21138135"/>
                  </a:ext>
                </a:extLst>
              </a:tr>
              <a:tr h="0">
                <a:tc>
                  <a:txBody>
                    <a:bodyPr/>
                    <a:lstStyle/>
                    <a:p>
                      <a:pPr>
                        <a:buNone/>
                      </a:pPr>
                      <a:r>
                        <a:rPr lang="en-VN" sz="1400" kern="100" dirty="0">
                          <a:effectLst/>
                        </a:rPr>
                        <a:t>Mức độ lo âu</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Người bệnh giảm lo lắng hơn so với thời điểm mới nhập viện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Đạt</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40826687"/>
                  </a:ext>
                </a:extLst>
              </a:tr>
              <a:tr h="0">
                <a:tc>
                  <a:txBody>
                    <a:bodyPr/>
                    <a:lstStyle/>
                    <a:p>
                      <a:pPr>
                        <a:buNone/>
                      </a:pPr>
                      <a:r>
                        <a:rPr lang="en-VN" sz="1400" kern="100">
                          <a:effectLst/>
                        </a:rPr>
                        <a:t>Khả năng giao tiếp</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Chủ động trao đổi với nhân viên y tế và nhân viên CTXH nhiều hơn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Đạt</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28240181"/>
                  </a:ext>
                </a:extLst>
              </a:tr>
              <a:tr h="0">
                <a:tc>
                  <a:txBody>
                    <a:bodyPr/>
                    <a:lstStyle/>
                    <a:p>
                      <a:pPr>
                        <a:buNone/>
                      </a:pPr>
                      <a:r>
                        <a:rPr lang="en-VN" sz="1400" kern="100">
                          <a:effectLst/>
                        </a:rPr>
                        <a:t>Tâm trạng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Ít biểu hiện buồn bã, có mong muốn tiếp tục phục hồi sức khỏe</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Đạt một phần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28953564"/>
                  </a:ext>
                </a:extLst>
              </a:tr>
              <a:tr h="0">
                <a:tc>
                  <a:txBody>
                    <a:bodyPr/>
                    <a:lstStyle/>
                    <a:p>
                      <a:pPr>
                        <a:buNone/>
                      </a:pPr>
                      <a:r>
                        <a:rPr lang="en-US" sz="1400" kern="100">
                          <a:effectLst/>
                        </a:rPr>
                        <a:t>H</a:t>
                      </a:r>
                      <a:r>
                        <a:rPr lang="en-VN" sz="1400" kern="100">
                          <a:effectLst/>
                        </a:rPr>
                        <a:t>ỗ trợ tinh thần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Vẫn còn cảm giác thiếu người thân bên cạnh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Chưa đạt hoàn toàn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5638102"/>
                  </a:ext>
                </a:extLst>
              </a:tr>
            </a:tbl>
          </a:graphicData>
        </a:graphic>
      </p:graphicFrame>
      <p:sp>
        <p:nvSpPr>
          <p:cNvPr id="7" name="TextBox 6">
            <a:extLst>
              <a:ext uri="{FF2B5EF4-FFF2-40B4-BE49-F238E27FC236}">
                <a16:creationId xmlns:a16="http://schemas.microsoft.com/office/drawing/2014/main" id="{790307E7-CD0C-D974-1355-2F8A5D252F85}"/>
              </a:ext>
            </a:extLst>
          </p:cNvPr>
          <p:cNvSpPr txBox="1"/>
          <p:nvPr/>
        </p:nvSpPr>
        <p:spPr>
          <a:xfrm>
            <a:off x="720000" y="810698"/>
            <a:ext cx="4572000" cy="307777"/>
          </a:xfrm>
          <a:prstGeom prst="rect">
            <a:avLst/>
          </a:prstGeom>
          <a:noFill/>
        </p:spPr>
        <p:txBody>
          <a:bodyPr wrap="square">
            <a:spAutoFit/>
          </a:bodyPr>
          <a:lstStyle/>
          <a:p>
            <a:pPr>
              <a:buNone/>
            </a:pPr>
            <a:r>
              <a:rPr lang="en-VN" sz="1400" b="1" dirty="0">
                <a:solidFill>
                  <a:srgbClr val="000000"/>
                </a:solidFill>
                <a:effectLst/>
                <a:latin typeface="Times New Roman" panose="02020603050405020304" pitchFamily="18" charset="0"/>
                <a:ea typeface="Times New Roman" panose="02020603050405020304" pitchFamily="18" charset="0"/>
              </a:rPr>
              <a:t>2. </a:t>
            </a:r>
            <a:r>
              <a:rPr lang="en-VN" sz="1400" b="1" dirty="0">
                <a:solidFill>
                  <a:srgbClr val="000000"/>
                </a:solidFill>
                <a:effectLst/>
                <a:latin typeface="+mn-lt"/>
                <a:ea typeface="Times New Roman" panose="02020603050405020304" pitchFamily="18" charset="0"/>
              </a:rPr>
              <a:t>Tình trạng tâm lý – xã hội</a:t>
            </a:r>
            <a:endParaRPr lang="en-VN" sz="1600" b="1" dirty="0">
              <a:effectLst/>
              <a:latin typeface="+mn-lt"/>
              <a:ea typeface="Times New Roman" panose="02020603050405020304" pitchFamily="18" charset="0"/>
            </a:endParaRPr>
          </a:p>
        </p:txBody>
      </p:sp>
    </p:spTree>
    <p:extLst>
      <p:ext uri="{BB962C8B-B14F-4D97-AF65-F5344CB8AC3E}">
        <p14:creationId xmlns:p14="http://schemas.microsoft.com/office/powerpoint/2010/main" val="32403511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EA9F-BF77-C266-1878-403B011B83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290340-AE77-1DE7-FAD6-1D69A4AD3A4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71</a:t>
            </a:fld>
            <a:endParaRPr lang="en"/>
          </a:p>
        </p:txBody>
      </p:sp>
      <p:sp>
        <p:nvSpPr>
          <p:cNvPr id="5" name="TextBox 4">
            <a:extLst>
              <a:ext uri="{FF2B5EF4-FFF2-40B4-BE49-F238E27FC236}">
                <a16:creationId xmlns:a16="http://schemas.microsoft.com/office/drawing/2014/main" id="{BBD4891C-490D-F778-FCC3-E01AAB56EC8C}"/>
              </a:ext>
            </a:extLst>
          </p:cNvPr>
          <p:cNvSpPr txBox="1"/>
          <p:nvPr/>
        </p:nvSpPr>
        <p:spPr>
          <a:xfrm>
            <a:off x="720000" y="428878"/>
            <a:ext cx="4126350" cy="307777"/>
          </a:xfrm>
          <a:prstGeom prst="rect">
            <a:avLst/>
          </a:prstGeom>
          <a:noFill/>
        </p:spPr>
        <p:txBody>
          <a:bodyPr wrap="square" rtlCol="0">
            <a:spAutoFit/>
          </a:bodyPr>
          <a:lstStyle/>
          <a:p>
            <a:r>
              <a:rPr lang="en-VN" dirty="0"/>
              <a:t>NỘI DUNG GIÁM SÁT VÀ LƯỢNG GIÁ </a:t>
            </a:r>
          </a:p>
        </p:txBody>
      </p:sp>
      <p:sp>
        <p:nvSpPr>
          <p:cNvPr id="7" name="TextBox 6">
            <a:extLst>
              <a:ext uri="{FF2B5EF4-FFF2-40B4-BE49-F238E27FC236}">
                <a16:creationId xmlns:a16="http://schemas.microsoft.com/office/drawing/2014/main" id="{CB795282-3333-C215-62E0-C8970AE96EFB}"/>
              </a:ext>
            </a:extLst>
          </p:cNvPr>
          <p:cNvSpPr txBox="1"/>
          <p:nvPr/>
        </p:nvSpPr>
        <p:spPr>
          <a:xfrm>
            <a:off x="720000" y="810698"/>
            <a:ext cx="4572000" cy="307777"/>
          </a:xfrm>
          <a:prstGeom prst="rect">
            <a:avLst/>
          </a:prstGeom>
          <a:noFill/>
        </p:spPr>
        <p:txBody>
          <a:bodyPr wrap="square">
            <a:spAutoFit/>
          </a:bodyPr>
          <a:lstStyle/>
          <a:p>
            <a:r>
              <a:rPr lang="en-VN" b="1" dirty="0"/>
              <a:t>3. Hỗ trợ gia đình và nguồn lực xã hội</a:t>
            </a:r>
          </a:p>
        </p:txBody>
      </p:sp>
      <p:graphicFrame>
        <p:nvGraphicFramePr>
          <p:cNvPr id="4" name="Table 3">
            <a:extLst>
              <a:ext uri="{FF2B5EF4-FFF2-40B4-BE49-F238E27FC236}">
                <a16:creationId xmlns:a16="http://schemas.microsoft.com/office/drawing/2014/main" id="{BA4396F9-E68F-619A-748A-C45361479C97}"/>
              </a:ext>
            </a:extLst>
          </p:cNvPr>
          <p:cNvGraphicFramePr>
            <a:graphicFrameLocks noGrp="1"/>
          </p:cNvGraphicFramePr>
          <p:nvPr>
            <p:extLst>
              <p:ext uri="{D42A27DB-BD31-4B8C-83A1-F6EECF244321}">
                <p14:modId xmlns:p14="http://schemas.microsoft.com/office/powerpoint/2010/main" val="1863790730"/>
              </p:ext>
            </p:extLst>
          </p:nvPr>
        </p:nvGraphicFramePr>
        <p:xfrm>
          <a:off x="720000" y="1092015"/>
          <a:ext cx="7718424" cy="3301961"/>
        </p:xfrm>
        <a:graphic>
          <a:graphicData uri="http://schemas.openxmlformats.org/drawingml/2006/table">
            <a:tbl>
              <a:tblPr firstRow="1" firstCol="1" bandRow="1">
                <a:tableStyleId>{5765BD47-0766-45DA-83AF-D0E9DCAA76E3}</a:tableStyleId>
              </a:tblPr>
              <a:tblGrid>
                <a:gridCol w="2572808">
                  <a:extLst>
                    <a:ext uri="{9D8B030D-6E8A-4147-A177-3AD203B41FA5}">
                      <a16:colId xmlns:a16="http://schemas.microsoft.com/office/drawing/2014/main" val="1759665097"/>
                    </a:ext>
                  </a:extLst>
                </a:gridCol>
                <a:gridCol w="2572808">
                  <a:extLst>
                    <a:ext uri="{9D8B030D-6E8A-4147-A177-3AD203B41FA5}">
                      <a16:colId xmlns:a16="http://schemas.microsoft.com/office/drawing/2014/main" val="121536235"/>
                    </a:ext>
                  </a:extLst>
                </a:gridCol>
                <a:gridCol w="2572808">
                  <a:extLst>
                    <a:ext uri="{9D8B030D-6E8A-4147-A177-3AD203B41FA5}">
                      <a16:colId xmlns:a16="http://schemas.microsoft.com/office/drawing/2014/main" val="336625146"/>
                    </a:ext>
                  </a:extLst>
                </a:gridCol>
              </a:tblGrid>
              <a:tr h="507994">
                <a:tc>
                  <a:txBody>
                    <a:bodyPr/>
                    <a:lstStyle/>
                    <a:p>
                      <a:pPr algn="ctr">
                        <a:buNone/>
                      </a:pPr>
                      <a:r>
                        <a:rPr lang="en-VN" sz="1400" kern="100" dirty="0">
                          <a:effectLst/>
                        </a:rPr>
                        <a:t>Nội dung đánh giá</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400" kern="100" dirty="0">
                          <a:effectLst/>
                        </a:rPr>
                        <a:t>Ghi nhận thực tế</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buNone/>
                      </a:pPr>
                      <a:r>
                        <a:rPr lang="en-VN" sz="1400" kern="100">
                          <a:effectLst/>
                        </a:rPr>
                        <a:t>Mức độ </a:t>
                      </a:r>
                    </a:p>
                    <a:p>
                      <a:pPr algn="ctr">
                        <a:buNone/>
                      </a:pPr>
                      <a:r>
                        <a:rPr lang="en-VN" sz="1400" kern="100">
                          <a:effectLst/>
                        </a:rPr>
                        <a:t>đạt được</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11181777"/>
                  </a:ext>
                </a:extLst>
              </a:tr>
              <a:tr h="761991">
                <a:tc>
                  <a:txBody>
                    <a:bodyPr/>
                    <a:lstStyle/>
                    <a:p>
                      <a:pPr>
                        <a:buNone/>
                      </a:pPr>
                      <a:r>
                        <a:rPr lang="en-VN" sz="1400" kern="100">
                          <a:effectLst/>
                        </a:rPr>
                        <a:t>Sự tham gia của gia đình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Hai người con đã liên lạc với bệnh viện nhưng chưa sắp xếp được chăm sóc trực tiếp</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Đạt một phần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76200388"/>
                  </a:ext>
                </a:extLst>
              </a:tr>
              <a:tr h="761991">
                <a:tc>
                  <a:txBody>
                    <a:bodyPr/>
                    <a:lstStyle/>
                    <a:p>
                      <a:pPr>
                        <a:buNone/>
                      </a:pPr>
                      <a:r>
                        <a:rPr lang="en-VN" sz="1400" kern="100">
                          <a:effectLst/>
                        </a:rPr>
                        <a:t>Hỗ trợ cộng đồng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Hội Người cao tuổi địa phương đồng ý hỗ trợ theo dõi sau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Đạt</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81036582"/>
                  </a:ext>
                </a:extLst>
              </a:tr>
              <a:tr h="761991">
                <a:tc>
                  <a:txBody>
                    <a:bodyPr/>
                    <a:lstStyle/>
                    <a:p>
                      <a:pPr>
                        <a:buNone/>
                      </a:pPr>
                      <a:r>
                        <a:rPr lang="en-VN" sz="1400" kern="100">
                          <a:effectLst/>
                        </a:rPr>
                        <a:t>Hỗ trợ tài chính</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Người bệnh đã được xem xét hỗ trợ một phần chi phí và nhu yếu phẩm</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Đạt</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15476454"/>
                  </a:ext>
                </a:extLst>
              </a:tr>
              <a:tr h="507994">
                <a:tc>
                  <a:txBody>
                    <a:bodyPr/>
                    <a:lstStyle/>
                    <a:p>
                      <a:pPr>
                        <a:buNone/>
                      </a:pPr>
                      <a:r>
                        <a:rPr lang="en-VN" sz="1400" kern="100">
                          <a:effectLst/>
                        </a:rPr>
                        <a:t>Kế hoạch chăm sóc sau xuất viện</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a:effectLst/>
                        </a:rPr>
                        <a:t>Đang hoàn thiện phương án hỗ trợ tại cộng đồng</a:t>
                      </a:r>
                      <a:endParaRPr lang="en-V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buNone/>
                      </a:pPr>
                      <a:r>
                        <a:rPr lang="en-VN" sz="1400" kern="100" dirty="0">
                          <a:effectLst/>
                        </a:rPr>
                        <a:t>Đạt một phần</a:t>
                      </a:r>
                      <a:endParaRPr lang="en-V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61564818"/>
                  </a:ext>
                </a:extLst>
              </a:tr>
            </a:tbl>
          </a:graphicData>
        </a:graphic>
      </p:graphicFrame>
    </p:spTree>
    <p:extLst>
      <p:ext uri="{BB962C8B-B14F-4D97-AF65-F5344CB8AC3E}">
        <p14:creationId xmlns:p14="http://schemas.microsoft.com/office/powerpoint/2010/main" val="17065238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F3D2-5147-4BE9-40A6-74259443B3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0D96ED2-DD15-6909-ADCC-95DAC7D81A0D}"/>
              </a:ext>
            </a:extLst>
          </p:cNvPr>
          <p:cNvSpPr>
            <a:spLocks noGrp="1"/>
          </p:cNvSpPr>
          <p:nvPr>
            <p:ph type="ctrTitle"/>
          </p:nvPr>
        </p:nvSpPr>
        <p:spPr>
          <a:xfrm>
            <a:off x="329184" y="594360"/>
            <a:ext cx="8385048" cy="1051559"/>
          </a:xfrm>
          <a:solidFill>
            <a:schemeClr val="bg1"/>
          </a:solidFill>
        </p:spPr>
        <p:txBody>
          <a:bodyPr/>
          <a:lstStyle/>
          <a:p>
            <a:pPr marL="635000" indent="-457200">
              <a:buFont typeface="+mj-lt"/>
              <a:buAutoNum type="arabicPeriod"/>
            </a:pPr>
            <a:br>
              <a:rPr lang="vi-VN" sz="2400" b="1" i="0" u="none" strike="noStrike" dirty="0">
                <a:solidFill>
                  <a:srgbClr val="C00000"/>
                </a:solidFill>
                <a:effectLst/>
                <a:latin typeface="+mn-lt"/>
                <a:cs typeface="Arial" panose="020B0604020202020204" pitchFamily="34" charset="0"/>
              </a:rPr>
            </a:br>
            <a:br>
              <a:rPr lang="vi-VN" sz="2400" b="1" i="0" u="none" strike="noStrike" dirty="0">
                <a:solidFill>
                  <a:srgbClr val="C00000"/>
                </a:solidFill>
                <a:effectLst/>
                <a:latin typeface="+mn-lt"/>
                <a:cs typeface="Arial" panose="020B0604020202020204" pitchFamily="34" charset="0"/>
              </a:rPr>
            </a:br>
            <a:br>
              <a:rPr lang="vi-VN" sz="2400" b="1" i="0" u="none" strike="noStrike" dirty="0">
                <a:solidFill>
                  <a:srgbClr val="C00000"/>
                </a:solidFill>
                <a:effectLst/>
                <a:latin typeface="+mn-lt"/>
                <a:cs typeface="Arial" panose="020B0604020202020204" pitchFamily="34" charset="0"/>
              </a:rPr>
            </a:br>
            <a:r>
              <a:rPr lang="vi-VN" sz="2400" b="1" i="0" u="none" strike="noStrike" dirty="0">
                <a:solidFill>
                  <a:schemeClr val="bg1">
                    <a:lumMod val="10000"/>
                  </a:schemeClr>
                </a:solidFill>
                <a:effectLst/>
                <a:latin typeface="+mn-lt"/>
                <a:cs typeface="Arial" panose="020B0604020202020204" pitchFamily="34" charset="0"/>
              </a:rPr>
              <a:t>6. </a:t>
            </a:r>
            <a:r>
              <a:rPr lang="vi-VN" sz="2000" b="1" dirty="0">
                <a:solidFill>
                  <a:schemeClr val="bg1">
                    <a:lumMod val="10000"/>
                  </a:schemeClr>
                </a:solidFill>
                <a:effectLst/>
                <a:latin typeface="+mn-lt"/>
                <a:ea typeface="Arial" panose="020B0604020202020204" pitchFamily="34" charset="0"/>
              </a:rPr>
              <a:t>Xây dựng tình huống một trường hợp đối tượng có vấn đề cần quản lý trường hợp trong công tác xã hội</a:t>
            </a:r>
            <a:r>
              <a:rPr lang="en-VN" sz="2000" b="1" dirty="0">
                <a:solidFill>
                  <a:schemeClr val="bg1">
                    <a:lumMod val="10000"/>
                  </a:schemeClr>
                </a:solidFill>
                <a:effectLst/>
                <a:latin typeface="+mn-lt"/>
              </a:rPr>
              <a:t> </a:t>
            </a:r>
            <a:br>
              <a:rPr lang="vi-VN" sz="2400" b="1" dirty="0">
                <a:solidFill>
                  <a:srgbClr val="C00000"/>
                </a:solidFill>
                <a:latin typeface="+mn-lt"/>
              </a:rPr>
            </a:br>
            <a:br>
              <a:rPr lang="vi-VN" sz="2400" b="1" i="0" u="none" strike="noStrike" dirty="0">
                <a:solidFill>
                  <a:srgbClr val="C00000"/>
                </a:solidFill>
                <a:effectLst/>
                <a:latin typeface="+mn-lt"/>
              </a:rPr>
            </a:br>
            <a:br>
              <a:rPr lang="vi-VN" sz="2400" b="1" i="0" u="none" strike="noStrike" dirty="0">
                <a:solidFill>
                  <a:srgbClr val="C00000"/>
                </a:solidFill>
                <a:effectLst/>
                <a:latin typeface="+mn-lt"/>
                <a:cs typeface="Arial" panose="020B0604020202020204" pitchFamily="34" charset="0"/>
              </a:rPr>
            </a:br>
            <a:endParaRPr lang="en-VN" sz="2400" b="1" dirty="0">
              <a:solidFill>
                <a:srgbClr val="C00000"/>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72B08133-1B22-730A-9C36-19502E795B5C}"/>
              </a:ext>
            </a:extLst>
          </p:cNvPr>
          <p:cNvSpPr>
            <a:spLocks noGrp="1"/>
          </p:cNvSpPr>
          <p:nvPr>
            <p:ph type="sldNum" idx="4294967295"/>
          </p:nvPr>
        </p:nvSpPr>
        <p:spPr>
          <a:xfrm>
            <a:off x="0" y="4602163"/>
            <a:ext cx="549275" cy="334962"/>
          </a:xfrm>
        </p:spPr>
        <p:txBody>
          <a:bodyPr/>
          <a:lstStyle/>
          <a:p>
            <a:pPr marL="0" lvl="0" indent="0" algn="ctr" rtl="0">
              <a:spcBef>
                <a:spcPts val="0"/>
              </a:spcBef>
              <a:spcAft>
                <a:spcPts val="0"/>
              </a:spcAft>
              <a:buNone/>
            </a:pPr>
            <a:fld id="{00000000-1234-1234-1234-123412341234}" type="slidenum">
              <a:rPr lang="en" smtClean="0"/>
              <a:t>72</a:t>
            </a:fld>
            <a:endParaRPr lang="en"/>
          </a:p>
        </p:txBody>
      </p:sp>
      <p:pic>
        <p:nvPicPr>
          <p:cNvPr id="7" name="Picture 6">
            <a:extLst>
              <a:ext uri="{FF2B5EF4-FFF2-40B4-BE49-F238E27FC236}">
                <a16:creationId xmlns:a16="http://schemas.microsoft.com/office/drawing/2014/main" id="{82E2F60B-CEE9-DA56-4828-FB00718A04D4}"/>
              </a:ext>
            </a:extLst>
          </p:cNvPr>
          <p:cNvPicPr>
            <a:picLocks noChangeAspect="1"/>
          </p:cNvPicPr>
          <p:nvPr/>
        </p:nvPicPr>
        <p:blipFill>
          <a:blip r:embed="rId2"/>
          <a:stretch>
            <a:fillRect/>
          </a:stretch>
        </p:blipFill>
        <p:spPr>
          <a:xfrm>
            <a:off x="5583629" y="2953512"/>
            <a:ext cx="2906164" cy="1893808"/>
          </a:xfrm>
          <a:prstGeom prst="rect">
            <a:avLst/>
          </a:prstGeom>
        </p:spPr>
      </p:pic>
    </p:spTree>
    <p:extLst>
      <p:ext uri="{BB962C8B-B14F-4D97-AF65-F5344CB8AC3E}">
        <p14:creationId xmlns:p14="http://schemas.microsoft.com/office/powerpoint/2010/main" val="24966911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4FFF6-F249-FE55-91B7-81A1A3EAC0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A940F8-C57D-003F-DD99-1D31D1B3AAD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73</a:t>
            </a:fld>
            <a:endParaRPr lang="en"/>
          </a:p>
        </p:txBody>
      </p:sp>
      <p:sp>
        <p:nvSpPr>
          <p:cNvPr id="3" name="Title 2">
            <a:extLst>
              <a:ext uri="{FF2B5EF4-FFF2-40B4-BE49-F238E27FC236}">
                <a16:creationId xmlns:a16="http://schemas.microsoft.com/office/drawing/2014/main" id="{545C46E9-BF84-E556-AF32-7007AA178A7D}"/>
              </a:ext>
            </a:extLst>
          </p:cNvPr>
          <p:cNvSpPr>
            <a:spLocks noGrp="1"/>
          </p:cNvSpPr>
          <p:nvPr>
            <p:ph type="title"/>
          </p:nvPr>
        </p:nvSpPr>
        <p:spPr>
          <a:xfrm>
            <a:off x="720000" y="445024"/>
            <a:ext cx="7704000" cy="1359907"/>
          </a:xfrm>
        </p:spPr>
        <p:txBody>
          <a:bodyPr/>
          <a:lstStyle/>
          <a:p>
            <a:pPr>
              <a:lnSpc>
                <a:spcPct val="150000"/>
              </a:lnSpc>
            </a:pPr>
            <a:r>
              <a:rPr lang="vi-VN" sz="2000" b="1" i="0" u="none" strike="noStrike" dirty="0">
                <a:solidFill>
                  <a:schemeClr val="bg1">
                    <a:lumMod val="10000"/>
                  </a:schemeClr>
                </a:solidFill>
                <a:effectLst/>
                <a:latin typeface="+mn-lt"/>
                <a:cs typeface="Arial" panose="020B0604020202020204" pitchFamily="34" charset="0"/>
              </a:rPr>
              <a:t>6. </a:t>
            </a:r>
            <a:r>
              <a:rPr lang="vi-VN" sz="2000" dirty="0">
                <a:solidFill>
                  <a:schemeClr val="bg1">
                    <a:lumMod val="10000"/>
                  </a:schemeClr>
                </a:solidFill>
                <a:effectLst/>
                <a:latin typeface="+mn-lt"/>
                <a:ea typeface="Arial" panose="020B0604020202020204" pitchFamily="34" charset="0"/>
              </a:rPr>
              <a:t>Xây dựng tình huống một trường hợp đối tượng có vấn đề cần quản lý trường hợp trong công tác xã hội</a:t>
            </a:r>
            <a:endParaRPr lang="en-VN" sz="2000" dirty="0">
              <a:solidFill>
                <a:srgbClr val="C00000"/>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26A2062A-D6A2-8877-7A5D-3C3EFF2D1604}"/>
              </a:ext>
            </a:extLst>
          </p:cNvPr>
          <p:cNvSpPr>
            <a:spLocks noGrp="1"/>
          </p:cNvSpPr>
          <p:nvPr>
            <p:ph type="body" idx="1"/>
          </p:nvPr>
        </p:nvSpPr>
        <p:spPr/>
        <p:txBody>
          <a:bodyPr/>
          <a:lstStyle/>
          <a:p>
            <a:pPr marL="177800" indent="0">
              <a:buNone/>
            </a:pPr>
            <a:endParaRPr lang="en-VN" sz="2400" dirty="0">
              <a:solidFill>
                <a:schemeClr val="bg1">
                  <a:lumMod val="10000"/>
                </a:schemeClr>
              </a:solidFill>
              <a:latin typeface="Arial" panose="020B0604020202020204" pitchFamily="34" charset="0"/>
              <a:cs typeface="Arial" panose="020B0604020202020204" pitchFamily="34" charset="0"/>
            </a:endParaRPr>
          </a:p>
          <a:p>
            <a:pPr marL="177800" indent="0">
              <a:buNone/>
            </a:pPr>
            <a:endParaRPr lang="en-VN" sz="2400" dirty="0">
              <a:solidFill>
                <a:schemeClr val="bg1">
                  <a:lumMod val="10000"/>
                </a:schemeClr>
              </a:solidFill>
              <a:latin typeface="Arial" panose="020B0604020202020204" pitchFamily="34" charset="0"/>
              <a:cs typeface="Arial" panose="020B0604020202020204" pitchFamily="34" charset="0"/>
            </a:endParaRPr>
          </a:p>
          <a:p>
            <a:pPr>
              <a:buFontTx/>
              <a:buChar char="-"/>
            </a:pPr>
            <a:r>
              <a:rPr lang="en-VN" sz="2400" dirty="0">
                <a:solidFill>
                  <a:schemeClr val="bg1">
                    <a:lumMod val="10000"/>
                  </a:schemeClr>
                </a:solidFill>
                <a:latin typeface="Arial" panose="020B0604020202020204" pitchFamily="34" charset="0"/>
                <a:cs typeface="Arial" panose="020B0604020202020204" pitchFamily="34" charset="0"/>
              </a:rPr>
              <a:t>Lớp chia 4 nhóm, mỗi nhóm 4-5 học viên</a:t>
            </a:r>
          </a:p>
          <a:p>
            <a:pPr>
              <a:buFontTx/>
              <a:buChar char="-"/>
            </a:pPr>
            <a:r>
              <a:rPr lang="en-VN" sz="2400" dirty="0">
                <a:solidFill>
                  <a:schemeClr val="bg1">
                    <a:lumMod val="10000"/>
                  </a:schemeClr>
                </a:solidFill>
                <a:latin typeface="Arial" panose="020B0604020202020204" pitchFamily="34" charset="0"/>
                <a:cs typeface="Arial" panose="020B0604020202020204" pitchFamily="34" charset="0"/>
              </a:rPr>
              <a:t>Mỗi nhóm bầu 1 trưởng nhóm, 1 thư ký</a:t>
            </a:r>
          </a:p>
          <a:p>
            <a:pPr>
              <a:buFontTx/>
              <a:buChar char="-"/>
            </a:pPr>
            <a:r>
              <a:rPr lang="en-VN" sz="2400" dirty="0">
                <a:solidFill>
                  <a:schemeClr val="bg1">
                    <a:lumMod val="10000"/>
                  </a:schemeClr>
                </a:solidFill>
                <a:latin typeface="Arial" panose="020B0604020202020204" pitchFamily="34" charset="0"/>
                <a:cs typeface="Arial" panose="020B0604020202020204" pitchFamily="34" charset="0"/>
              </a:rPr>
              <a:t>Thời gian thảo luận: 45 phút  </a:t>
            </a:r>
          </a:p>
          <a:p>
            <a:pPr>
              <a:buFontTx/>
              <a:buChar char="-"/>
            </a:pPr>
            <a:endParaRPr lang="en-VN" sz="2400" b="1" dirty="0">
              <a:solidFill>
                <a:schemeClr val="bg1">
                  <a:lumMod val="1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DA4CD66-D28C-B2C2-EE28-CAFE45226B9E}"/>
              </a:ext>
            </a:extLst>
          </p:cNvPr>
          <p:cNvPicPr>
            <a:picLocks noChangeAspect="1"/>
          </p:cNvPicPr>
          <p:nvPr/>
        </p:nvPicPr>
        <p:blipFill>
          <a:blip r:embed="rId2"/>
          <a:stretch>
            <a:fillRect/>
          </a:stretch>
        </p:blipFill>
        <p:spPr>
          <a:xfrm>
            <a:off x="6427642" y="3338568"/>
            <a:ext cx="1493437" cy="1110282"/>
          </a:xfrm>
          <a:prstGeom prst="rect">
            <a:avLst/>
          </a:prstGeom>
        </p:spPr>
      </p:pic>
    </p:spTree>
    <p:extLst>
      <p:ext uri="{BB962C8B-B14F-4D97-AF65-F5344CB8AC3E}">
        <p14:creationId xmlns:p14="http://schemas.microsoft.com/office/powerpoint/2010/main" val="8323129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2BF8-477C-F20D-53D4-BBC2CFECE3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C39278-20E0-40C8-BA28-43C4705F27C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74</a:t>
            </a:fld>
            <a:endParaRPr lang="en"/>
          </a:p>
        </p:txBody>
      </p:sp>
      <p:sp>
        <p:nvSpPr>
          <p:cNvPr id="3" name="Title 2">
            <a:extLst>
              <a:ext uri="{FF2B5EF4-FFF2-40B4-BE49-F238E27FC236}">
                <a16:creationId xmlns:a16="http://schemas.microsoft.com/office/drawing/2014/main" id="{4EA4B914-3E1B-D531-743C-F5854A2343DF}"/>
              </a:ext>
            </a:extLst>
          </p:cNvPr>
          <p:cNvSpPr>
            <a:spLocks noGrp="1"/>
          </p:cNvSpPr>
          <p:nvPr>
            <p:ph type="title"/>
          </p:nvPr>
        </p:nvSpPr>
        <p:spPr/>
        <p:txBody>
          <a:bodyPr/>
          <a:lstStyle/>
          <a:p>
            <a:pPr>
              <a:lnSpc>
                <a:spcPct val="150000"/>
              </a:lnSpc>
            </a:pPr>
            <a:r>
              <a:rPr lang="vi-VN" sz="2000" b="1" i="0" u="none" strike="noStrike" dirty="0">
                <a:solidFill>
                  <a:schemeClr val="bg1">
                    <a:lumMod val="10000"/>
                  </a:schemeClr>
                </a:solidFill>
                <a:effectLst/>
                <a:latin typeface="+mn-lt"/>
                <a:cs typeface="Arial" panose="020B0604020202020204" pitchFamily="34" charset="0"/>
              </a:rPr>
              <a:t>6. </a:t>
            </a:r>
            <a:r>
              <a:rPr lang="vi-VN" sz="2000" dirty="0">
                <a:solidFill>
                  <a:schemeClr val="bg1">
                    <a:lumMod val="10000"/>
                  </a:schemeClr>
                </a:solidFill>
                <a:effectLst/>
                <a:latin typeface="+mn-lt"/>
                <a:ea typeface="Arial" panose="020B0604020202020204" pitchFamily="34" charset="0"/>
              </a:rPr>
              <a:t>Xây dựng tình huống một trường hợp đối tượng có vấn đề cần quản lý trường hợp trong công tác xã hội</a:t>
            </a:r>
            <a:br>
              <a:rPr lang="vi-VN" sz="2000" dirty="0">
                <a:solidFill>
                  <a:srgbClr val="C00000"/>
                </a:solidFill>
                <a:latin typeface="+mn-lt"/>
              </a:rPr>
            </a:br>
            <a:br>
              <a:rPr lang="vi-VN" sz="2000" i="0" u="none" strike="noStrike" dirty="0">
                <a:solidFill>
                  <a:srgbClr val="C00000"/>
                </a:solidFill>
                <a:effectLst/>
                <a:latin typeface="+mn-lt"/>
              </a:rPr>
            </a:br>
            <a:endParaRPr lang="en-VN" sz="2000" dirty="0">
              <a:solidFill>
                <a:srgbClr val="C00000"/>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B188D7A3-1DCE-5374-20B9-13B497F058A6}"/>
              </a:ext>
            </a:extLst>
          </p:cNvPr>
          <p:cNvSpPr>
            <a:spLocks noGrp="1"/>
          </p:cNvSpPr>
          <p:nvPr>
            <p:ph type="body" idx="1"/>
          </p:nvPr>
        </p:nvSpPr>
        <p:spPr>
          <a:xfrm>
            <a:off x="720000" y="1920240"/>
            <a:ext cx="7704000" cy="2528610"/>
          </a:xfrm>
        </p:spPr>
        <p:txBody>
          <a:bodyPr/>
          <a:lstStyle/>
          <a:p>
            <a:pPr marL="177800" indent="0">
              <a:buNone/>
            </a:pPr>
            <a:r>
              <a:rPr lang="en-VN" sz="2400" dirty="0">
                <a:solidFill>
                  <a:schemeClr val="bg1">
                    <a:lumMod val="10000"/>
                  </a:schemeClr>
                </a:solidFill>
                <a:latin typeface="Arial" panose="020B0604020202020204" pitchFamily="34" charset="0"/>
                <a:cs typeface="Arial" panose="020B0604020202020204" pitchFamily="34" charset="0"/>
              </a:rPr>
              <a:t>Nội dung thảo luận: </a:t>
            </a:r>
            <a:r>
              <a:rPr lang="vi-VN" sz="24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Xây dựng tình huống một trường hợp đối tượng có vấn đề cần quản lý trường hợp trong công tác xã hội</a:t>
            </a:r>
            <a:r>
              <a:rPr lang="en-VN" sz="2400" dirty="0">
                <a:solidFill>
                  <a:schemeClr val="bg1">
                    <a:lumMod val="10000"/>
                  </a:schemeClr>
                </a:solidFill>
                <a:effectLst/>
                <a:latin typeface="Arial" panose="020B0604020202020204" pitchFamily="34" charset="0"/>
                <a:cs typeface="Arial" panose="020B0604020202020204" pitchFamily="34" charset="0"/>
              </a:rPr>
              <a:t> </a:t>
            </a:r>
            <a:endParaRPr lang="en-VN" sz="2400" dirty="0">
              <a:solidFill>
                <a:schemeClr val="bg1">
                  <a:lumMod val="1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552006E-318E-17E4-AB8E-CDEA0FBB25C3}"/>
              </a:ext>
            </a:extLst>
          </p:cNvPr>
          <p:cNvPicPr>
            <a:picLocks noChangeAspect="1"/>
          </p:cNvPicPr>
          <p:nvPr/>
        </p:nvPicPr>
        <p:blipFill>
          <a:blip r:embed="rId2"/>
          <a:stretch>
            <a:fillRect/>
          </a:stretch>
        </p:blipFill>
        <p:spPr>
          <a:xfrm>
            <a:off x="7031146" y="2832300"/>
            <a:ext cx="1486601" cy="1105200"/>
          </a:xfrm>
          <a:prstGeom prst="rect">
            <a:avLst/>
          </a:prstGeom>
        </p:spPr>
      </p:pic>
    </p:spTree>
    <p:extLst>
      <p:ext uri="{BB962C8B-B14F-4D97-AF65-F5344CB8AC3E}">
        <p14:creationId xmlns:p14="http://schemas.microsoft.com/office/powerpoint/2010/main" val="29870627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B670F9-C4B7-F6E0-1AED-54C676F5DD1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75</a:t>
            </a:fld>
            <a:endParaRPr lang="en"/>
          </a:p>
        </p:txBody>
      </p:sp>
      <p:sp>
        <p:nvSpPr>
          <p:cNvPr id="3" name="Title 2">
            <a:extLst>
              <a:ext uri="{FF2B5EF4-FFF2-40B4-BE49-F238E27FC236}">
                <a16:creationId xmlns:a16="http://schemas.microsoft.com/office/drawing/2014/main" id="{B0B5F3F7-6F63-3BE7-683C-8DAFA8444608}"/>
              </a:ext>
            </a:extLst>
          </p:cNvPr>
          <p:cNvSpPr>
            <a:spLocks noGrp="1"/>
          </p:cNvSpPr>
          <p:nvPr>
            <p:ph type="title"/>
          </p:nvPr>
        </p:nvSpPr>
        <p:spPr/>
        <p:txBody>
          <a:bodyPr/>
          <a:lstStyle/>
          <a:p>
            <a:r>
              <a:rPr lang="vi-VN" sz="2000" b="1" i="0" u="none" strike="noStrike" dirty="0">
                <a:solidFill>
                  <a:schemeClr val="bg1">
                    <a:lumMod val="10000"/>
                  </a:schemeClr>
                </a:solidFill>
                <a:effectLst/>
                <a:latin typeface="+mn-lt"/>
                <a:cs typeface="Arial" panose="020B0604020202020204" pitchFamily="34" charset="0"/>
              </a:rPr>
              <a:t>6. </a:t>
            </a:r>
            <a:r>
              <a:rPr lang="vi-VN" sz="2000" dirty="0">
                <a:solidFill>
                  <a:schemeClr val="bg1">
                    <a:lumMod val="10000"/>
                  </a:schemeClr>
                </a:solidFill>
                <a:effectLst/>
                <a:latin typeface="+mn-lt"/>
                <a:ea typeface="Arial" panose="020B0604020202020204" pitchFamily="34" charset="0"/>
              </a:rPr>
              <a:t>Xây dựng tình huống một trường hợp đối tượng có vấn đề cần quản lý trường hợp trong công tác xã hội</a:t>
            </a:r>
            <a:br>
              <a:rPr lang="vi-VN" sz="2000" dirty="0">
                <a:solidFill>
                  <a:srgbClr val="C00000"/>
                </a:solidFill>
                <a:latin typeface="+mn-lt"/>
              </a:rPr>
            </a:br>
            <a:br>
              <a:rPr lang="vi-VN" sz="2000" i="0" u="none" strike="noStrike" dirty="0">
                <a:solidFill>
                  <a:srgbClr val="C00000"/>
                </a:solidFill>
                <a:effectLst/>
                <a:latin typeface="+mn-lt"/>
              </a:rPr>
            </a:br>
            <a:endParaRPr lang="en-VN" sz="2000" dirty="0">
              <a:solidFill>
                <a:schemeClr val="bg1">
                  <a:lumMod val="10000"/>
                </a:schemeClr>
              </a:solidFill>
            </a:endParaRPr>
          </a:p>
        </p:txBody>
      </p:sp>
      <p:sp>
        <p:nvSpPr>
          <p:cNvPr id="4" name="Text Placeholder 3">
            <a:extLst>
              <a:ext uri="{FF2B5EF4-FFF2-40B4-BE49-F238E27FC236}">
                <a16:creationId xmlns:a16="http://schemas.microsoft.com/office/drawing/2014/main" id="{A0DDA0B0-891A-BA9F-B473-4FE17148450B}"/>
              </a:ext>
            </a:extLst>
          </p:cNvPr>
          <p:cNvSpPr>
            <a:spLocks noGrp="1"/>
          </p:cNvSpPr>
          <p:nvPr>
            <p:ph type="body" idx="1"/>
          </p:nvPr>
        </p:nvSpPr>
        <p:spPr/>
        <p:txBody>
          <a:bodyPr/>
          <a:lstStyle/>
          <a:p>
            <a:pPr>
              <a:buFontTx/>
              <a:buChar char="-"/>
            </a:pPr>
            <a:r>
              <a:rPr lang="en-VN" sz="2400" dirty="0">
                <a:solidFill>
                  <a:schemeClr val="bg1">
                    <a:lumMod val="10000"/>
                  </a:schemeClr>
                </a:solidFill>
                <a:latin typeface="Arial" panose="020B0604020202020204" pitchFamily="34" charset="0"/>
                <a:cs typeface="Arial" panose="020B0604020202020204" pitchFamily="34" charset="0"/>
              </a:rPr>
              <a:t>Dựa trên tình huống đã thảo luận ở trên </a:t>
            </a:r>
          </a:p>
          <a:p>
            <a:pPr>
              <a:buFontTx/>
              <a:buChar char="-"/>
            </a:pPr>
            <a:r>
              <a:rPr lang="en-VN" sz="2400" dirty="0">
                <a:solidFill>
                  <a:schemeClr val="bg1">
                    <a:lumMod val="10000"/>
                  </a:schemeClr>
                </a:solidFill>
                <a:latin typeface="Arial" panose="020B0604020202020204" pitchFamily="34" charset="0"/>
                <a:cs typeface="Arial" panose="020B0604020202020204" pitchFamily="34" charset="0"/>
              </a:rPr>
              <a:t>Mỗi nhóm cử 01 người đóng vai là nhân viên CTXH, 01 người đóng vai là đối tượng cần trợ giúp</a:t>
            </a:r>
          </a:p>
          <a:p>
            <a:pPr>
              <a:buFontTx/>
              <a:buChar char="-"/>
            </a:pPr>
            <a:r>
              <a:rPr lang="en-VN" sz="2400" dirty="0">
                <a:solidFill>
                  <a:schemeClr val="bg1">
                    <a:lumMod val="10000"/>
                  </a:schemeClr>
                </a:solidFill>
                <a:latin typeface="Arial" panose="020B0604020202020204" pitchFamily="34" charset="0"/>
                <a:cs typeface="Arial" panose="020B0604020202020204" pitchFamily="34" charset="0"/>
              </a:rPr>
              <a:t>Xây dựng kịch bản đóng vai </a:t>
            </a:r>
          </a:p>
          <a:p>
            <a:pPr>
              <a:buFontTx/>
              <a:buChar char="-"/>
            </a:pPr>
            <a:r>
              <a:rPr lang="vi-VN" sz="2400" dirty="0">
                <a:solidFill>
                  <a:schemeClr val="bg1">
                    <a:lumMod val="10000"/>
                  </a:schemeClr>
                </a:solidFill>
                <a:effectLst/>
                <a:latin typeface="Arial" panose="020B0604020202020204" pitchFamily="34" charset="0"/>
                <a:ea typeface="Arial" panose="020B0604020202020204" pitchFamily="34" charset="0"/>
                <a:cs typeface="Arial" panose="020B0604020202020204" pitchFamily="34" charset="0"/>
              </a:rPr>
              <a:t>Thực hành đóng vai áp dụng một số kỹ năng chuyên sâu về quản lý trường hợp trong công tác xã hội trên lớp dựa trên tình huống đã xây dựng </a:t>
            </a:r>
            <a:endParaRPr lang="en-VN" sz="24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98681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E8748-AB54-97DE-2B20-08BD8514B2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5BA8E8-F73F-C7A9-0EA4-EE537A2DA17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76</a:t>
            </a:fld>
            <a:endParaRPr lang="en"/>
          </a:p>
        </p:txBody>
      </p:sp>
      <p:sp>
        <p:nvSpPr>
          <p:cNvPr id="3" name="Title 2">
            <a:extLst>
              <a:ext uri="{FF2B5EF4-FFF2-40B4-BE49-F238E27FC236}">
                <a16:creationId xmlns:a16="http://schemas.microsoft.com/office/drawing/2014/main" id="{04E6D562-1C91-8DF9-294A-960198C19401}"/>
              </a:ext>
            </a:extLst>
          </p:cNvPr>
          <p:cNvSpPr>
            <a:spLocks noGrp="1"/>
          </p:cNvSpPr>
          <p:nvPr>
            <p:ph type="title"/>
          </p:nvPr>
        </p:nvSpPr>
        <p:spPr>
          <a:xfrm>
            <a:off x="720000" y="694650"/>
            <a:ext cx="7704000" cy="572700"/>
          </a:xfrm>
        </p:spPr>
        <p:txBody>
          <a:bodyPr/>
          <a:lstStyle/>
          <a:p>
            <a:pPr>
              <a:lnSpc>
                <a:spcPct val="150000"/>
              </a:lnSpc>
            </a:pPr>
            <a:r>
              <a:rPr lang="vi-VN" sz="2000" b="1" i="0" u="none" strike="noStrike" dirty="0">
                <a:solidFill>
                  <a:schemeClr val="bg1">
                    <a:lumMod val="10000"/>
                  </a:schemeClr>
                </a:solidFill>
                <a:effectLst/>
                <a:latin typeface="+mn-lt"/>
                <a:cs typeface="Arial" panose="020B0604020202020204" pitchFamily="34" charset="0"/>
              </a:rPr>
              <a:t>6. </a:t>
            </a:r>
            <a:r>
              <a:rPr lang="vi-VN" sz="2000" dirty="0">
                <a:solidFill>
                  <a:schemeClr val="bg1">
                    <a:lumMod val="10000"/>
                  </a:schemeClr>
                </a:solidFill>
                <a:effectLst/>
                <a:latin typeface="+mn-lt"/>
                <a:ea typeface="Arial" panose="020B0604020202020204" pitchFamily="34" charset="0"/>
              </a:rPr>
              <a:t>Xây dựng tình huống một trường hợp đối tượng có vấn đề cần quản lý trường hợp trong công tác xã hội</a:t>
            </a:r>
            <a:br>
              <a:rPr lang="vi-VN" sz="2000" dirty="0">
                <a:solidFill>
                  <a:srgbClr val="C00000"/>
                </a:solidFill>
                <a:latin typeface="+mn-lt"/>
              </a:rPr>
            </a:br>
            <a:endParaRPr lang="en-VN" sz="2000" dirty="0">
              <a:solidFill>
                <a:schemeClr val="bg1">
                  <a:lumMod val="10000"/>
                </a:schemeClr>
              </a:solidFill>
            </a:endParaRPr>
          </a:p>
        </p:txBody>
      </p:sp>
      <p:sp>
        <p:nvSpPr>
          <p:cNvPr id="4" name="Text Placeholder 3">
            <a:extLst>
              <a:ext uri="{FF2B5EF4-FFF2-40B4-BE49-F238E27FC236}">
                <a16:creationId xmlns:a16="http://schemas.microsoft.com/office/drawing/2014/main" id="{146F7747-BA2D-472A-3C14-ED20E642F12C}"/>
              </a:ext>
            </a:extLst>
          </p:cNvPr>
          <p:cNvSpPr>
            <a:spLocks noGrp="1"/>
          </p:cNvSpPr>
          <p:nvPr>
            <p:ph type="body" idx="1"/>
          </p:nvPr>
        </p:nvSpPr>
        <p:spPr>
          <a:xfrm>
            <a:off x="720000" y="2066544"/>
            <a:ext cx="7704000" cy="2382306"/>
          </a:xfrm>
        </p:spPr>
        <p:txBody>
          <a:bodyPr/>
          <a:lstStyle/>
          <a:p>
            <a:pPr>
              <a:buFontTx/>
              <a:buChar char="-"/>
            </a:pPr>
            <a:r>
              <a:rPr lang="en-VN" sz="2000" dirty="0">
                <a:solidFill>
                  <a:schemeClr val="bg1">
                    <a:lumMod val="10000"/>
                  </a:schemeClr>
                </a:solidFill>
                <a:latin typeface="Arial" panose="020B0604020202020204" pitchFamily="34" charset="0"/>
                <a:cs typeface="Arial" panose="020B0604020202020204" pitchFamily="34" charset="0"/>
              </a:rPr>
              <a:t>Đóng vai: 20-30 phút/1 nhóm đóng vai</a:t>
            </a:r>
          </a:p>
          <a:p>
            <a:pPr>
              <a:buFontTx/>
              <a:buChar char="-"/>
            </a:pPr>
            <a:r>
              <a:rPr lang="en-VN" sz="2000" dirty="0">
                <a:solidFill>
                  <a:schemeClr val="bg1">
                    <a:lumMod val="10000"/>
                  </a:schemeClr>
                </a:solidFill>
                <a:latin typeface="Arial" panose="020B0604020202020204" pitchFamily="34" charset="0"/>
                <a:cs typeface="Arial" panose="020B0604020202020204" pitchFamily="34" charset="0"/>
              </a:rPr>
              <a:t>Góp ý, nhận xét: 10 phút/1 nhóm</a:t>
            </a:r>
          </a:p>
          <a:p>
            <a:pPr>
              <a:buFontTx/>
              <a:buChar char="-"/>
            </a:pPr>
            <a:r>
              <a:rPr lang="en-VN" sz="2000" dirty="0">
                <a:solidFill>
                  <a:schemeClr val="bg1">
                    <a:lumMod val="10000"/>
                  </a:schemeClr>
                </a:solidFill>
                <a:latin typeface="Arial" panose="020B0604020202020204" pitchFamily="34" charset="0"/>
                <a:cs typeface="Arial" panose="020B0604020202020204" pitchFamily="34" charset="0"/>
              </a:rPr>
              <a:t>Sau khi nhận góp ý nhận xét của học viên và giảng viên. Nhóm tiếp tục hoàn thiện tình huống và kịch bản</a:t>
            </a:r>
          </a:p>
          <a:p>
            <a:pPr marL="177800" indent="0">
              <a:buNone/>
            </a:pPr>
            <a:endParaRPr lang="en-VN" sz="2000" dirty="0">
              <a:solidFill>
                <a:schemeClr val="bg1">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09172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38BD2A-61B7-A5DC-D83B-CE58C85374D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77</a:t>
            </a:fld>
            <a:endParaRPr lang="en"/>
          </a:p>
        </p:txBody>
      </p:sp>
      <p:sp>
        <p:nvSpPr>
          <p:cNvPr id="3" name="Title 2">
            <a:extLst>
              <a:ext uri="{FF2B5EF4-FFF2-40B4-BE49-F238E27FC236}">
                <a16:creationId xmlns:a16="http://schemas.microsoft.com/office/drawing/2014/main" id="{43A89844-967A-3F3E-462D-D3C05BBA9E06}"/>
              </a:ext>
            </a:extLst>
          </p:cNvPr>
          <p:cNvSpPr>
            <a:spLocks noGrp="1"/>
          </p:cNvSpPr>
          <p:nvPr>
            <p:ph type="title"/>
          </p:nvPr>
        </p:nvSpPr>
        <p:spPr/>
        <p:txBody>
          <a:bodyPr/>
          <a:lstStyle/>
          <a:p>
            <a:r>
              <a:rPr lang="vi-VN" sz="2800" b="1" i="0" u="none" strike="noStrike" dirty="0">
                <a:solidFill>
                  <a:srgbClr val="000000"/>
                </a:solidFill>
                <a:effectLst/>
                <a:latin typeface="Arial" panose="020B0604020202020204" pitchFamily="34" charset="0"/>
                <a:cs typeface="Arial" panose="020B0604020202020204" pitchFamily="34" charset="0"/>
              </a:rPr>
              <a:t>4. Các tài liệu học tập/tham khảo  </a:t>
            </a:r>
            <a:endParaRPr lang="en-VN" sz="2800" dirty="0"/>
          </a:p>
        </p:txBody>
      </p:sp>
      <p:sp>
        <p:nvSpPr>
          <p:cNvPr id="4" name="Text Placeholder 3">
            <a:extLst>
              <a:ext uri="{FF2B5EF4-FFF2-40B4-BE49-F238E27FC236}">
                <a16:creationId xmlns:a16="http://schemas.microsoft.com/office/drawing/2014/main" id="{C823BBE0-74B9-41A3-1F2F-CA668EDED941}"/>
              </a:ext>
            </a:extLst>
          </p:cNvPr>
          <p:cNvSpPr>
            <a:spLocks noGrp="1"/>
          </p:cNvSpPr>
          <p:nvPr>
            <p:ph type="body" idx="1"/>
          </p:nvPr>
        </p:nvSpPr>
        <p:spPr/>
        <p:txBody>
          <a:bodyPr/>
          <a:lstStyle/>
          <a:p>
            <a:pPr marL="0" indent="0" algn="just" rtl="0">
              <a:buNone/>
            </a:pPr>
            <a:r>
              <a:rPr lang="vi-VN" sz="2000" b="1" i="0" u="none" strike="noStrike" dirty="0">
                <a:solidFill>
                  <a:srgbClr val="000000"/>
                </a:solidFill>
                <a:effectLst/>
                <a:latin typeface="Arial" panose="020B0604020202020204" pitchFamily="34" charset="0"/>
                <a:cs typeface="Arial" panose="020B0604020202020204" pitchFamily="34" charset="0"/>
              </a:rPr>
              <a:t>Tài liệu nên đọc:  </a:t>
            </a:r>
            <a:endParaRPr lang="vi-VN" sz="2000" b="0" i="0" u="none" strike="noStrike" dirty="0">
              <a:solidFill>
                <a:srgbClr val="000000"/>
              </a:solidFill>
              <a:effectLst/>
              <a:latin typeface="Arial" panose="020B0604020202020204" pitchFamily="34" charset="0"/>
              <a:cs typeface="Arial" panose="020B0604020202020204" pitchFamily="34" charset="0"/>
            </a:endParaRPr>
          </a:p>
          <a:p>
            <a:pPr algn="just" rtl="0" fontAlgn="base">
              <a:buFont typeface="+mj-lt"/>
              <a:buAutoNum type="arabicPeriod"/>
            </a:pPr>
            <a:r>
              <a:rPr lang="vi-VN" sz="2000" b="0" i="0" u="none" strike="noStrike" dirty="0">
                <a:solidFill>
                  <a:srgbClr val="000000"/>
                </a:solidFill>
                <a:effectLst/>
                <a:latin typeface="Arial" panose="020B0604020202020204" pitchFamily="34" charset="0"/>
                <a:cs typeface="Arial" panose="020B0604020202020204" pitchFamily="34" charset="0"/>
              </a:rPr>
              <a:t>Bộ Lao động Thương binh và Xã hội. Tài liệu hướng dẫn thực hành Công tác xã hội nhóm. (2017). </a:t>
            </a:r>
          </a:p>
          <a:p>
            <a:pPr algn="just" rtl="0" fontAlgn="base">
              <a:buFont typeface="+mj-lt"/>
              <a:buAutoNum type="arabicPeriod"/>
            </a:pPr>
            <a:r>
              <a:rPr lang="vi-VN" sz="2000" b="0" i="0" u="none" strike="noStrike" dirty="0">
                <a:solidFill>
                  <a:srgbClr val="000000"/>
                </a:solidFill>
                <a:effectLst/>
                <a:latin typeface="Arial" panose="020B0604020202020204" pitchFamily="34" charset="0"/>
                <a:cs typeface="Arial" panose="020B0604020202020204" pitchFamily="34" charset="0"/>
              </a:rPr>
              <a:t>Bộ Lao động Thương binh và Xã hội. Tài liệu hướng dẫn thực hành Công tác xã hội cá nhân và gia đình. (2017).</a:t>
            </a:r>
          </a:p>
          <a:p>
            <a:pPr algn="just" rtl="0" fontAlgn="base">
              <a:spcAft>
                <a:spcPts val="300"/>
              </a:spcAft>
              <a:buFont typeface="+mj-lt"/>
              <a:buAutoNum type="arabicPeriod"/>
            </a:pPr>
            <a:r>
              <a:rPr lang="vi-VN" sz="2000" b="0" i="0" u="none" strike="noStrike" dirty="0">
                <a:solidFill>
                  <a:srgbClr val="000000"/>
                </a:solidFill>
                <a:effectLst/>
                <a:latin typeface="Arial" panose="020B0604020202020204" pitchFamily="34" charset="0"/>
                <a:cs typeface="Arial" panose="020B0604020202020204" pitchFamily="34" charset="0"/>
              </a:rPr>
              <a:t>Phạm Tiến Nam, Lý Thị Hảo, Bùi Thị Thu Hà. Tài liệu Công tác xã hội trong bệnh viện (Dành cho người làm công tác xã hội trong bệnh viện). NXB Lao động – Xã hội. (2019).</a:t>
            </a:r>
          </a:p>
          <a:p>
            <a:endParaRPr lang="en-V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87685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9D40A6-B7CF-0ABE-41CC-A805C117F5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78</a:t>
            </a:fld>
            <a:endParaRPr lang="en"/>
          </a:p>
        </p:txBody>
      </p:sp>
      <p:sp>
        <p:nvSpPr>
          <p:cNvPr id="3" name="Title 2">
            <a:extLst>
              <a:ext uri="{FF2B5EF4-FFF2-40B4-BE49-F238E27FC236}">
                <a16:creationId xmlns:a16="http://schemas.microsoft.com/office/drawing/2014/main" id="{92D124D2-F985-B554-A835-59969BFC1810}"/>
              </a:ext>
            </a:extLst>
          </p:cNvPr>
          <p:cNvSpPr>
            <a:spLocks noGrp="1"/>
          </p:cNvSpPr>
          <p:nvPr>
            <p:ph type="title"/>
          </p:nvPr>
        </p:nvSpPr>
        <p:spPr/>
        <p:txBody>
          <a:bodyPr/>
          <a:lstStyle/>
          <a:p>
            <a:r>
              <a:rPr lang="en" sz="2400" dirty="0">
                <a:solidFill>
                  <a:schemeClr val="bg1">
                    <a:lumMod val="10000"/>
                  </a:schemeClr>
                </a:solidFill>
                <a:latin typeface="Arial" panose="020B0604020202020204" pitchFamily="34" charset="0"/>
                <a:cs typeface="Arial" panose="020B0604020202020204" pitchFamily="34" charset="0"/>
              </a:rPr>
              <a:t>TÓM TẮT NỘI DUNG BÀI HỌC</a:t>
            </a:r>
            <a:endParaRPr lang="en-VN" sz="2400" dirty="0">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784FF5D3-25E5-4161-3FA9-2FD3C93489D7}"/>
              </a:ext>
            </a:extLst>
          </p:cNvPr>
          <p:cNvSpPr>
            <a:spLocks noGrp="1"/>
          </p:cNvSpPr>
          <p:nvPr>
            <p:ph type="body" idx="1"/>
          </p:nvPr>
        </p:nvSpPr>
        <p:spPr/>
        <p:txBody>
          <a:bodyPr/>
          <a:lstStyle/>
          <a:p>
            <a:r>
              <a:rPr lang="en" sz="2000" b="0" dirty="0" err="1">
                <a:solidFill>
                  <a:schemeClr val="bg1">
                    <a:lumMod val="10000"/>
                  </a:schemeClr>
                </a:solidFill>
                <a:latin typeface="Arial" panose="020B0604020202020204" pitchFamily="34" charset="0"/>
                <a:cs typeface="Arial" panose="020B0604020202020204" pitchFamily="34" charset="0"/>
              </a:rPr>
              <a:t>Kỹ</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năng</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giao</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tiếp</a:t>
            </a:r>
            <a:endParaRPr lang="en" sz="2000" b="0" dirty="0">
              <a:solidFill>
                <a:schemeClr val="bg1">
                  <a:lumMod val="10000"/>
                </a:schemeClr>
              </a:solidFill>
              <a:latin typeface="Arial" panose="020B0604020202020204" pitchFamily="34" charset="0"/>
              <a:cs typeface="Arial" panose="020B0604020202020204" pitchFamily="34" charset="0"/>
            </a:endParaRPr>
          </a:p>
          <a:p>
            <a:r>
              <a:rPr lang="en" sz="2000" dirty="0" err="1">
                <a:solidFill>
                  <a:schemeClr val="bg1">
                    <a:lumMod val="10000"/>
                  </a:schemeClr>
                </a:solidFill>
                <a:latin typeface="Arial" panose="020B0604020202020204" pitchFamily="34" charset="0"/>
                <a:cs typeface="Arial" panose="020B0604020202020204" pitchFamily="34" charset="0"/>
              </a:rPr>
              <a:t>Kỹ</a:t>
            </a:r>
            <a:r>
              <a:rPr lang="en" sz="2000" dirty="0">
                <a:solidFill>
                  <a:schemeClr val="bg1">
                    <a:lumMod val="10000"/>
                  </a:schemeClr>
                </a:solidFill>
                <a:latin typeface="Arial" panose="020B0604020202020204" pitchFamily="34" charset="0"/>
                <a:cs typeface="Arial" panose="020B0604020202020204" pitchFamily="34" charset="0"/>
              </a:rPr>
              <a:t> </a:t>
            </a:r>
            <a:r>
              <a:rPr lang="en" sz="2000" dirty="0" err="1">
                <a:solidFill>
                  <a:schemeClr val="bg1">
                    <a:lumMod val="10000"/>
                  </a:schemeClr>
                </a:solidFill>
                <a:latin typeface="Arial" panose="020B0604020202020204" pitchFamily="34" charset="0"/>
                <a:cs typeface="Arial" panose="020B0604020202020204" pitchFamily="34" charset="0"/>
              </a:rPr>
              <a:t>năng</a:t>
            </a:r>
            <a:r>
              <a:rPr lang="en" sz="2000" dirty="0">
                <a:solidFill>
                  <a:schemeClr val="bg1">
                    <a:lumMod val="10000"/>
                  </a:schemeClr>
                </a:solidFill>
                <a:latin typeface="Arial" panose="020B0604020202020204" pitchFamily="34" charset="0"/>
                <a:cs typeface="Arial" panose="020B0604020202020204" pitchFamily="34" charset="0"/>
              </a:rPr>
              <a:t> </a:t>
            </a:r>
            <a:r>
              <a:rPr lang="en" sz="2000" dirty="0" err="1">
                <a:solidFill>
                  <a:schemeClr val="bg1">
                    <a:lumMod val="10000"/>
                  </a:schemeClr>
                </a:solidFill>
                <a:latin typeface="Arial" panose="020B0604020202020204" pitchFamily="34" charset="0"/>
                <a:cs typeface="Arial" panose="020B0604020202020204" pitchFamily="34" charset="0"/>
              </a:rPr>
              <a:t>đánh</a:t>
            </a:r>
            <a:r>
              <a:rPr lang="en" sz="2000" dirty="0">
                <a:solidFill>
                  <a:schemeClr val="bg1">
                    <a:lumMod val="10000"/>
                  </a:schemeClr>
                </a:solidFill>
                <a:latin typeface="Arial" panose="020B0604020202020204" pitchFamily="34" charset="0"/>
                <a:cs typeface="Arial" panose="020B0604020202020204" pitchFamily="34" charset="0"/>
              </a:rPr>
              <a:t> </a:t>
            </a:r>
            <a:r>
              <a:rPr lang="en" sz="2000" dirty="0" err="1">
                <a:solidFill>
                  <a:schemeClr val="bg1">
                    <a:lumMod val="10000"/>
                  </a:schemeClr>
                </a:solidFill>
                <a:latin typeface="Arial" panose="020B0604020202020204" pitchFamily="34" charset="0"/>
                <a:cs typeface="Arial" panose="020B0604020202020204" pitchFamily="34" charset="0"/>
              </a:rPr>
              <a:t>giá</a:t>
            </a:r>
            <a:endParaRPr lang="en" sz="2000" dirty="0">
              <a:solidFill>
                <a:schemeClr val="bg1">
                  <a:lumMod val="10000"/>
                </a:schemeClr>
              </a:solidFill>
              <a:latin typeface="Arial" panose="020B0604020202020204" pitchFamily="34" charset="0"/>
              <a:cs typeface="Arial" panose="020B0604020202020204" pitchFamily="34" charset="0"/>
            </a:endParaRPr>
          </a:p>
          <a:p>
            <a:r>
              <a:rPr lang="en" sz="2000" b="0" dirty="0" err="1">
                <a:solidFill>
                  <a:schemeClr val="bg1">
                    <a:lumMod val="10000"/>
                  </a:schemeClr>
                </a:solidFill>
                <a:latin typeface="Arial" panose="020B0604020202020204" pitchFamily="34" charset="0"/>
                <a:cs typeface="Arial" panose="020B0604020202020204" pitchFamily="34" charset="0"/>
              </a:rPr>
              <a:t>Kỹ</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năng</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kết</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nối</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và</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điều</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phối</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nguồn</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lực</a:t>
            </a:r>
            <a:r>
              <a:rPr lang="en" sz="2000" b="0" dirty="0">
                <a:solidFill>
                  <a:schemeClr val="bg1">
                    <a:lumMod val="10000"/>
                  </a:schemeClr>
                </a:solidFill>
                <a:latin typeface="Arial" panose="020B0604020202020204" pitchFamily="34" charset="0"/>
                <a:cs typeface="Arial" panose="020B0604020202020204" pitchFamily="34" charset="0"/>
              </a:rPr>
              <a:t> </a:t>
            </a:r>
          </a:p>
          <a:p>
            <a:r>
              <a:rPr lang="en" sz="2000" dirty="0" err="1">
                <a:solidFill>
                  <a:schemeClr val="bg1">
                    <a:lumMod val="10000"/>
                  </a:schemeClr>
                </a:solidFill>
                <a:latin typeface="Arial" panose="020B0604020202020204" pitchFamily="34" charset="0"/>
                <a:cs typeface="Arial" panose="020B0604020202020204" pitchFamily="34" charset="0"/>
              </a:rPr>
              <a:t>Kỹ</a:t>
            </a:r>
            <a:r>
              <a:rPr lang="en" sz="2000" dirty="0">
                <a:solidFill>
                  <a:schemeClr val="bg1">
                    <a:lumMod val="10000"/>
                  </a:schemeClr>
                </a:solidFill>
                <a:latin typeface="Arial" panose="020B0604020202020204" pitchFamily="34" charset="0"/>
                <a:cs typeface="Arial" panose="020B0604020202020204" pitchFamily="34" charset="0"/>
              </a:rPr>
              <a:t> </a:t>
            </a:r>
            <a:r>
              <a:rPr lang="en" sz="2000" dirty="0" err="1">
                <a:solidFill>
                  <a:schemeClr val="bg1">
                    <a:lumMod val="10000"/>
                  </a:schemeClr>
                </a:solidFill>
                <a:latin typeface="Arial" panose="020B0604020202020204" pitchFamily="34" charset="0"/>
                <a:cs typeface="Arial" panose="020B0604020202020204" pitchFamily="34" charset="0"/>
              </a:rPr>
              <a:t>năg</a:t>
            </a:r>
            <a:r>
              <a:rPr lang="en" sz="2000" dirty="0">
                <a:solidFill>
                  <a:schemeClr val="bg1">
                    <a:lumMod val="10000"/>
                  </a:schemeClr>
                </a:solidFill>
                <a:latin typeface="Arial" panose="020B0604020202020204" pitchFamily="34" charset="0"/>
                <a:cs typeface="Arial" panose="020B0604020202020204" pitchFamily="34" charset="0"/>
              </a:rPr>
              <a:t> </a:t>
            </a:r>
            <a:r>
              <a:rPr lang="en" sz="2000" dirty="0" err="1">
                <a:solidFill>
                  <a:schemeClr val="bg1">
                    <a:lumMod val="10000"/>
                  </a:schemeClr>
                </a:solidFill>
                <a:latin typeface="Arial" panose="020B0604020202020204" pitchFamily="34" charset="0"/>
                <a:cs typeface="Arial" panose="020B0604020202020204" pitchFamily="34" charset="0"/>
              </a:rPr>
              <a:t>biện</a:t>
            </a:r>
            <a:r>
              <a:rPr lang="en" sz="2000" dirty="0">
                <a:solidFill>
                  <a:schemeClr val="bg1">
                    <a:lumMod val="10000"/>
                  </a:schemeClr>
                </a:solidFill>
                <a:latin typeface="Arial" panose="020B0604020202020204" pitchFamily="34" charset="0"/>
                <a:cs typeface="Arial" panose="020B0604020202020204" pitchFamily="34" charset="0"/>
              </a:rPr>
              <a:t> </a:t>
            </a:r>
            <a:r>
              <a:rPr lang="en" sz="2000" dirty="0" err="1">
                <a:solidFill>
                  <a:schemeClr val="bg1">
                    <a:lumMod val="10000"/>
                  </a:schemeClr>
                </a:solidFill>
                <a:latin typeface="Arial" panose="020B0604020202020204" pitchFamily="34" charset="0"/>
                <a:cs typeface="Arial" panose="020B0604020202020204" pitchFamily="34" charset="0"/>
              </a:rPr>
              <a:t>hộ</a:t>
            </a:r>
            <a:r>
              <a:rPr lang="en" sz="2000" dirty="0">
                <a:solidFill>
                  <a:schemeClr val="bg1">
                    <a:lumMod val="10000"/>
                  </a:schemeClr>
                </a:solidFill>
                <a:latin typeface="Arial" panose="020B0604020202020204" pitchFamily="34" charset="0"/>
                <a:cs typeface="Arial" panose="020B0604020202020204" pitchFamily="34" charset="0"/>
              </a:rPr>
              <a:t> </a:t>
            </a:r>
          </a:p>
          <a:p>
            <a:r>
              <a:rPr lang="en" sz="2000" b="0" dirty="0" err="1">
                <a:solidFill>
                  <a:schemeClr val="bg1">
                    <a:lumMod val="10000"/>
                  </a:schemeClr>
                </a:solidFill>
                <a:latin typeface="Arial" panose="020B0604020202020204" pitchFamily="34" charset="0"/>
                <a:cs typeface="Arial" panose="020B0604020202020204" pitchFamily="34" charset="0"/>
              </a:rPr>
              <a:t>Kỹ</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năng</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ghi</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chép</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và</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lưu</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giữ</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thông</a:t>
            </a:r>
            <a:r>
              <a:rPr lang="en" sz="2000" b="0" dirty="0">
                <a:solidFill>
                  <a:schemeClr val="bg1">
                    <a:lumMod val="10000"/>
                  </a:schemeClr>
                </a:solidFill>
                <a:latin typeface="Arial" panose="020B0604020202020204" pitchFamily="34" charset="0"/>
                <a:cs typeface="Arial" panose="020B0604020202020204" pitchFamily="34" charset="0"/>
              </a:rPr>
              <a:t> tin</a:t>
            </a:r>
          </a:p>
          <a:p>
            <a:pPr marL="177800" indent="0">
              <a:buNone/>
            </a:pPr>
            <a:r>
              <a:rPr lang="en" sz="2000" b="0" dirty="0">
                <a:solidFill>
                  <a:schemeClr val="bg1">
                    <a:lumMod val="10000"/>
                  </a:schemeClr>
                </a:solidFill>
                <a:latin typeface="Arial" panose="020B0604020202020204" pitchFamily="34" charset="0"/>
                <a:cs typeface="Arial" panose="020B0604020202020204" pitchFamily="34" charset="0"/>
              </a:rPr>
              <a:t>=&gt; Trong </a:t>
            </a:r>
            <a:r>
              <a:rPr lang="en" sz="2000" b="0" dirty="0" err="1">
                <a:solidFill>
                  <a:schemeClr val="bg1">
                    <a:lumMod val="10000"/>
                  </a:schemeClr>
                </a:solidFill>
                <a:latin typeface="Arial" panose="020B0604020202020204" pitchFamily="34" charset="0"/>
                <a:cs typeface="Arial" panose="020B0604020202020204" pitchFamily="34" charset="0"/>
              </a:rPr>
              <a:t>mỗi</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kỹ</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năng</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Khái</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niệm</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ý</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nghĩa</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cách</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thực</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hiện</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thảo</a:t>
            </a:r>
            <a:r>
              <a:rPr lang="en" sz="2000" b="0" dirty="0">
                <a:solidFill>
                  <a:schemeClr val="bg1">
                    <a:lumMod val="10000"/>
                  </a:schemeClr>
                </a:solidFill>
                <a:latin typeface="Arial" panose="020B0604020202020204" pitchFamily="34" charset="0"/>
                <a:cs typeface="Arial" panose="020B0604020202020204" pitchFamily="34" charset="0"/>
              </a:rPr>
              <a:t> </a:t>
            </a:r>
            <a:r>
              <a:rPr lang="en" sz="2000" b="0" dirty="0" err="1">
                <a:solidFill>
                  <a:schemeClr val="bg1">
                    <a:lumMod val="10000"/>
                  </a:schemeClr>
                </a:solidFill>
                <a:latin typeface="Arial" panose="020B0604020202020204" pitchFamily="34" charset="0"/>
                <a:cs typeface="Arial" panose="020B0604020202020204" pitchFamily="34" charset="0"/>
              </a:rPr>
              <a:t>luận</a:t>
            </a:r>
            <a:r>
              <a:rPr lang="en" sz="2000" b="0" dirty="0">
                <a:solidFill>
                  <a:schemeClr val="bg1">
                    <a:lumMod val="10000"/>
                  </a:schemeClr>
                </a:solidFill>
                <a:latin typeface="Arial" panose="020B0604020202020204" pitchFamily="34" charset="0"/>
                <a:cs typeface="Arial" panose="020B0604020202020204" pitchFamily="34" charset="0"/>
              </a:rPr>
              <a:t> ca</a:t>
            </a:r>
            <a:endParaRPr lang="en-V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8691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E7E8E7-01AD-FB80-B958-88067401A14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79</a:t>
            </a:fld>
            <a:endParaRPr lang="en"/>
          </a:p>
        </p:txBody>
      </p:sp>
      <p:sp>
        <p:nvSpPr>
          <p:cNvPr id="3" name="Title 2">
            <a:extLst>
              <a:ext uri="{FF2B5EF4-FFF2-40B4-BE49-F238E27FC236}">
                <a16:creationId xmlns:a16="http://schemas.microsoft.com/office/drawing/2014/main" id="{97778C8D-FBEB-39CF-F7B5-D8C047835B0F}"/>
              </a:ext>
            </a:extLst>
          </p:cNvPr>
          <p:cNvSpPr>
            <a:spLocks noGrp="1"/>
          </p:cNvSpPr>
          <p:nvPr>
            <p:ph type="title"/>
          </p:nvPr>
        </p:nvSpPr>
        <p:spPr/>
        <p:txBody>
          <a:bodyPr/>
          <a:lstStyle/>
          <a:p>
            <a:r>
              <a:rPr lang="vi-VN" sz="2400" b="1" i="0" u="none" strike="noStrike" dirty="0">
                <a:solidFill>
                  <a:schemeClr val="bg1">
                    <a:lumMod val="25000"/>
                  </a:schemeClr>
                </a:solidFill>
                <a:effectLst/>
                <a:latin typeface="Arial" panose="020B0604020202020204" pitchFamily="34" charset="0"/>
                <a:cs typeface="Arial" panose="020B0604020202020204" pitchFamily="34" charset="0"/>
              </a:rPr>
              <a:t>4. Các tài liệu học tập/tham khảo  </a:t>
            </a:r>
            <a:br>
              <a:rPr lang="vi-VN" sz="2400" b="0" i="0" u="none" strike="noStrike" dirty="0">
                <a:solidFill>
                  <a:schemeClr val="bg1">
                    <a:lumMod val="25000"/>
                  </a:schemeClr>
                </a:solidFill>
                <a:effectLst/>
                <a:latin typeface="Arial" panose="020B0604020202020204" pitchFamily="34" charset="0"/>
                <a:cs typeface="Arial" panose="020B0604020202020204" pitchFamily="34" charset="0"/>
              </a:rPr>
            </a:br>
            <a:endParaRPr lang="en-VN" sz="2400" dirty="0">
              <a:solidFill>
                <a:schemeClr val="bg1">
                  <a:lumMod val="25000"/>
                </a:schemeClr>
              </a:solidFill>
              <a:latin typeface="Arial" panose="020B0604020202020204" pitchFamily="34" charset="0"/>
              <a:cs typeface="Arial" panose="020B0604020202020204" pitchFamily="34" charset="0"/>
            </a:endParaRPr>
          </a:p>
        </p:txBody>
      </p:sp>
      <p:sp>
        <p:nvSpPr>
          <p:cNvPr id="4" name="Text Placeholder 3">
            <a:extLst>
              <a:ext uri="{FF2B5EF4-FFF2-40B4-BE49-F238E27FC236}">
                <a16:creationId xmlns:a16="http://schemas.microsoft.com/office/drawing/2014/main" id="{8269EBAD-E3A4-5B4B-988F-C950B2FE3A5A}"/>
              </a:ext>
            </a:extLst>
          </p:cNvPr>
          <p:cNvSpPr>
            <a:spLocks noGrp="1"/>
          </p:cNvSpPr>
          <p:nvPr>
            <p:ph type="body" idx="1"/>
          </p:nvPr>
        </p:nvSpPr>
        <p:spPr>
          <a:xfrm>
            <a:off x="402336" y="1215750"/>
            <a:ext cx="8021664" cy="3233100"/>
          </a:xfrm>
        </p:spPr>
        <p:txBody>
          <a:bodyPr/>
          <a:lstStyle/>
          <a:p>
            <a:pPr marL="228600" algn="just" rtl="0"/>
            <a:r>
              <a:rPr lang="vi-VN" sz="2000" b="1" i="0" u="none" strike="noStrike" dirty="0">
                <a:solidFill>
                  <a:srgbClr val="000000"/>
                </a:solidFill>
                <a:effectLst/>
                <a:latin typeface="+mn-lt"/>
              </a:rPr>
              <a:t>Tài liệu phải đọc: </a:t>
            </a:r>
            <a:endParaRPr lang="vi-VN" sz="2000" b="0" i="0" u="none" strike="noStrike" dirty="0">
              <a:solidFill>
                <a:srgbClr val="000000"/>
              </a:solidFill>
              <a:effectLst/>
              <a:latin typeface="+mn-lt"/>
            </a:endParaRPr>
          </a:p>
          <a:p>
            <a:pPr algn="just" rtl="0">
              <a:spcBef>
                <a:spcPts val="300"/>
              </a:spcBef>
              <a:spcAft>
                <a:spcPts val="300"/>
              </a:spcAft>
            </a:pPr>
            <a:r>
              <a:rPr lang="vi-VN" sz="2000" b="0" i="0" u="none" strike="noStrike" dirty="0">
                <a:solidFill>
                  <a:srgbClr val="000000"/>
                </a:solidFill>
                <a:effectLst/>
                <a:latin typeface="Arial" panose="020B0604020202020204" pitchFamily="34" charset="0"/>
                <a:cs typeface="Arial" panose="020B0604020202020204" pitchFamily="34" charset="0"/>
              </a:rPr>
              <a:t>Phạm Tiến Nam, Nguyễn Tuấn Hưng, Nguyễn Hồng Sơn. Quản lý trường hợp tại các cơ sở y tế. NXB Lao động. 2022 (Trang 13–20)</a:t>
            </a:r>
          </a:p>
          <a:p>
            <a:pPr algn="just">
              <a:spcBef>
                <a:spcPts val="300"/>
              </a:spcBef>
              <a:spcAft>
                <a:spcPts val="300"/>
              </a:spcAft>
            </a:pPr>
            <a:r>
              <a:rPr lang="vi-VN" sz="2000" dirty="0">
                <a:solidFill>
                  <a:srgbClr val="000000"/>
                </a:solidFill>
                <a:latin typeface="Arial" panose="020B0604020202020204" pitchFamily="34" charset="0"/>
                <a:cs typeface="Arial" panose="020B0604020202020204" pitchFamily="34" charset="0"/>
              </a:rPr>
              <a:t>Slide bài giảng Tổng quan QLTH trong CTXH, Trường Đại học Y tế công cộng, 2024.</a:t>
            </a:r>
            <a:endParaRPr lang="en-VN" sz="2000" dirty="0">
              <a:latin typeface="Arial" panose="020B0604020202020204" pitchFamily="34" charset="0"/>
              <a:cs typeface="Arial" panose="020B0604020202020204" pitchFamily="34" charset="0"/>
            </a:endParaRPr>
          </a:p>
          <a:p>
            <a:pPr algn="just" rtl="0">
              <a:spcBef>
                <a:spcPts val="300"/>
              </a:spcBef>
              <a:spcAft>
                <a:spcPts val="300"/>
              </a:spcAft>
            </a:pPr>
            <a:endParaRPr lang="vi-VN" sz="2000" b="0" i="0" u="none" strike="noStrike" dirty="0">
              <a:solidFill>
                <a:srgbClr val="000000"/>
              </a:solidFill>
              <a:effectLst/>
              <a:latin typeface="Arial" panose="020B0604020202020204" pitchFamily="34" charset="0"/>
              <a:cs typeface="Arial" panose="020B0604020202020204" pitchFamily="34" charset="0"/>
            </a:endParaRPr>
          </a:p>
          <a:p>
            <a:br>
              <a:rPr lang="vi-VN" sz="2000" dirty="0"/>
            </a:br>
            <a:br>
              <a:rPr lang="vi-VN" sz="2000" dirty="0"/>
            </a:br>
            <a:endParaRPr lang="en-VN" sz="2000" dirty="0">
              <a:latin typeface="+mn-lt"/>
            </a:endParaRPr>
          </a:p>
        </p:txBody>
      </p:sp>
    </p:spTree>
    <p:extLst>
      <p:ext uri="{BB962C8B-B14F-4D97-AF65-F5344CB8AC3E}">
        <p14:creationId xmlns:p14="http://schemas.microsoft.com/office/powerpoint/2010/main" val="20269150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38BD2A-61B7-A5DC-D83B-CE58C85374D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80</a:t>
            </a:fld>
            <a:endParaRPr lang="en"/>
          </a:p>
        </p:txBody>
      </p:sp>
      <p:sp>
        <p:nvSpPr>
          <p:cNvPr id="3" name="Title 2">
            <a:extLst>
              <a:ext uri="{FF2B5EF4-FFF2-40B4-BE49-F238E27FC236}">
                <a16:creationId xmlns:a16="http://schemas.microsoft.com/office/drawing/2014/main" id="{43A89844-967A-3F3E-462D-D3C05BBA9E06}"/>
              </a:ext>
            </a:extLst>
          </p:cNvPr>
          <p:cNvSpPr>
            <a:spLocks noGrp="1"/>
          </p:cNvSpPr>
          <p:nvPr>
            <p:ph type="title"/>
          </p:nvPr>
        </p:nvSpPr>
        <p:spPr/>
        <p:txBody>
          <a:bodyPr/>
          <a:lstStyle/>
          <a:p>
            <a:r>
              <a:rPr lang="vi-VN" sz="2800" b="1" i="0" u="none" strike="noStrike" dirty="0">
                <a:solidFill>
                  <a:srgbClr val="000000"/>
                </a:solidFill>
                <a:effectLst/>
                <a:latin typeface="Arial" panose="020B0604020202020204" pitchFamily="34" charset="0"/>
                <a:cs typeface="Arial" panose="020B0604020202020204" pitchFamily="34" charset="0"/>
              </a:rPr>
              <a:t>4. Các tài liệu học tập/tham khảo  </a:t>
            </a:r>
            <a:endParaRPr lang="en-VN" sz="2800" dirty="0"/>
          </a:p>
        </p:txBody>
      </p:sp>
      <p:sp>
        <p:nvSpPr>
          <p:cNvPr id="4" name="Text Placeholder 3">
            <a:extLst>
              <a:ext uri="{FF2B5EF4-FFF2-40B4-BE49-F238E27FC236}">
                <a16:creationId xmlns:a16="http://schemas.microsoft.com/office/drawing/2014/main" id="{C823BBE0-74B9-41A3-1F2F-CA668EDED941}"/>
              </a:ext>
            </a:extLst>
          </p:cNvPr>
          <p:cNvSpPr>
            <a:spLocks noGrp="1"/>
          </p:cNvSpPr>
          <p:nvPr>
            <p:ph type="body" idx="1"/>
          </p:nvPr>
        </p:nvSpPr>
        <p:spPr/>
        <p:txBody>
          <a:bodyPr/>
          <a:lstStyle/>
          <a:p>
            <a:pPr marL="0" indent="0" algn="just" rtl="0">
              <a:buNone/>
            </a:pPr>
            <a:r>
              <a:rPr lang="vi-VN" b="1" i="0" u="none" strike="noStrike" dirty="0">
                <a:solidFill>
                  <a:srgbClr val="000000"/>
                </a:solidFill>
                <a:effectLst/>
                <a:latin typeface="Arial" panose="020B0604020202020204" pitchFamily="34" charset="0"/>
                <a:cs typeface="Arial" panose="020B0604020202020204" pitchFamily="34" charset="0"/>
              </a:rPr>
              <a:t>Tài liệu nên đọc:  </a:t>
            </a:r>
            <a:endParaRPr lang="vi-VN" b="0" i="0" u="none" strike="noStrike" dirty="0">
              <a:solidFill>
                <a:srgbClr val="000000"/>
              </a:solidFill>
              <a:effectLst/>
              <a:latin typeface="Arial" panose="020B0604020202020204" pitchFamily="34" charset="0"/>
              <a:cs typeface="Arial" panose="020B0604020202020204" pitchFamily="34" charset="0"/>
            </a:endParaRPr>
          </a:p>
          <a:p>
            <a:pPr marL="742950" lvl="1" indent="-285750" algn="just">
              <a:lnSpc>
                <a:spcPct val="115000"/>
              </a:lnSpc>
              <a:spcBef>
                <a:spcPts val="300"/>
              </a:spcBef>
              <a:buFont typeface="+mj-lt"/>
              <a:buAutoNum type="arabicPeriod"/>
            </a:pPr>
            <a:r>
              <a:rPr lang="vi-V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Bộ Lao động Thương binh và Xã hội. Tài liệu Quản lý trường hợp (Tài liệu hướng dẫn thực hành, dành cho cán bộ xã hội cấp cơ sở). 2016.</a:t>
            </a:r>
            <a:endParaRPr lang="en-VN"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lnSpc>
                <a:spcPct val="115000"/>
              </a:lnSpc>
              <a:buFont typeface="+mj-lt"/>
              <a:buAutoNum type="arabicPeriod"/>
            </a:pPr>
            <a:r>
              <a:rPr lang="vi-V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Nguyễn Thị Mai Hương, Nguyễn Thị Ánh Nguyệt, Đỗ Nghiêm Thanh Phương, Nguyễn Thu Hà. Công tác xã hội với học sinh có vấn đề sức khỏe tâm thần. NXB Giáo dục Việt Nam. 2020.</a:t>
            </a:r>
            <a:endParaRPr lang="en-VN"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lnSpc>
                <a:spcPct val="115000"/>
              </a:lnSpc>
              <a:buFont typeface="+mj-lt"/>
              <a:buAutoNum type="arabicPeriod"/>
            </a:pPr>
            <a:r>
              <a:rPr lang="vi-V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Nguyễn Trung Hải và cộng sự. Giáo trình Quản lý trường hợp với người nghiện ma túy. NXB Lao động Xã hội</a:t>
            </a:r>
            <a:r>
              <a:rPr lang="en-US"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2013.</a:t>
            </a:r>
            <a:endParaRPr lang="en-VN"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lnSpc>
                <a:spcPct val="115000"/>
              </a:lnSpc>
              <a:buFont typeface="+mj-lt"/>
              <a:buAutoNum type="arabicPeriod"/>
            </a:pPr>
            <a:r>
              <a:rPr lang="vi-VN"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Trần Hữu Trung, Nguyễn Văn Hồi. Tài liệu hướng dẫn xây dựng mô hình Trung tâm công tác xã hội và nghiệp vụ quản lý trường hợp. NXB Thống kê. 2011</a:t>
            </a:r>
            <a:endParaRPr lang="en-VN"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lnSpc>
                <a:spcPct val="115000"/>
              </a:lnSpc>
              <a:spcAft>
                <a:spcPts val="300"/>
              </a:spcAft>
              <a:buFont typeface="+mj-lt"/>
              <a:buAutoNum type="arabicPeriod"/>
            </a:pPr>
            <a:r>
              <a:rPr lang="en-US"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Arthur J. Frankel, Sheldon Gelman, Diane K. Pastor. Case Management: An Introduction to Concepts and Skills. Oxford. 2019.</a:t>
            </a:r>
            <a:endParaRPr lang="en-VN" dirty="0">
              <a:solidFill>
                <a:srgbClr val="000000"/>
              </a:solidFill>
              <a:effectLst/>
              <a:latin typeface="Arial" panose="020B0604020202020204" pitchFamily="34" charset="0"/>
              <a:ea typeface="Arial" panose="020B0604020202020204" pitchFamily="34" charset="0"/>
              <a:cs typeface="Arial" panose="020B0604020202020204" pitchFamily="34" charset="0"/>
            </a:endParaRPr>
          </a:p>
          <a:p>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48788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97C53B-2BB4-58B4-77B7-47DA565C373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81</a:t>
            </a:fld>
            <a:endParaRPr lang="en"/>
          </a:p>
        </p:txBody>
      </p:sp>
      <p:sp>
        <p:nvSpPr>
          <p:cNvPr id="3" name="Title 2">
            <a:extLst>
              <a:ext uri="{FF2B5EF4-FFF2-40B4-BE49-F238E27FC236}">
                <a16:creationId xmlns:a16="http://schemas.microsoft.com/office/drawing/2014/main" id="{6A3335D3-5186-5094-0827-BCA1134A80DC}"/>
              </a:ext>
            </a:extLst>
          </p:cNvPr>
          <p:cNvSpPr>
            <a:spLocks noGrp="1"/>
          </p:cNvSpPr>
          <p:nvPr>
            <p:ph type="title"/>
          </p:nvPr>
        </p:nvSpPr>
        <p:spPr/>
        <p:txBody>
          <a:bodyPr/>
          <a:lstStyle/>
          <a:p>
            <a:pPr algn="ctr"/>
            <a:r>
              <a:rPr lang="en-VN" sz="2800" dirty="0">
                <a:latin typeface="Arial" panose="020B0604020202020204" pitchFamily="34" charset="0"/>
                <a:cs typeface="Arial" panose="020B0604020202020204" pitchFamily="34" charset="0"/>
              </a:rPr>
              <a:t>Câu hỏi và trả lời nội dung bài học</a:t>
            </a:r>
          </a:p>
        </p:txBody>
      </p:sp>
      <p:sp>
        <p:nvSpPr>
          <p:cNvPr id="4" name="Text Placeholder 3">
            <a:extLst>
              <a:ext uri="{FF2B5EF4-FFF2-40B4-BE49-F238E27FC236}">
                <a16:creationId xmlns:a16="http://schemas.microsoft.com/office/drawing/2014/main" id="{B339F17B-8C74-8B09-C8BA-ECDFBFE6DE70}"/>
              </a:ext>
            </a:extLst>
          </p:cNvPr>
          <p:cNvSpPr>
            <a:spLocks noGrp="1"/>
          </p:cNvSpPr>
          <p:nvPr>
            <p:ph type="body" idx="1"/>
          </p:nvPr>
        </p:nvSpPr>
        <p:spPr/>
        <p:txBody>
          <a:bodyPr/>
          <a:lstStyle/>
          <a:p>
            <a:endParaRPr lang="en-VN"/>
          </a:p>
        </p:txBody>
      </p:sp>
      <p:pic>
        <p:nvPicPr>
          <p:cNvPr id="6" name="Picture 5">
            <a:extLst>
              <a:ext uri="{FF2B5EF4-FFF2-40B4-BE49-F238E27FC236}">
                <a16:creationId xmlns:a16="http://schemas.microsoft.com/office/drawing/2014/main" id="{9BD2B19C-6197-9216-A317-26262D6E8567}"/>
              </a:ext>
            </a:extLst>
          </p:cNvPr>
          <p:cNvPicPr>
            <a:picLocks noChangeAspect="1"/>
          </p:cNvPicPr>
          <p:nvPr/>
        </p:nvPicPr>
        <p:blipFill>
          <a:blip r:embed="rId2"/>
          <a:stretch>
            <a:fillRect/>
          </a:stretch>
        </p:blipFill>
        <p:spPr>
          <a:xfrm>
            <a:off x="720000" y="1234227"/>
            <a:ext cx="7704000" cy="3214623"/>
          </a:xfrm>
          <a:prstGeom prst="rect">
            <a:avLst/>
          </a:prstGeom>
        </p:spPr>
      </p:pic>
    </p:spTree>
    <p:extLst>
      <p:ext uri="{BB962C8B-B14F-4D97-AF65-F5344CB8AC3E}">
        <p14:creationId xmlns:p14="http://schemas.microsoft.com/office/powerpoint/2010/main" val="39679804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E9048D-07E4-D623-BD50-D97FD6197E5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82</a:t>
            </a:fld>
            <a:endParaRPr lang="en"/>
          </a:p>
        </p:txBody>
      </p:sp>
      <p:sp>
        <p:nvSpPr>
          <p:cNvPr id="3" name="Title 2">
            <a:extLst>
              <a:ext uri="{FF2B5EF4-FFF2-40B4-BE49-F238E27FC236}">
                <a16:creationId xmlns:a16="http://schemas.microsoft.com/office/drawing/2014/main" id="{1A2EFF96-14C9-B991-9A50-D7C49B727244}"/>
              </a:ext>
            </a:extLst>
          </p:cNvPr>
          <p:cNvSpPr>
            <a:spLocks noGrp="1"/>
          </p:cNvSpPr>
          <p:nvPr>
            <p:ph type="title"/>
          </p:nvPr>
        </p:nvSpPr>
        <p:spPr/>
        <p:txBody>
          <a:bodyPr/>
          <a:lstStyle/>
          <a:p>
            <a:endParaRPr lang="en-VN"/>
          </a:p>
        </p:txBody>
      </p:sp>
      <p:sp>
        <p:nvSpPr>
          <p:cNvPr id="4" name="Text Placeholder 3">
            <a:extLst>
              <a:ext uri="{FF2B5EF4-FFF2-40B4-BE49-F238E27FC236}">
                <a16:creationId xmlns:a16="http://schemas.microsoft.com/office/drawing/2014/main" id="{F31122B2-47A3-31FC-2318-C9FF626D5638}"/>
              </a:ext>
            </a:extLst>
          </p:cNvPr>
          <p:cNvSpPr>
            <a:spLocks noGrp="1"/>
          </p:cNvSpPr>
          <p:nvPr>
            <p:ph type="body" idx="1"/>
          </p:nvPr>
        </p:nvSpPr>
        <p:spPr/>
        <p:txBody>
          <a:bodyPr/>
          <a:lstStyle/>
          <a:p>
            <a:endParaRPr lang="en-VN"/>
          </a:p>
        </p:txBody>
      </p:sp>
      <p:pic>
        <p:nvPicPr>
          <p:cNvPr id="6" name="Picture 5">
            <a:extLst>
              <a:ext uri="{FF2B5EF4-FFF2-40B4-BE49-F238E27FC236}">
                <a16:creationId xmlns:a16="http://schemas.microsoft.com/office/drawing/2014/main" id="{69C6979C-612B-5200-DB17-39EAFBE76B1D}"/>
              </a:ext>
            </a:extLst>
          </p:cNvPr>
          <p:cNvPicPr>
            <a:picLocks noChangeAspect="1"/>
          </p:cNvPicPr>
          <p:nvPr/>
        </p:nvPicPr>
        <p:blipFill>
          <a:blip r:embed="rId2"/>
          <a:stretch>
            <a:fillRect/>
          </a:stretch>
        </p:blipFill>
        <p:spPr>
          <a:xfrm>
            <a:off x="720000" y="445025"/>
            <a:ext cx="7704000" cy="4002616"/>
          </a:xfrm>
          <a:prstGeom prst="rect">
            <a:avLst/>
          </a:prstGeom>
        </p:spPr>
      </p:pic>
    </p:spTree>
    <p:extLst>
      <p:ext uri="{BB962C8B-B14F-4D97-AF65-F5344CB8AC3E}">
        <p14:creationId xmlns:p14="http://schemas.microsoft.com/office/powerpoint/2010/main" val="198044733"/>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5B9254B520BC846BA568D7785F5D8A1" ma:contentTypeVersion="3" ma:contentTypeDescription="Create a new document." ma:contentTypeScope="" ma:versionID="205975c317d122f830a1f866a99a43ba">
  <xsd:schema xmlns:xsd="http://www.w3.org/2001/XMLSchema" xmlns:xs="http://www.w3.org/2001/XMLSchema" xmlns:p="http://schemas.microsoft.com/office/2006/metadata/properties" xmlns:ns2="26c5e3bc-ee61-4874-9a3e-66b695098710" targetNamespace="http://schemas.microsoft.com/office/2006/metadata/properties" ma:root="true" ma:fieldsID="cb62bd8386c0f19a69bdb436c6a7e603" ns2:_="">
    <xsd:import namespace="26c5e3bc-ee61-4874-9a3e-66b69509871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c5e3bc-ee61-4874-9a3e-66b6950987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6EE2085-CA00-4A6E-9042-DC8565404C4D}"/>
</file>

<file path=customXml/itemProps2.xml><?xml version="1.0" encoding="utf-8"?>
<ds:datastoreItem xmlns:ds="http://schemas.openxmlformats.org/officeDocument/2006/customXml" ds:itemID="{F4E78349-1BDA-4F4E-91E4-A795B3CF151B}"/>
</file>

<file path=customXml/itemProps3.xml><?xml version="1.0" encoding="utf-8"?>
<ds:datastoreItem xmlns:ds="http://schemas.openxmlformats.org/officeDocument/2006/customXml" ds:itemID="{B171615D-B15C-4064-977D-11B2E93F40DD}"/>
</file>

<file path=docProps/app.xml><?xml version="1.0" encoding="utf-8"?>
<Properties xmlns="http://schemas.openxmlformats.org/officeDocument/2006/extended-properties" xmlns:vt="http://schemas.openxmlformats.org/officeDocument/2006/docPropsVTypes">
  <TotalTime>2142</TotalTime>
  <Words>11416</Words>
  <Application>Microsoft Macintosh PowerPoint</Application>
  <PresentationFormat>On-screen Show (16:9)</PresentationFormat>
  <Paragraphs>853</Paragraphs>
  <Slides>82</Slides>
  <Notes>11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82</vt:i4>
      </vt:variant>
    </vt:vector>
  </HeadingPairs>
  <TitlesOfParts>
    <vt:vector size="95" baseType="lpstr">
      <vt:lpstr>Arial</vt:lpstr>
      <vt:lpstr>Nunito Light</vt:lpstr>
      <vt:lpstr>Symbol</vt:lpstr>
      <vt:lpstr>Calibri</vt:lpstr>
      <vt:lpstr>Mulish</vt:lpstr>
      <vt:lpstr>Times</vt:lpstr>
      <vt:lpstr>System Font Regular</vt:lpstr>
      <vt:lpstr>Times New Roman</vt:lpstr>
      <vt:lpstr>Calibri Light</vt:lpstr>
      <vt:lpstr>Quicksand</vt:lpstr>
      <vt:lpstr>Wingdings</vt:lpstr>
      <vt:lpstr>Bebas Neue</vt:lpstr>
      <vt:lpstr>Elegant Bachelor Thesis by Slidesgo</vt:lpstr>
      <vt:lpstr>BÀI 4: MỘT SỐ KỸ NĂNG CHUYÊN SÂU VỀ QLTH TRONG CTXH </vt:lpstr>
      <vt:lpstr>CHUẨN ĐẦU RA BÀI HỌC</vt:lpstr>
      <vt:lpstr>NỘI DUNG BÀI HỌC</vt:lpstr>
      <vt:lpstr>Kỹ năng giao tiếp</vt:lpstr>
      <vt:lpstr>Khái niệm</vt:lpstr>
      <vt:lpstr>PowerPoint Presentation</vt:lpstr>
      <vt:lpstr>Ý nghĩa và nguyên tắc thực hiện</vt:lpstr>
      <vt:lpstr>Ý nghĩa và nguyên tắc thực hiện</vt:lpstr>
      <vt:lpstr>Cách thực hiện Giao tiếp ngôn ngữ</vt:lpstr>
      <vt:lpstr>Giao tiếp ngôn ngữ</vt:lpstr>
      <vt:lpstr>Giao tiếp ngôn ngữ</vt:lpstr>
      <vt:lpstr>Giao tiếp phi ngôn ngữ </vt:lpstr>
      <vt:lpstr>Lắng nghe tích cực để giao tiếp hiệu qủa: 10 điều để lắng nghe tốt</vt:lpstr>
      <vt:lpstr>Lắng nghe tích cực để giao tiếp hiệu qủa: 10 điều để lắng nghe tốt</vt:lpstr>
      <vt:lpstr>Thảo luận nhóm</vt:lpstr>
      <vt:lpstr>Kỹ năng đánh giá</vt:lpstr>
      <vt:lpstr>Khái niệm</vt:lpstr>
      <vt:lpstr>Ý nghĩa và nguyên tắc thực hiện </vt:lpstr>
      <vt:lpstr>Ý nghĩa và nguyên tắc thực hiện </vt:lpstr>
      <vt:lpstr>Ý nghĩa và nguyên tắc thực hiện </vt:lpstr>
      <vt:lpstr>Một số sai lệch khi đánh giá cần chú ý</vt:lpstr>
      <vt:lpstr>Một số sai lệch khi đánh giá cần chú ý</vt:lpstr>
      <vt:lpstr>Cách thức thực hiện</vt:lpstr>
      <vt:lpstr>Cách thức thực hiện</vt:lpstr>
      <vt:lpstr>Thảo luận nhóm</vt:lpstr>
      <vt:lpstr>PowerPoint Presentation</vt:lpstr>
      <vt:lpstr>PowerPoint Presentation</vt:lpstr>
      <vt:lpstr>PowerPoint Presentation</vt:lpstr>
      <vt:lpstr>PowerPoint Presentation</vt:lpstr>
      <vt:lpstr>PowerPoint Presentation</vt:lpstr>
      <vt:lpstr>Kỹ năng kết nối và  điều phối nguồn lực</vt:lpstr>
      <vt:lpstr>Khái niệm</vt:lpstr>
      <vt:lpstr>Ý nghĩa và nguyên tắc thực hiện</vt:lpstr>
      <vt:lpstr>Ý nghĩa và nguyên tắc thực hiện</vt:lpstr>
      <vt:lpstr>Ý nghĩa và nguyên tắc thực hiện</vt:lpstr>
      <vt:lpstr>Cách thực hiện</vt:lpstr>
      <vt:lpstr>Thảo luận nhóm</vt:lpstr>
      <vt:lpstr>Kỹ năng biện hộ </vt:lpstr>
      <vt:lpstr>Khái niệm</vt:lpstr>
      <vt:lpstr>Khái niệm</vt:lpstr>
      <vt:lpstr>Ý nghĩa và nguyên tắc thực hiện</vt:lpstr>
      <vt:lpstr>Ý nghĩa và nguyên tắc thực hiện</vt:lpstr>
      <vt:lpstr>Ý nghĩa và nguyên tắc thực hiện</vt:lpstr>
      <vt:lpstr>Cách thực hiện</vt:lpstr>
      <vt:lpstr>Cách thực hiện</vt:lpstr>
      <vt:lpstr>Cách thực hiện</vt:lpstr>
      <vt:lpstr>Cách thực hiện</vt:lpstr>
      <vt:lpstr>Thảo luận nhóm</vt:lpstr>
      <vt:lpstr>Kỹ năng ghi chép và  lưu trữ hồ sơ </vt:lpstr>
      <vt:lpstr>Khái niệm</vt:lpstr>
      <vt:lpstr>Khái niệm</vt:lpstr>
      <vt:lpstr>Ý nghĩa và nguyên tắc thực hiện</vt:lpstr>
      <vt:lpstr>Ý nghĩa và nguyên tắc thực hiện</vt:lpstr>
      <vt:lpstr>Ý nghĩa và nguyên tắc thực hiện</vt:lpstr>
      <vt:lpstr>Cách thực hiện</vt:lpstr>
      <vt:lpstr>Cách thực hiện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6. Xây dựng tình huống một trường hợp đối tượng có vấn đề cần quản lý trường hợp trong công tác xã hội    </vt:lpstr>
      <vt:lpstr>6. Xây dựng tình huống một trường hợp đối tượng có vấn đề cần quản lý trường hợp trong công tác xã hội</vt:lpstr>
      <vt:lpstr>6. Xây dựng tình huống một trường hợp đối tượng có vấn đề cần quản lý trường hợp trong công tác xã hội  </vt:lpstr>
      <vt:lpstr>6. Xây dựng tình huống một trường hợp đối tượng có vấn đề cần quản lý trường hợp trong công tác xã hội  </vt:lpstr>
      <vt:lpstr>6. Xây dựng tình huống một trường hợp đối tượng có vấn đề cần quản lý trường hợp trong công tác xã hội </vt:lpstr>
      <vt:lpstr>4. Các tài liệu học tập/tham khảo  </vt:lpstr>
      <vt:lpstr>TÓM TẮT NỘI DUNG BÀI HỌC</vt:lpstr>
      <vt:lpstr>4. Các tài liệu học tập/tham khảo   </vt:lpstr>
      <vt:lpstr>4. Các tài liệu học tập/tham khảo  </vt:lpstr>
      <vt:lpstr>Câu hỏi và trả lời nội dung bài học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MỘT SỐ KỸ NĂNG CHUYÊN SÂU VỀ QLTH TRONG CTXH </dc:title>
  <dc:creator>Hương Trần Thị Mai</dc:creator>
  <cp:lastModifiedBy> </cp:lastModifiedBy>
  <cp:revision>49</cp:revision>
  <dcterms:modified xsi:type="dcterms:W3CDTF">2026-05-16T15:04:22Z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0x01010005B9254B520BC846BA568D7785F5D8A1</vt:lpwstr>
  </property>
</Properties>
</file>